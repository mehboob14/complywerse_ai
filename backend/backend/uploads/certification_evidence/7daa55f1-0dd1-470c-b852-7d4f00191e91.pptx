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6" r:id="rId1"/>
    <p:sldMasterId id="2147483687" r:id="rId2"/>
  </p:sldMasterIdLst>
  <p:notesMasterIdLst>
    <p:notesMasterId r:id="rId14"/>
  </p:notesMasterIdLst>
  <p:sldIdLst>
    <p:sldId id="259" r:id="rId3"/>
    <p:sldId id="310" r:id="rId4"/>
    <p:sldId id="311" r:id="rId5"/>
    <p:sldId id="314" r:id="rId6"/>
    <p:sldId id="329" r:id="rId7"/>
    <p:sldId id="307" r:id="rId8"/>
    <p:sldId id="330" r:id="rId9"/>
    <p:sldId id="331" r:id="rId10"/>
    <p:sldId id="332" r:id="rId11"/>
    <p:sldId id="333" r:id="rId12"/>
    <p:sldId id="334" r:id="rId13"/>
  </p:sldIdLst>
  <p:sldSz cx="20104100" cy="11309350"/>
  <p:notesSz cx="20104100" cy="113093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172C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58" autoAdjust="0"/>
    <p:restoredTop sz="93792" autoAdjust="0"/>
  </p:normalViewPr>
  <p:slideViewPr>
    <p:cSldViewPr snapToGrid="0">
      <p:cViewPr varScale="1">
        <p:scale>
          <a:sx n="53" d="100"/>
          <a:sy n="53" d="100"/>
        </p:scale>
        <p:origin x="730" y="3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ejaz\Desktop\ABL%20-%20As%20Is%20-%20Without%20Policy%20Score2018-NIST-CSF-Maturity-Tool-v1.0.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228753734345636"/>
          <c:y val="9.0721402418407177E-2"/>
          <c:w val="0.42521833024326594"/>
          <c:h val="0.89542692587929296"/>
        </c:manualLayout>
      </c:layout>
      <c:radarChart>
        <c:radarStyle val="marker"/>
        <c:varyColors val="0"/>
        <c:ser>
          <c:idx val="1"/>
          <c:order val="0"/>
          <c:tx>
            <c:strRef>
              <c:f>'CSF Summary'!$C$2</c:f>
              <c:strCache>
                <c:ptCount val="1"/>
                <c:pt idx="0">
                  <c:v>Target Score</c:v>
                </c:pt>
              </c:strCache>
            </c:strRef>
          </c:tx>
          <c:spPr>
            <a:ln w="12700" cap="rnd" cmpd="sng" algn="ctr">
              <a:solidFill>
                <a:srgbClr val="7030A0"/>
              </a:solidFill>
              <a:prstDash val="solid"/>
              <a:round/>
            </a:ln>
            <a:effectLst/>
          </c:spPr>
          <c:marker>
            <c:spPr>
              <a:solidFill>
                <a:srgbClr val="7030A0"/>
              </a:solidFill>
              <a:ln w="6350" cap="flat" cmpd="sng" algn="ctr">
                <a:solidFill>
                  <a:srgbClr val="7030A0"/>
                </a:solidFill>
                <a:prstDash val="solid"/>
                <a:round/>
              </a:ln>
              <a:effectLst/>
            </c:spPr>
          </c:marker>
          <c:dPt>
            <c:idx val="16"/>
            <c:bubble3D val="0"/>
            <c:extLst>
              <c:ext xmlns:c16="http://schemas.microsoft.com/office/drawing/2014/chart" uri="{C3380CC4-5D6E-409C-BE32-E72D297353CC}">
                <c16:uniqueId val="{00000000-CD44-400B-97C8-578805149A6D}"/>
              </c:ext>
            </c:extLst>
          </c:dPt>
          <c:cat>
            <c:strRef>
              <c:f>'CSF Summary'!$B$3:$B$26</c:f>
              <c:strCache>
                <c:ptCount val="24"/>
                <c:pt idx="0">
                  <c:v>Overall</c:v>
                </c:pt>
                <c:pt idx="1">
                  <c:v>Asset Management (ID.AM)</c:v>
                </c:pt>
                <c:pt idx="2">
                  <c:v>Business Environment (ID.BE)</c:v>
                </c:pt>
                <c:pt idx="3">
                  <c:v>Governance (ID.GV)</c:v>
                </c:pt>
                <c:pt idx="4">
                  <c:v>Risk Assessment (ID.RA)</c:v>
                </c:pt>
                <c:pt idx="5">
                  <c:v>Risk Management Strategy (ID.RM)</c:v>
                </c:pt>
                <c:pt idx="6">
                  <c:v>Supply Chain Risk Management (ID.SC)</c:v>
                </c:pt>
                <c:pt idx="7">
                  <c:v>Identity Management, Authentication and Access Control (PR.AC)</c:v>
                </c:pt>
                <c:pt idx="8">
                  <c:v>Awareness and Training (PR.AT)</c:v>
                </c:pt>
                <c:pt idx="9">
                  <c:v>Data Security (PR.DS)</c:v>
                </c:pt>
                <c:pt idx="10">
                  <c:v>Information Protection Processes and Procedures (PR.IP)</c:v>
                </c:pt>
                <c:pt idx="11">
                  <c:v>Maintenance (PR.MA)</c:v>
                </c:pt>
                <c:pt idx="12">
                  <c:v>Protective Technology (PR.PT)</c:v>
                </c:pt>
                <c:pt idx="13">
                  <c:v>Anomalies and Events (DE.AE)</c:v>
                </c:pt>
                <c:pt idx="14">
                  <c:v>Security Continuous Monitoring (DE.CM)</c:v>
                </c:pt>
                <c:pt idx="15">
                  <c:v>Detection Processes (DE.DP)</c:v>
                </c:pt>
                <c:pt idx="16">
                  <c:v>Response Planning (RS.RP)</c:v>
                </c:pt>
                <c:pt idx="17">
                  <c:v>Communications (RS.CO)</c:v>
                </c:pt>
                <c:pt idx="18">
                  <c:v>Analysis (RS.AN)</c:v>
                </c:pt>
                <c:pt idx="19">
                  <c:v>Mitigation (RS.MI)</c:v>
                </c:pt>
                <c:pt idx="20">
                  <c:v>Improvements (RS.IM)</c:v>
                </c:pt>
                <c:pt idx="21">
                  <c:v>Recovery Planning (RC.RP)</c:v>
                </c:pt>
                <c:pt idx="22">
                  <c:v>Improvements (RC.IM)</c:v>
                </c:pt>
                <c:pt idx="23">
                  <c:v>#VALUE!</c:v>
                </c:pt>
              </c:strCache>
            </c:strRef>
          </c:cat>
          <c:val>
            <c:numRef>
              <c:f>'CSF Summary'!$C$3:$C$26</c:f>
              <c:numCache>
                <c:formatCode>0.00</c:formatCode>
                <c:ptCount val="24"/>
                <c:pt idx="0">
                  <c:v>5</c:v>
                </c:pt>
                <c:pt idx="1">
                  <c:v>5</c:v>
                </c:pt>
                <c:pt idx="2">
                  <c:v>5</c:v>
                </c:pt>
                <c:pt idx="3">
                  <c:v>5</c:v>
                </c:pt>
                <c:pt idx="4">
                  <c:v>5</c:v>
                </c:pt>
                <c:pt idx="5">
                  <c:v>5</c:v>
                </c:pt>
                <c:pt idx="6">
                  <c:v>5</c:v>
                </c:pt>
                <c:pt idx="7">
                  <c:v>5</c:v>
                </c:pt>
                <c:pt idx="8">
                  <c:v>5</c:v>
                </c:pt>
                <c:pt idx="9">
                  <c:v>5</c:v>
                </c:pt>
                <c:pt idx="10">
                  <c:v>5</c:v>
                </c:pt>
                <c:pt idx="11">
                  <c:v>5</c:v>
                </c:pt>
                <c:pt idx="12">
                  <c:v>5</c:v>
                </c:pt>
                <c:pt idx="13">
                  <c:v>5</c:v>
                </c:pt>
                <c:pt idx="14">
                  <c:v>5</c:v>
                </c:pt>
                <c:pt idx="15">
                  <c:v>5</c:v>
                </c:pt>
                <c:pt idx="16">
                  <c:v>5</c:v>
                </c:pt>
                <c:pt idx="17">
                  <c:v>5</c:v>
                </c:pt>
                <c:pt idx="18">
                  <c:v>5</c:v>
                </c:pt>
                <c:pt idx="19">
                  <c:v>5</c:v>
                </c:pt>
                <c:pt idx="20">
                  <c:v>5</c:v>
                </c:pt>
                <c:pt idx="21">
                  <c:v>5</c:v>
                </c:pt>
                <c:pt idx="22">
                  <c:v>5</c:v>
                </c:pt>
                <c:pt idx="23">
                  <c:v>5</c:v>
                </c:pt>
              </c:numCache>
            </c:numRef>
          </c:val>
          <c:extLst>
            <c:ext xmlns:c16="http://schemas.microsoft.com/office/drawing/2014/chart" uri="{C3380CC4-5D6E-409C-BE32-E72D297353CC}">
              <c16:uniqueId val="{00000001-CD44-400B-97C8-578805149A6D}"/>
            </c:ext>
          </c:extLst>
        </c:ser>
        <c:ser>
          <c:idx val="0"/>
          <c:order val="1"/>
          <c:tx>
            <c:strRef>
              <c:f>'CSF Summary'!$D$2</c:f>
              <c:strCache>
                <c:ptCount val="1"/>
                <c:pt idx="0">
                  <c:v>Policy Score</c:v>
                </c:pt>
              </c:strCache>
            </c:strRef>
          </c:tx>
          <c:spPr>
            <a:ln w="25400" cap="rnd" cmpd="sng" algn="ctr">
              <a:solidFill>
                <a:schemeClr val="accent1"/>
              </a:solidFill>
              <a:prstDash val="solid"/>
              <a:round/>
            </a:ln>
            <a:effectLst/>
          </c:spPr>
          <c:marker>
            <c:spPr>
              <a:solidFill>
                <a:schemeClr val="accent1"/>
              </a:solidFill>
              <a:ln w="6350" cap="flat" cmpd="sng" algn="ctr">
                <a:solidFill>
                  <a:schemeClr val="accent1"/>
                </a:solidFill>
                <a:prstDash val="solid"/>
                <a:round/>
              </a:ln>
              <a:effectLst/>
            </c:spPr>
          </c:marker>
          <c:cat>
            <c:strRef>
              <c:f>'CSF Summary'!$B$3:$B$26</c:f>
              <c:strCache>
                <c:ptCount val="24"/>
                <c:pt idx="0">
                  <c:v>Overall</c:v>
                </c:pt>
                <c:pt idx="1">
                  <c:v>Asset Management (ID.AM)</c:v>
                </c:pt>
                <c:pt idx="2">
                  <c:v>Business Environment (ID.BE)</c:v>
                </c:pt>
                <c:pt idx="3">
                  <c:v>Governance (ID.GV)</c:v>
                </c:pt>
                <c:pt idx="4">
                  <c:v>Risk Assessment (ID.RA)</c:v>
                </c:pt>
                <c:pt idx="5">
                  <c:v>Risk Management Strategy (ID.RM)</c:v>
                </c:pt>
                <c:pt idx="6">
                  <c:v>Supply Chain Risk Management (ID.SC)</c:v>
                </c:pt>
                <c:pt idx="7">
                  <c:v>Identity Management, Authentication and Access Control (PR.AC)</c:v>
                </c:pt>
                <c:pt idx="8">
                  <c:v>Awareness and Training (PR.AT)</c:v>
                </c:pt>
                <c:pt idx="9">
                  <c:v>Data Security (PR.DS)</c:v>
                </c:pt>
                <c:pt idx="10">
                  <c:v>Information Protection Processes and Procedures (PR.IP)</c:v>
                </c:pt>
                <c:pt idx="11">
                  <c:v>Maintenance (PR.MA)</c:v>
                </c:pt>
                <c:pt idx="12">
                  <c:v>Protective Technology (PR.PT)</c:v>
                </c:pt>
                <c:pt idx="13">
                  <c:v>Anomalies and Events (DE.AE)</c:v>
                </c:pt>
                <c:pt idx="14">
                  <c:v>Security Continuous Monitoring (DE.CM)</c:v>
                </c:pt>
                <c:pt idx="15">
                  <c:v>Detection Processes (DE.DP)</c:v>
                </c:pt>
                <c:pt idx="16">
                  <c:v>Response Planning (RS.RP)</c:v>
                </c:pt>
                <c:pt idx="17">
                  <c:v>Communications (RS.CO)</c:v>
                </c:pt>
                <c:pt idx="18">
                  <c:v>Analysis (RS.AN)</c:v>
                </c:pt>
                <c:pt idx="19">
                  <c:v>Mitigation (RS.MI)</c:v>
                </c:pt>
                <c:pt idx="20">
                  <c:v>Improvements (RS.IM)</c:v>
                </c:pt>
                <c:pt idx="21">
                  <c:v>Recovery Planning (RC.RP)</c:v>
                </c:pt>
                <c:pt idx="22">
                  <c:v>Improvements (RC.IM)</c:v>
                </c:pt>
                <c:pt idx="23">
                  <c:v>#VALUE!</c:v>
                </c:pt>
              </c:strCache>
            </c:strRef>
          </c:cat>
          <c:val>
            <c:numRef>
              <c:f>'CSF Summary'!$D$3:$D$26</c:f>
              <c:numCache>
                <c:formatCode>0.00</c:formatCode>
                <c:ptCount val="24"/>
                <c:pt idx="0">
                  <c:v>3.1417960662525881</c:v>
                </c:pt>
                <c:pt idx="1">
                  <c:v>3.4166666666666665</c:v>
                </c:pt>
                <c:pt idx="2">
                  <c:v>3.1</c:v>
                </c:pt>
                <c:pt idx="3">
                  <c:v>3.5</c:v>
                </c:pt>
                <c:pt idx="4">
                  <c:v>3.9166666666666665</c:v>
                </c:pt>
                <c:pt idx="5">
                  <c:v>3</c:v>
                </c:pt>
                <c:pt idx="6">
                  <c:v>3</c:v>
                </c:pt>
                <c:pt idx="7">
                  <c:v>3.3571428571428572</c:v>
                </c:pt>
                <c:pt idx="8">
                  <c:v>3.4</c:v>
                </c:pt>
                <c:pt idx="9">
                  <c:v>3.25</c:v>
                </c:pt>
                <c:pt idx="10">
                  <c:v>3.0416666666666665</c:v>
                </c:pt>
                <c:pt idx="11">
                  <c:v>3</c:v>
                </c:pt>
                <c:pt idx="12">
                  <c:v>3.1</c:v>
                </c:pt>
                <c:pt idx="13">
                  <c:v>3.7</c:v>
                </c:pt>
                <c:pt idx="14">
                  <c:v>3.8125</c:v>
                </c:pt>
                <c:pt idx="15">
                  <c:v>3.5</c:v>
                </c:pt>
                <c:pt idx="16">
                  <c:v>3</c:v>
                </c:pt>
                <c:pt idx="17">
                  <c:v>3.5</c:v>
                </c:pt>
                <c:pt idx="18">
                  <c:v>3.5</c:v>
                </c:pt>
                <c:pt idx="19">
                  <c:v>3.1666666666666665</c:v>
                </c:pt>
                <c:pt idx="20">
                  <c:v>3</c:v>
                </c:pt>
                <c:pt idx="21">
                  <c:v>3</c:v>
                </c:pt>
                <c:pt idx="22">
                  <c:v>3</c:v>
                </c:pt>
                <c:pt idx="23">
                  <c:v>0</c:v>
                </c:pt>
              </c:numCache>
            </c:numRef>
          </c:val>
          <c:extLst>
            <c:ext xmlns:c16="http://schemas.microsoft.com/office/drawing/2014/chart" uri="{C3380CC4-5D6E-409C-BE32-E72D297353CC}">
              <c16:uniqueId val="{00000002-CD44-400B-97C8-578805149A6D}"/>
            </c:ext>
          </c:extLst>
        </c:ser>
        <c:ser>
          <c:idx val="2"/>
          <c:order val="2"/>
          <c:tx>
            <c:strRef>
              <c:f>'CSF Summary'!$E$2</c:f>
              <c:strCache>
                <c:ptCount val="1"/>
                <c:pt idx="0">
                  <c:v>Practice Score</c:v>
                </c:pt>
              </c:strCache>
            </c:strRef>
          </c:tx>
          <c:spPr>
            <a:ln w="25400" cap="rnd" cmpd="sng" algn="ctr">
              <a:solidFill>
                <a:schemeClr val="accent6"/>
              </a:solidFill>
              <a:prstDash val="solid"/>
              <a:round/>
            </a:ln>
            <a:effectLst/>
          </c:spPr>
          <c:marker>
            <c:spPr>
              <a:solidFill>
                <a:schemeClr val="accent6"/>
              </a:solidFill>
              <a:ln w="6350" cap="flat" cmpd="sng" algn="ctr">
                <a:solidFill>
                  <a:schemeClr val="accent6"/>
                </a:solidFill>
                <a:prstDash val="solid"/>
                <a:round/>
              </a:ln>
              <a:effectLst/>
            </c:spPr>
          </c:marker>
          <c:val>
            <c:numRef>
              <c:f>'CSF Summary'!$E$3:$E$26</c:f>
              <c:numCache>
                <c:formatCode>0.00</c:formatCode>
                <c:ptCount val="24"/>
                <c:pt idx="0">
                  <c:v>2.7901138716356111</c:v>
                </c:pt>
                <c:pt idx="1">
                  <c:v>1.95</c:v>
                </c:pt>
                <c:pt idx="2">
                  <c:v>2.6</c:v>
                </c:pt>
                <c:pt idx="3">
                  <c:v>3</c:v>
                </c:pt>
                <c:pt idx="4">
                  <c:v>2.8333333333333335</c:v>
                </c:pt>
                <c:pt idx="5">
                  <c:v>2.5</c:v>
                </c:pt>
                <c:pt idx="6">
                  <c:v>3</c:v>
                </c:pt>
                <c:pt idx="7">
                  <c:v>3.2142857142857144</c:v>
                </c:pt>
                <c:pt idx="8">
                  <c:v>2.8</c:v>
                </c:pt>
                <c:pt idx="9">
                  <c:v>2.875</c:v>
                </c:pt>
                <c:pt idx="10">
                  <c:v>2.5416666666666665</c:v>
                </c:pt>
                <c:pt idx="11">
                  <c:v>3</c:v>
                </c:pt>
                <c:pt idx="12">
                  <c:v>3.1</c:v>
                </c:pt>
                <c:pt idx="13">
                  <c:v>3.3</c:v>
                </c:pt>
                <c:pt idx="14">
                  <c:v>3.125</c:v>
                </c:pt>
                <c:pt idx="15">
                  <c:v>3.3</c:v>
                </c:pt>
                <c:pt idx="16">
                  <c:v>3</c:v>
                </c:pt>
                <c:pt idx="17">
                  <c:v>3.5</c:v>
                </c:pt>
                <c:pt idx="18">
                  <c:v>3.2</c:v>
                </c:pt>
                <c:pt idx="19">
                  <c:v>2.8333333333333335</c:v>
                </c:pt>
                <c:pt idx="20">
                  <c:v>2.75</c:v>
                </c:pt>
                <c:pt idx="21">
                  <c:v>3</c:v>
                </c:pt>
                <c:pt idx="22">
                  <c:v>2.75</c:v>
                </c:pt>
                <c:pt idx="23">
                  <c:v>0</c:v>
                </c:pt>
              </c:numCache>
            </c:numRef>
          </c:val>
          <c:extLst>
            <c:ext xmlns:c16="http://schemas.microsoft.com/office/drawing/2014/chart" uri="{C3380CC4-5D6E-409C-BE32-E72D297353CC}">
              <c16:uniqueId val="{00000003-CD44-400B-97C8-578805149A6D}"/>
            </c:ext>
          </c:extLst>
        </c:ser>
        <c:dLbls>
          <c:showLegendKey val="0"/>
          <c:showVal val="0"/>
          <c:showCatName val="0"/>
          <c:showSerName val="0"/>
          <c:showPercent val="0"/>
          <c:showBubbleSize val="0"/>
        </c:dLbls>
        <c:axId val="103291904"/>
        <c:axId val="103297792"/>
      </c:radarChart>
      <c:catAx>
        <c:axId val="103291904"/>
        <c:scaling>
          <c:orientation val="minMax"/>
        </c:scaling>
        <c:delete val="0"/>
        <c:axPos val="b"/>
        <c:majorGridlines>
          <c:spPr>
            <a:ln w="6350" cap="flat" cmpd="sng" algn="ctr">
              <a:solidFill>
                <a:schemeClr val="tx1">
                  <a:tint val="75000"/>
                </a:schemeClr>
              </a:solidFill>
              <a:prstDash val="solid"/>
              <a:round/>
            </a:ln>
            <a:effectLst/>
          </c:spPr>
        </c:majorGridlines>
        <c:numFmt formatCode="General" sourceLinked="0"/>
        <c:majorTickMark val="out"/>
        <c:minorTickMark val="none"/>
        <c:tickLblPos val="nextTo"/>
        <c:spPr>
          <a:noFill/>
          <a:ln w="6350" cap="flat" cmpd="sng" algn="ctr">
            <a:solidFill>
              <a:schemeClr val="tx1">
                <a:tint val="75000"/>
              </a:schemeClr>
            </a:solidFill>
            <a:prstDash val="solid"/>
            <a:round/>
          </a:ln>
          <a:effectLst/>
        </c:spPr>
        <c:txPr>
          <a:bodyPr rot="0" spcFirstLastPara="1" vertOverflow="ellipsis" wrap="square" anchor="ctr" anchorCtr="1"/>
          <a:lstStyle/>
          <a:p>
            <a:pPr>
              <a:defRPr sz="1200" b="0" i="0" u="none" strike="noStrike" kern="1200" baseline="0">
                <a:solidFill>
                  <a:schemeClr val="tx1"/>
                </a:solidFill>
                <a:latin typeface="+mn-lt"/>
                <a:ea typeface="+mn-ea"/>
                <a:cs typeface="+mn-cs"/>
              </a:defRPr>
            </a:pPr>
            <a:endParaRPr lang="en-PK"/>
          </a:p>
        </c:txPr>
        <c:crossAx val="103297792"/>
        <c:crosses val="autoZero"/>
        <c:auto val="1"/>
        <c:lblAlgn val="ctr"/>
        <c:lblOffset val="100"/>
        <c:noMultiLvlLbl val="0"/>
      </c:catAx>
      <c:valAx>
        <c:axId val="103297792"/>
        <c:scaling>
          <c:orientation val="minMax"/>
        </c:scaling>
        <c:delete val="0"/>
        <c:axPos val="l"/>
        <c:majorGridlines>
          <c:spPr>
            <a:ln w="6350" cap="flat" cmpd="sng" algn="ctr">
              <a:solidFill>
                <a:schemeClr val="tx1">
                  <a:tint val="75000"/>
                </a:schemeClr>
              </a:solidFill>
              <a:prstDash val="solid"/>
              <a:round/>
            </a:ln>
            <a:effectLst/>
          </c:spPr>
        </c:majorGridlines>
        <c:numFmt formatCode="0.0" sourceLinked="0"/>
        <c:majorTickMark val="out"/>
        <c:minorTickMark val="none"/>
        <c:tickLblPos val="low"/>
        <c:spPr>
          <a:noFill/>
          <a:ln w="9525" cap="flat" cmpd="sng" algn="ctr">
            <a:solidFill>
              <a:schemeClr val="accent2">
                <a:shade val="95000"/>
                <a:satMod val="105000"/>
              </a:schemeClr>
            </a:solidFill>
            <a:prstDash val="solid"/>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PK"/>
          </a:p>
        </c:txPr>
        <c:crossAx val="103291904"/>
        <c:crosses val="autoZero"/>
        <c:crossBetween val="between"/>
      </c:valAx>
      <c:spPr>
        <a:noFill/>
        <a:ln>
          <a:noFill/>
        </a:ln>
        <a:effectLst/>
      </c:spPr>
    </c:plotArea>
    <c:plotVisOnly val="1"/>
    <c:dispBlanksAs val="gap"/>
    <c:showDLblsOverMax val="0"/>
  </c:chart>
  <c:spPr>
    <a:noFill/>
    <a:ln w="9525" cap="flat" cmpd="sng" algn="ctr">
      <a:noFill/>
      <a:prstDash val="solid"/>
    </a:ln>
    <a:effectLst/>
  </c:spPr>
  <c:txPr>
    <a:bodyPr/>
    <a:lstStyle/>
    <a:p>
      <a:pPr>
        <a:defRPr sz="1200"/>
      </a:pPr>
      <a:endParaRPr lang="en-PK"/>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3A96B8-D960-48E4-BA3C-76B86CE10426}" type="doc">
      <dgm:prSet loTypeId="urn:microsoft.com/office/officeart/2005/8/layout/process2" loCatId="process" qsTypeId="urn:microsoft.com/office/officeart/2005/8/quickstyle/simple1" qsCatId="simple" csTypeId="urn:microsoft.com/office/officeart/2005/8/colors/colorful2" csCatId="colorful" phldr="1"/>
      <dgm:spPr/>
    </dgm:pt>
    <dgm:pt modelId="{F27A2F48-F9FF-4F6F-8E15-18D1A0FAA6EA}">
      <dgm:prSet phldrT="[Text]" custT="1"/>
      <dgm:spPr/>
      <dgm:t>
        <a:bodyPr/>
        <a:lstStyle/>
        <a:p>
          <a:r>
            <a:rPr lang="en-US" sz="2400" dirty="0">
              <a:latin typeface="+mj-lt"/>
            </a:rPr>
            <a:t>Identify</a:t>
          </a:r>
          <a:endParaRPr lang="en-PK" sz="2400" dirty="0">
            <a:latin typeface="+mj-lt"/>
          </a:endParaRPr>
        </a:p>
      </dgm:t>
    </dgm:pt>
    <dgm:pt modelId="{21AB9CA7-08A1-443E-A6FA-D96D531965A6}" type="parTrans" cxnId="{A6D66BBF-5DAF-4FDF-A78C-8F38B0C102DD}">
      <dgm:prSet/>
      <dgm:spPr/>
      <dgm:t>
        <a:bodyPr/>
        <a:lstStyle/>
        <a:p>
          <a:endParaRPr lang="en-PK"/>
        </a:p>
      </dgm:t>
    </dgm:pt>
    <dgm:pt modelId="{1901DFF9-FF7C-49B4-8777-410296768596}" type="sibTrans" cxnId="{A6D66BBF-5DAF-4FDF-A78C-8F38B0C102DD}">
      <dgm:prSet/>
      <dgm:spPr/>
      <dgm:t>
        <a:bodyPr/>
        <a:lstStyle/>
        <a:p>
          <a:endParaRPr lang="en-PK"/>
        </a:p>
      </dgm:t>
    </dgm:pt>
    <dgm:pt modelId="{ED91E770-71CF-40D5-BD3F-B61C011752E7}">
      <dgm:prSet phldrT="[Text]"/>
      <dgm:spPr/>
      <dgm:t>
        <a:bodyPr/>
        <a:lstStyle/>
        <a:p>
          <a:r>
            <a:rPr lang="en-US" dirty="0"/>
            <a:t>Protect</a:t>
          </a:r>
          <a:endParaRPr lang="en-PK" dirty="0"/>
        </a:p>
      </dgm:t>
    </dgm:pt>
    <dgm:pt modelId="{F001D121-50B3-4B96-AE5A-D518EC76ECC3}" type="parTrans" cxnId="{D3100125-3C78-4838-9398-AE04ACB121FE}">
      <dgm:prSet/>
      <dgm:spPr/>
      <dgm:t>
        <a:bodyPr/>
        <a:lstStyle/>
        <a:p>
          <a:endParaRPr lang="en-PK"/>
        </a:p>
      </dgm:t>
    </dgm:pt>
    <dgm:pt modelId="{B66756AF-39FC-4001-AE63-0B669BA8CD02}" type="sibTrans" cxnId="{D3100125-3C78-4838-9398-AE04ACB121FE}">
      <dgm:prSet/>
      <dgm:spPr/>
      <dgm:t>
        <a:bodyPr/>
        <a:lstStyle/>
        <a:p>
          <a:endParaRPr lang="en-PK"/>
        </a:p>
      </dgm:t>
    </dgm:pt>
    <dgm:pt modelId="{232BED58-9FD5-4790-8A6F-7497AF3A54E0}">
      <dgm:prSet phldrT="[Text]"/>
      <dgm:spPr/>
      <dgm:t>
        <a:bodyPr/>
        <a:lstStyle/>
        <a:p>
          <a:r>
            <a:rPr lang="en-US" dirty="0"/>
            <a:t>Detect</a:t>
          </a:r>
          <a:endParaRPr lang="en-PK" dirty="0"/>
        </a:p>
      </dgm:t>
    </dgm:pt>
    <dgm:pt modelId="{A88E2C99-7D33-4010-A182-593F93DD86C5}" type="parTrans" cxnId="{139E090E-82AA-4393-BAD6-03AA70285898}">
      <dgm:prSet/>
      <dgm:spPr/>
      <dgm:t>
        <a:bodyPr/>
        <a:lstStyle/>
        <a:p>
          <a:endParaRPr lang="en-PK"/>
        </a:p>
      </dgm:t>
    </dgm:pt>
    <dgm:pt modelId="{CA86A2AC-9AB4-423A-8378-06D9C308030C}" type="sibTrans" cxnId="{139E090E-82AA-4393-BAD6-03AA70285898}">
      <dgm:prSet/>
      <dgm:spPr/>
      <dgm:t>
        <a:bodyPr/>
        <a:lstStyle/>
        <a:p>
          <a:endParaRPr lang="en-PK"/>
        </a:p>
      </dgm:t>
    </dgm:pt>
    <dgm:pt modelId="{F9A0E782-5593-4CEF-9C4B-42590FC808BA}">
      <dgm:prSet phldrT="[Text]"/>
      <dgm:spPr/>
      <dgm:t>
        <a:bodyPr/>
        <a:lstStyle/>
        <a:p>
          <a:r>
            <a:rPr lang="en-US" dirty="0"/>
            <a:t>Respond</a:t>
          </a:r>
          <a:endParaRPr lang="en-PK" dirty="0"/>
        </a:p>
      </dgm:t>
    </dgm:pt>
    <dgm:pt modelId="{5717F8C3-7738-4950-B39B-CBF0F4177733}" type="parTrans" cxnId="{EB6936D1-C85D-484C-ACEE-220482DB6D82}">
      <dgm:prSet/>
      <dgm:spPr/>
      <dgm:t>
        <a:bodyPr/>
        <a:lstStyle/>
        <a:p>
          <a:endParaRPr lang="en-PK"/>
        </a:p>
      </dgm:t>
    </dgm:pt>
    <dgm:pt modelId="{BD2F2160-1A72-49E4-BE57-F508BD6362F2}" type="sibTrans" cxnId="{EB6936D1-C85D-484C-ACEE-220482DB6D82}">
      <dgm:prSet/>
      <dgm:spPr/>
      <dgm:t>
        <a:bodyPr/>
        <a:lstStyle/>
        <a:p>
          <a:endParaRPr lang="en-PK"/>
        </a:p>
      </dgm:t>
    </dgm:pt>
    <dgm:pt modelId="{3E9D28B3-BB6F-4C24-B6BE-5C674F352D28}">
      <dgm:prSet phldrT="[Text]"/>
      <dgm:spPr/>
      <dgm:t>
        <a:bodyPr/>
        <a:lstStyle/>
        <a:p>
          <a:r>
            <a:rPr lang="en-US" dirty="0"/>
            <a:t>Recover</a:t>
          </a:r>
          <a:endParaRPr lang="en-PK" dirty="0"/>
        </a:p>
      </dgm:t>
    </dgm:pt>
    <dgm:pt modelId="{201146D2-212D-4D98-9AF7-4D84BE326F03}" type="parTrans" cxnId="{8398FE79-266A-4063-8322-7025D23CD9EE}">
      <dgm:prSet/>
      <dgm:spPr/>
      <dgm:t>
        <a:bodyPr/>
        <a:lstStyle/>
        <a:p>
          <a:endParaRPr lang="en-PK"/>
        </a:p>
      </dgm:t>
    </dgm:pt>
    <dgm:pt modelId="{48FEF95F-8B42-45AA-854D-A4035793B373}" type="sibTrans" cxnId="{8398FE79-266A-4063-8322-7025D23CD9EE}">
      <dgm:prSet/>
      <dgm:spPr/>
      <dgm:t>
        <a:bodyPr/>
        <a:lstStyle/>
        <a:p>
          <a:endParaRPr lang="en-PK"/>
        </a:p>
      </dgm:t>
    </dgm:pt>
    <dgm:pt modelId="{34EE0DC1-FF66-41E4-8D56-B209FE6D2A49}" type="pres">
      <dgm:prSet presAssocID="{293A96B8-D960-48E4-BA3C-76B86CE10426}" presName="linearFlow" presStyleCnt="0">
        <dgm:presLayoutVars>
          <dgm:resizeHandles val="exact"/>
        </dgm:presLayoutVars>
      </dgm:prSet>
      <dgm:spPr/>
    </dgm:pt>
    <dgm:pt modelId="{00498D69-F30B-43C2-B1A3-D10A30B3C677}" type="pres">
      <dgm:prSet presAssocID="{F27A2F48-F9FF-4F6F-8E15-18D1A0FAA6EA}" presName="node" presStyleLbl="node1" presStyleIdx="0" presStyleCnt="5">
        <dgm:presLayoutVars>
          <dgm:bulletEnabled val="1"/>
        </dgm:presLayoutVars>
      </dgm:prSet>
      <dgm:spPr/>
    </dgm:pt>
    <dgm:pt modelId="{852E1D99-F36C-4A0F-8821-AC1C33C82506}" type="pres">
      <dgm:prSet presAssocID="{1901DFF9-FF7C-49B4-8777-410296768596}" presName="sibTrans" presStyleLbl="sibTrans2D1" presStyleIdx="0" presStyleCnt="4"/>
      <dgm:spPr/>
    </dgm:pt>
    <dgm:pt modelId="{F4A62AA0-64A4-455C-9128-0311C4238BA2}" type="pres">
      <dgm:prSet presAssocID="{1901DFF9-FF7C-49B4-8777-410296768596}" presName="connectorText" presStyleLbl="sibTrans2D1" presStyleIdx="0" presStyleCnt="4"/>
      <dgm:spPr/>
    </dgm:pt>
    <dgm:pt modelId="{7E79F52D-C9BD-4259-B2C6-33CA7DA326C8}" type="pres">
      <dgm:prSet presAssocID="{ED91E770-71CF-40D5-BD3F-B61C011752E7}" presName="node" presStyleLbl="node1" presStyleIdx="1" presStyleCnt="5">
        <dgm:presLayoutVars>
          <dgm:bulletEnabled val="1"/>
        </dgm:presLayoutVars>
      </dgm:prSet>
      <dgm:spPr/>
    </dgm:pt>
    <dgm:pt modelId="{42320049-D7D9-4152-91BD-E8EBCCC80B05}" type="pres">
      <dgm:prSet presAssocID="{B66756AF-39FC-4001-AE63-0B669BA8CD02}" presName="sibTrans" presStyleLbl="sibTrans2D1" presStyleIdx="1" presStyleCnt="4"/>
      <dgm:spPr/>
    </dgm:pt>
    <dgm:pt modelId="{3A2EB578-A1ED-4951-B933-C837119E7E0C}" type="pres">
      <dgm:prSet presAssocID="{B66756AF-39FC-4001-AE63-0B669BA8CD02}" presName="connectorText" presStyleLbl="sibTrans2D1" presStyleIdx="1" presStyleCnt="4"/>
      <dgm:spPr/>
    </dgm:pt>
    <dgm:pt modelId="{ED39240B-A84F-4C57-B202-93D7BC88FEBC}" type="pres">
      <dgm:prSet presAssocID="{232BED58-9FD5-4790-8A6F-7497AF3A54E0}" presName="node" presStyleLbl="node1" presStyleIdx="2" presStyleCnt="5">
        <dgm:presLayoutVars>
          <dgm:bulletEnabled val="1"/>
        </dgm:presLayoutVars>
      </dgm:prSet>
      <dgm:spPr/>
    </dgm:pt>
    <dgm:pt modelId="{126A2212-021E-4865-8E9E-A5AAABB21500}" type="pres">
      <dgm:prSet presAssocID="{CA86A2AC-9AB4-423A-8378-06D9C308030C}" presName="sibTrans" presStyleLbl="sibTrans2D1" presStyleIdx="2" presStyleCnt="4"/>
      <dgm:spPr/>
    </dgm:pt>
    <dgm:pt modelId="{0017AC4B-0BCF-43CB-AE30-1196B2C89EB9}" type="pres">
      <dgm:prSet presAssocID="{CA86A2AC-9AB4-423A-8378-06D9C308030C}" presName="connectorText" presStyleLbl="sibTrans2D1" presStyleIdx="2" presStyleCnt="4"/>
      <dgm:spPr/>
    </dgm:pt>
    <dgm:pt modelId="{027CD78D-9138-48DC-A3E6-9FCF906F41F0}" type="pres">
      <dgm:prSet presAssocID="{F9A0E782-5593-4CEF-9C4B-42590FC808BA}" presName="node" presStyleLbl="node1" presStyleIdx="3" presStyleCnt="5">
        <dgm:presLayoutVars>
          <dgm:bulletEnabled val="1"/>
        </dgm:presLayoutVars>
      </dgm:prSet>
      <dgm:spPr/>
    </dgm:pt>
    <dgm:pt modelId="{7828EE35-096F-48E0-9EE9-E782D1488194}" type="pres">
      <dgm:prSet presAssocID="{BD2F2160-1A72-49E4-BE57-F508BD6362F2}" presName="sibTrans" presStyleLbl="sibTrans2D1" presStyleIdx="3" presStyleCnt="4"/>
      <dgm:spPr/>
    </dgm:pt>
    <dgm:pt modelId="{B6EEF92F-E070-41D3-82A9-9B964FE64CB6}" type="pres">
      <dgm:prSet presAssocID="{BD2F2160-1A72-49E4-BE57-F508BD6362F2}" presName="connectorText" presStyleLbl="sibTrans2D1" presStyleIdx="3" presStyleCnt="4"/>
      <dgm:spPr/>
    </dgm:pt>
    <dgm:pt modelId="{113FB63E-BCE8-43F7-95C7-B9F2954253AC}" type="pres">
      <dgm:prSet presAssocID="{3E9D28B3-BB6F-4C24-B6BE-5C674F352D28}" presName="node" presStyleLbl="node1" presStyleIdx="4" presStyleCnt="5">
        <dgm:presLayoutVars>
          <dgm:bulletEnabled val="1"/>
        </dgm:presLayoutVars>
      </dgm:prSet>
      <dgm:spPr/>
    </dgm:pt>
  </dgm:ptLst>
  <dgm:cxnLst>
    <dgm:cxn modelId="{139E090E-82AA-4393-BAD6-03AA70285898}" srcId="{293A96B8-D960-48E4-BA3C-76B86CE10426}" destId="{232BED58-9FD5-4790-8A6F-7497AF3A54E0}" srcOrd="2" destOrd="0" parTransId="{A88E2C99-7D33-4010-A182-593F93DD86C5}" sibTransId="{CA86A2AC-9AB4-423A-8378-06D9C308030C}"/>
    <dgm:cxn modelId="{AFA30415-1322-4ECF-9C07-461B4DFB268E}" type="presOf" srcId="{1901DFF9-FF7C-49B4-8777-410296768596}" destId="{F4A62AA0-64A4-455C-9128-0311C4238BA2}" srcOrd="1" destOrd="0" presId="urn:microsoft.com/office/officeart/2005/8/layout/process2"/>
    <dgm:cxn modelId="{DDDA841D-FFC7-462B-A3B5-1158DDB7D9A5}" type="presOf" srcId="{F27A2F48-F9FF-4F6F-8E15-18D1A0FAA6EA}" destId="{00498D69-F30B-43C2-B1A3-D10A30B3C677}" srcOrd="0" destOrd="0" presId="urn:microsoft.com/office/officeart/2005/8/layout/process2"/>
    <dgm:cxn modelId="{D3100125-3C78-4838-9398-AE04ACB121FE}" srcId="{293A96B8-D960-48E4-BA3C-76B86CE10426}" destId="{ED91E770-71CF-40D5-BD3F-B61C011752E7}" srcOrd="1" destOrd="0" parTransId="{F001D121-50B3-4B96-AE5A-D518EC76ECC3}" sibTransId="{B66756AF-39FC-4001-AE63-0B669BA8CD02}"/>
    <dgm:cxn modelId="{7A374629-FC59-43D5-9F1C-8FF43E9810AA}" type="presOf" srcId="{B66756AF-39FC-4001-AE63-0B669BA8CD02}" destId="{42320049-D7D9-4152-91BD-E8EBCCC80B05}" srcOrd="0" destOrd="0" presId="urn:microsoft.com/office/officeart/2005/8/layout/process2"/>
    <dgm:cxn modelId="{91FB4336-4B79-426C-95C2-6111343A02F3}" type="presOf" srcId="{232BED58-9FD5-4790-8A6F-7497AF3A54E0}" destId="{ED39240B-A84F-4C57-B202-93D7BC88FEBC}" srcOrd="0" destOrd="0" presId="urn:microsoft.com/office/officeart/2005/8/layout/process2"/>
    <dgm:cxn modelId="{D6BABA38-9BE8-468E-A07F-E66675402D48}" type="presOf" srcId="{1901DFF9-FF7C-49B4-8777-410296768596}" destId="{852E1D99-F36C-4A0F-8821-AC1C33C82506}" srcOrd="0" destOrd="0" presId="urn:microsoft.com/office/officeart/2005/8/layout/process2"/>
    <dgm:cxn modelId="{6A3A096E-58E3-4E28-9716-AB24FF56613D}" type="presOf" srcId="{3E9D28B3-BB6F-4C24-B6BE-5C674F352D28}" destId="{113FB63E-BCE8-43F7-95C7-B9F2954253AC}" srcOrd="0" destOrd="0" presId="urn:microsoft.com/office/officeart/2005/8/layout/process2"/>
    <dgm:cxn modelId="{D286FF6E-57C4-4D18-8861-30A9157763A7}" type="presOf" srcId="{BD2F2160-1A72-49E4-BE57-F508BD6362F2}" destId="{B6EEF92F-E070-41D3-82A9-9B964FE64CB6}" srcOrd="1" destOrd="0" presId="urn:microsoft.com/office/officeart/2005/8/layout/process2"/>
    <dgm:cxn modelId="{F0EBAF52-9408-4BA3-B693-F80823815059}" type="presOf" srcId="{CA86A2AC-9AB4-423A-8378-06D9C308030C}" destId="{0017AC4B-0BCF-43CB-AE30-1196B2C89EB9}" srcOrd="1" destOrd="0" presId="urn:microsoft.com/office/officeart/2005/8/layout/process2"/>
    <dgm:cxn modelId="{8398FE79-266A-4063-8322-7025D23CD9EE}" srcId="{293A96B8-D960-48E4-BA3C-76B86CE10426}" destId="{3E9D28B3-BB6F-4C24-B6BE-5C674F352D28}" srcOrd="4" destOrd="0" parTransId="{201146D2-212D-4D98-9AF7-4D84BE326F03}" sibTransId="{48FEF95F-8B42-45AA-854D-A4035793B373}"/>
    <dgm:cxn modelId="{57D5F37E-2B21-44C2-ADC3-6C92A81FFE9E}" type="presOf" srcId="{F9A0E782-5593-4CEF-9C4B-42590FC808BA}" destId="{027CD78D-9138-48DC-A3E6-9FCF906F41F0}" srcOrd="0" destOrd="0" presId="urn:microsoft.com/office/officeart/2005/8/layout/process2"/>
    <dgm:cxn modelId="{6448DA83-182C-4108-9771-EEEA13A87016}" type="presOf" srcId="{CA86A2AC-9AB4-423A-8378-06D9C308030C}" destId="{126A2212-021E-4865-8E9E-A5AAABB21500}" srcOrd="0" destOrd="0" presId="urn:microsoft.com/office/officeart/2005/8/layout/process2"/>
    <dgm:cxn modelId="{316152B0-1A88-4279-9B12-78A2CC410E32}" type="presOf" srcId="{293A96B8-D960-48E4-BA3C-76B86CE10426}" destId="{34EE0DC1-FF66-41E4-8D56-B209FE6D2A49}" srcOrd="0" destOrd="0" presId="urn:microsoft.com/office/officeart/2005/8/layout/process2"/>
    <dgm:cxn modelId="{A4BE40B1-58E5-49FD-B92F-3111BC3C5962}" type="presOf" srcId="{BD2F2160-1A72-49E4-BE57-F508BD6362F2}" destId="{7828EE35-096F-48E0-9EE9-E782D1488194}" srcOrd="0" destOrd="0" presId="urn:microsoft.com/office/officeart/2005/8/layout/process2"/>
    <dgm:cxn modelId="{A6D66BBF-5DAF-4FDF-A78C-8F38B0C102DD}" srcId="{293A96B8-D960-48E4-BA3C-76B86CE10426}" destId="{F27A2F48-F9FF-4F6F-8E15-18D1A0FAA6EA}" srcOrd="0" destOrd="0" parTransId="{21AB9CA7-08A1-443E-A6FA-D96D531965A6}" sibTransId="{1901DFF9-FF7C-49B4-8777-410296768596}"/>
    <dgm:cxn modelId="{EB6936D1-C85D-484C-ACEE-220482DB6D82}" srcId="{293A96B8-D960-48E4-BA3C-76B86CE10426}" destId="{F9A0E782-5593-4CEF-9C4B-42590FC808BA}" srcOrd="3" destOrd="0" parTransId="{5717F8C3-7738-4950-B39B-CBF0F4177733}" sibTransId="{BD2F2160-1A72-49E4-BE57-F508BD6362F2}"/>
    <dgm:cxn modelId="{D3D374FB-FD7B-4E26-9767-7B849E524421}" type="presOf" srcId="{B66756AF-39FC-4001-AE63-0B669BA8CD02}" destId="{3A2EB578-A1ED-4951-B933-C837119E7E0C}" srcOrd="1" destOrd="0" presId="urn:microsoft.com/office/officeart/2005/8/layout/process2"/>
    <dgm:cxn modelId="{17B2E4FE-4FCF-44A8-B86F-D87823A231CF}" type="presOf" srcId="{ED91E770-71CF-40D5-BD3F-B61C011752E7}" destId="{7E79F52D-C9BD-4259-B2C6-33CA7DA326C8}" srcOrd="0" destOrd="0" presId="urn:microsoft.com/office/officeart/2005/8/layout/process2"/>
    <dgm:cxn modelId="{EBFD2FF7-797D-4DFD-8B23-E2CE5C92875A}" type="presParOf" srcId="{34EE0DC1-FF66-41E4-8D56-B209FE6D2A49}" destId="{00498D69-F30B-43C2-B1A3-D10A30B3C677}" srcOrd="0" destOrd="0" presId="urn:microsoft.com/office/officeart/2005/8/layout/process2"/>
    <dgm:cxn modelId="{4C6BC32C-9ACA-4F50-A2BA-B204BDAD36AA}" type="presParOf" srcId="{34EE0DC1-FF66-41E4-8D56-B209FE6D2A49}" destId="{852E1D99-F36C-4A0F-8821-AC1C33C82506}" srcOrd="1" destOrd="0" presId="urn:microsoft.com/office/officeart/2005/8/layout/process2"/>
    <dgm:cxn modelId="{A21F2472-3B6A-4EBD-A621-F4965CD60BAC}" type="presParOf" srcId="{852E1D99-F36C-4A0F-8821-AC1C33C82506}" destId="{F4A62AA0-64A4-455C-9128-0311C4238BA2}" srcOrd="0" destOrd="0" presId="urn:microsoft.com/office/officeart/2005/8/layout/process2"/>
    <dgm:cxn modelId="{FAF7850B-14CB-4C23-9E5D-94367592619A}" type="presParOf" srcId="{34EE0DC1-FF66-41E4-8D56-B209FE6D2A49}" destId="{7E79F52D-C9BD-4259-B2C6-33CA7DA326C8}" srcOrd="2" destOrd="0" presId="urn:microsoft.com/office/officeart/2005/8/layout/process2"/>
    <dgm:cxn modelId="{3B06D971-75DF-4E68-881A-0E2D6364FDA4}" type="presParOf" srcId="{34EE0DC1-FF66-41E4-8D56-B209FE6D2A49}" destId="{42320049-D7D9-4152-91BD-E8EBCCC80B05}" srcOrd="3" destOrd="0" presId="urn:microsoft.com/office/officeart/2005/8/layout/process2"/>
    <dgm:cxn modelId="{4116326B-2FF5-4667-AA31-348D4D36657C}" type="presParOf" srcId="{42320049-D7D9-4152-91BD-E8EBCCC80B05}" destId="{3A2EB578-A1ED-4951-B933-C837119E7E0C}" srcOrd="0" destOrd="0" presId="urn:microsoft.com/office/officeart/2005/8/layout/process2"/>
    <dgm:cxn modelId="{3B923751-1F35-428E-A001-D9B5E3AA99BA}" type="presParOf" srcId="{34EE0DC1-FF66-41E4-8D56-B209FE6D2A49}" destId="{ED39240B-A84F-4C57-B202-93D7BC88FEBC}" srcOrd="4" destOrd="0" presId="urn:microsoft.com/office/officeart/2005/8/layout/process2"/>
    <dgm:cxn modelId="{BF190ADE-A29A-4A98-92AB-38B48F4C3D8A}" type="presParOf" srcId="{34EE0DC1-FF66-41E4-8D56-B209FE6D2A49}" destId="{126A2212-021E-4865-8E9E-A5AAABB21500}" srcOrd="5" destOrd="0" presId="urn:microsoft.com/office/officeart/2005/8/layout/process2"/>
    <dgm:cxn modelId="{93029EDB-72AF-4650-8090-2AA597AE41C6}" type="presParOf" srcId="{126A2212-021E-4865-8E9E-A5AAABB21500}" destId="{0017AC4B-0BCF-43CB-AE30-1196B2C89EB9}" srcOrd="0" destOrd="0" presId="urn:microsoft.com/office/officeart/2005/8/layout/process2"/>
    <dgm:cxn modelId="{136FDC22-6F89-4997-A352-0F5BA9143447}" type="presParOf" srcId="{34EE0DC1-FF66-41E4-8D56-B209FE6D2A49}" destId="{027CD78D-9138-48DC-A3E6-9FCF906F41F0}" srcOrd="6" destOrd="0" presId="urn:microsoft.com/office/officeart/2005/8/layout/process2"/>
    <dgm:cxn modelId="{F38CDDE9-0E90-4B1F-B27F-188F1B0AEDD8}" type="presParOf" srcId="{34EE0DC1-FF66-41E4-8D56-B209FE6D2A49}" destId="{7828EE35-096F-48E0-9EE9-E782D1488194}" srcOrd="7" destOrd="0" presId="urn:microsoft.com/office/officeart/2005/8/layout/process2"/>
    <dgm:cxn modelId="{0D2D303D-15A7-4A0E-8128-CF560B85EBA0}" type="presParOf" srcId="{7828EE35-096F-48E0-9EE9-E782D1488194}" destId="{B6EEF92F-E070-41D3-82A9-9B964FE64CB6}" srcOrd="0" destOrd="0" presId="urn:microsoft.com/office/officeart/2005/8/layout/process2"/>
    <dgm:cxn modelId="{CC5F7DDD-5418-4DA6-8A33-952EDDE730C2}" type="presParOf" srcId="{34EE0DC1-FF66-41E4-8D56-B209FE6D2A49}" destId="{113FB63E-BCE8-43F7-95C7-B9F2954253AC}" srcOrd="8" destOrd="0" presId="urn:microsoft.com/office/officeart/2005/8/layout/process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819885-77E1-4C7C-A3EF-DF12EE57EE4C}" type="doc">
      <dgm:prSet loTypeId="urn:microsoft.com/office/officeart/2011/layout/TabList" loCatId="list" qsTypeId="urn:microsoft.com/office/officeart/2005/8/quickstyle/simple1" qsCatId="simple" csTypeId="urn:microsoft.com/office/officeart/2005/8/colors/accent0_2" csCatId="mainScheme" phldr="1"/>
      <dgm:spPr/>
      <dgm:t>
        <a:bodyPr/>
        <a:lstStyle/>
        <a:p>
          <a:endParaRPr lang="en-PK"/>
        </a:p>
      </dgm:t>
    </dgm:pt>
    <dgm:pt modelId="{9FD40911-1D5F-473A-9724-09535AE8B84C}">
      <dgm:prSet custT="1"/>
      <dgm:spPr/>
      <dgm:t>
        <a:bodyPr/>
        <a:lstStyle/>
        <a:p>
          <a:r>
            <a:rPr lang="en-US" sz="1800" b="1" u="sng" dirty="0">
              <a:latin typeface="Arial" panose="020B0604020202020204" pitchFamily="34" charset="0"/>
              <a:cs typeface="Arial" panose="020B0604020202020204" pitchFamily="34" charset="0"/>
            </a:rPr>
            <a:t>PERIMETER SECURITY:</a:t>
          </a:r>
          <a:endParaRPr lang="en-PK" sz="1800" dirty="0">
            <a:latin typeface="Arial" panose="020B0604020202020204" pitchFamily="34" charset="0"/>
            <a:cs typeface="Arial" panose="020B0604020202020204" pitchFamily="34" charset="0"/>
          </a:endParaRPr>
        </a:p>
      </dgm:t>
    </dgm:pt>
    <dgm:pt modelId="{91E3A890-4D05-4C60-804A-F5907A8646DB}" type="parTrans" cxnId="{DC6A9956-CA0C-43A4-BB0D-8A6730E25AE5}">
      <dgm:prSet/>
      <dgm:spPr/>
      <dgm:t>
        <a:bodyPr/>
        <a:lstStyle/>
        <a:p>
          <a:endParaRPr lang="en-PK" sz="2000">
            <a:latin typeface="Arial" panose="020B0604020202020204" pitchFamily="34" charset="0"/>
            <a:cs typeface="Arial" panose="020B0604020202020204" pitchFamily="34" charset="0"/>
          </a:endParaRPr>
        </a:p>
      </dgm:t>
    </dgm:pt>
    <dgm:pt modelId="{62018F95-BDE9-46E0-BABE-B7061040A2C9}" type="sibTrans" cxnId="{DC6A9956-CA0C-43A4-BB0D-8A6730E25AE5}">
      <dgm:prSet/>
      <dgm:spPr/>
      <dgm:t>
        <a:bodyPr/>
        <a:lstStyle/>
        <a:p>
          <a:endParaRPr lang="en-PK" sz="2000">
            <a:latin typeface="Arial" panose="020B0604020202020204" pitchFamily="34" charset="0"/>
            <a:cs typeface="Arial" panose="020B0604020202020204" pitchFamily="34" charset="0"/>
          </a:endParaRPr>
        </a:p>
      </dgm:t>
    </dgm:pt>
    <dgm:pt modelId="{DD006172-A16F-4E76-830F-F1B5CE7E8BFF}">
      <dgm:prSet custT="1"/>
      <dgm:spPr/>
      <dgm:t>
        <a:bodyPr anchor="ctr"/>
        <a:lstStyle/>
        <a:p>
          <a:pPr>
            <a:lnSpc>
              <a:spcPct val="150000"/>
            </a:lnSpc>
          </a:pPr>
          <a:r>
            <a:rPr lang="en-US" sz="1800" dirty="0">
              <a:latin typeface="Arial" panose="020B0604020202020204" pitchFamily="34" charset="0"/>
              <a:cs typeface="Arial" panose="020B0604020202020204" pitchFamily="34" charset="0"/>
            </a:rPr>
            <a:t>P</a:t>
          </a:r>
          <a:r>
            <a:rPr lang="en-US" sz="1800" b="0" i="0" dirty="0">
              <a:latin typeface="Arial" panose="020B0604020202020204" pitchFamily="34" charset="0"/>
              <a:cs typeface="Arial" panose="020B0604020202020204" pitchFamily="34" charset="0"/>
            </a:rPr>
            <a:t>erimeter security involves safeguarding a company's network boundary from hackers, intruders, and other unwanted individuals. It includes surveillance detection, analyzing patterns, recognizing threats, and dealing with them effectively.</a:t>
          </a:r>
          <a:endParaRPr lang="en-PK" sz="1800" dirty="0">
            <a:latin typeface="Arial" panose="020B0604020202020204" pitchFamily="34" charset="0"/>
            <a:cs typeface="Arial" panose="020B0604020202020204" pitchFamily="34" charset="0"/>
          </a:endParaRPr>
        </a:p>
      </dgm:t>
    </dgm:pt>
    <dgm:pt modelId="{677182FD-7754-4159-A755-5E6007828B11}" type="parTrans" cxnId="{6F3C5439-C37B-4F8F-8D7B-9164DCADD09C}">
      <dgm:prSet/>
      <dgm:spPr/>
      <dgm:t>
        <a:bodyPr/>
        <a:lstStyle/>
        <a:p>
          <a:endParaRPr lang="en-PK" sz="2000">
            <a:latin typeface="Arial" panose="020B0604020202020204" pitchFamily="34" charset="0"/>
            <a:cs typeface="Arial" panose="020B0604020202020204" pitchFamily="34" charset="0"/>
          </a:endParaRPr>
        </a:p>
      </dgm:t>
    </dgm:pt>
    <dgm:pt modelId="{73DFAF8B-4A76-463A-932D-88C315417C68}" type="sibTrans" cxnId="{6F3C5439-C37B-4F8F-8D7B-9164DCADD09C}">
      <dgm:prSet/>
      <dgm:spPr/>
      <dgm:t>
        <a:bodyPr/>
        <a:lstStyle/>
        <a:p>
          <a:endParaRPr lang="en-PK" sz="2000">
            <a:latin typeface="Arial" panose="020B0604020202020204" pitchFamily="34" charset="0"/>
            <a:cs typeface="Arial" panose="020B0604020202020204" pitchFamily="34" charset="0"/>
          </a:endParaRPr>
        </a:p>
      </dgm:t>
    </dgm:pt>
    <dgm:pt modelId="{94097C02-04BE-4604-964C-D2A99ABDE923}">
      <dgm:prSet custT="1"/>
      <dgm:spPr/>
      <dgm:t>
        <a:bodyPr/>
        <a:lstStyle/>
        <a:p>
          <a:r>
            <a:rPr lang="en-US" sz="1800" b="1" u="sng" dirty="0">
              <a:latin typeface="Arial" panose="020B0604020202020204" pitchFamily="34" charset="0"/>
              <a:cs typeface="Arial" panose="020B0604020202020204" pitchFamily="34" charset="0"/>
            </a:rPr>
            <a:t>NETWORK SECURITY:</a:t>
          </a:r>
          <a:endParaRPr lang="en-PK" sz="1800" dirty="0">
            <a:latin typeface="Arial" panose="020B0604020202020204" pitchFamily="34" charset="0"/>
            <a:cs typeface="Arial" panose="020B0604020202020204" pitchFamily="34" charset="0"/>
          </a:endParaRPr>
        </a:p>
      </dgm:t>
    </dgm:pt>
    <dgm:pt modelId="{CCD8F79C-11C7-4CDF-9F88-71C69DD4B3F0}" type="parTrans" cxnId="{0E475086-07C3-4E1B-8D5C-F1CEA60BFAD6}">
      <dgm:prSet/>
      <dgm:spPr/>
      <dgm:t>
        <a:bodyPr/>
        <a:lstStyle/>
        <a:p>
          <a:endParaRPr lang="en-PK" sz="2000">
            <a:latin typeface="Arial" panose="020B0604020202020204" pitchFamily="34" charset="0"/>
            <a:cs typeface="Arial" panose="020B0604020202020204" pitchFamily="34" charset="0"/>
          </a:endParaRPr>
        </a:p>
      </dgm:t>
    </dgm:pt>
    <dgm:pt modelId="{7DB354A7-3EC1-4389-B079-56353A62BDFB}" type="sibTrans" cxnId="{0E475086-07C3-4E1B-8D5C-F1CEA60BFAD6}">
      <dgm:prSet/>
      <dgm:spPr/>
      <dgm:t>
        <a:bodyPr/>
        <a:lstStyle/>
        <a:p>
          <a:endParaRPr lang="en-PK" sz="2000">
            <a:latin typeface="Arial" panose="020B0604020202020204" pitchFamily="34" charset="0"/>
            <a:cs typeface="Arial" panose="020B0604020202020204" pitchFamily="34" charset="0"/>
          </a:endParaRPr>
        </a:p>
      </dgm:t>
    </dgm:pt>
    <dgm:pt modelId="{39732EF6-41CE-48CB-8FAA-875CBF961E12}">
      <dgm:prSet custT="1"/>
      <dgm:spPr/>
      <dgm:t>
        <a:bodyPr anchor="ctr"/>
        <a:lstStyle/>
        <a:p>
          <a:pPr>
            <a:lnSpc>
              <a:spcPct val="150000"/>
            </a:lnSpc>
          </a:pPr>
          <a:r>
            <a:rPr lang="en-US" sz="1800" dirty="0">
              <a:latin typeface="Arial" panose="020B0604020202020204" pitchFamily="34" charset="0"/>
              <a:cs typeface="Arial" panose="020B0604020202020204" pitchFamily="34" charset="0"/>
            </a:rPr>
            <a:t>Network Security protects network and data from breaches, intrusions and other threats. This is a vast and overarching term that describes hardware and software solutions as well as processes or rules and configurations relating to network use, accessibility and overall threat protection.</a:t>
          </a:r>
          <a:endParaRPr lang="en-PK" sz="1800" dirty="0">
            <a:latin typeface="Arial" panose="020B0604020202020204" pitchFamily="34" charset="0"/>
            <a:cs typeface="Arial" panose="020B0604020202020204" pitchFamily="34" charset="0"/>
          </a:endParaRPr>
        </a:p>
      </dgm:t>
    </dgm:pt>
    <dgm:pt modelId="{BEA41400-EBE7-4C31-86D4-B3A79B4561F7}" type="parTrans" cxnId="{0D82EE4F-C7E1-4233-8236-7FA48F43BAFF}">
      <dgm:prSet/>
      <dgm:spPr/>
      <dgm:t>
        <a:bodyPr/>
        <a:lstStyle/>
        <a:p>
          <a:endParaRPr lang="en-PK" sz="2000">
            <a:latin typeface="Arial" panose="020B0604020202020204" pitchFamily="34" charset="0"/>
            <a:cs typeface="Arial" panose="020B0604020202020204" pitchFamily="34" charset="0"/>
          </a:endParaRPr>
        </a:p>
      </dgm:t>
    </dgm:pt>
    <dgm:pt modelId="{F6B83702-F82B-46D6-99B9-46341F7E0BC8}" type="sibTrans" cxnId="{0D82EE4F-C7E1-4233-8236-7FA48F43BAFF}">
      <dgm:prSet/>
      <dgm:spPr/>
      <dgm:t>
        <a:bodyPr/>
        <a:lstStyle/>
        <a:p>
          <a:endParaRPr lang="en-PK" sz="2000">
            <a:latin typeface="Arial" panose="020B0604020202020204" pitchFamily="34" charset="0"/>
            <a:cs typeface="Arial" panose="020B0604020202020204" pitchFamily="34" charset="0"/>
          </a:endParaRPr>
        </a:p>
      </dgm:t>
    </dgm:pt>
    <dgm:pt modelId="{B705D6B5-0D06-4445-A62E-24F6A3203879}">
      <dgm:prSet custT="1"/>
      <dgm:spPr/>
      <dgm:t>
        <a:bodyPr/>
        <a:lstStyle/>
        <a:p>
          <a:r>
            <a:rPr lang="en-US" sz="1800" b="1" u="sng" dirty="0">
              <a:latin typeface="Arial" panose="020B0604020202020204" pitchFamily="34" charset="0"/>
              <a:cs typeface="Arial" panose="020B0604020202020204" pitchFamily="34" charset="0"/>
            </a:rPr>
            <a:t>ENDPOINT SECURITY:</a:t>
          </a:r>
          <a:endParaRPr lang="en-PK" sz="1800" dirty="0">
            <a:latin typeface="Arial" panose="020B0604020202020204" pitchFamily="34" charset="0"/>
            <a:cs typeface="Arial" panose="020B0604020202020204" pitchFamily="34" charset="0"/>
          </a:endParaRPr>
        </a:p>
      </dgm:t>
    </dgm:pt>
    <dgm:pt modelId="{79403B7D-712F-4F30-819C-FB7AF3583C34}" type="parTrans" cxnId="{1DE4E460-82E6-493A-B4A1-8F9A2FEDD0EE}">
      <dgm:prSet/>
      <dgm:spPr/>
      <dgm:t>
        <a:bodyPr/>
        <a:lstStyle/>
        <a:p>
          <a:endParaRPr lang="en-PK" sz="2000">
            <a:latin typeface="Arial" panose="020B0604020202020204" pitchFamily="34" charset="0"/>
            <a:cs typeface="Arial" panose="020B0604020202020204" pitchFamily="34" charset="0"/>
          </a:endParaRPr>
        </a:p>
      </dgm:t>
    </dgm:pt>
    <dgm:pt modelId="{04ABF771-048C-48D1-8356-6C7E6330FEF1}" type="sibTrans" cxnId="{1DE4E460-82E6-493A-B4A1-8F9A2FEDD0EE}">
      <dgm:prSet/>
      <dgm:spPr/>
      <dgm:t>
        <a:bodyPr/>
        <a:lstStyle/>
        <a:p>
          <a:endParaRPr lang="en-PK" sz="2000">
            <a:latin typeface="Arial" panose="020B0604020202020204" pitchFamily="34" charset="0"/>
            <a:cs typeface="Arial" panose="020B0604020202020204" pitchFamily="34" charset="0"/>
          </a:endParaRPr>
        </a:p>
      </dgm:t>
    </dgm:pt>
    <dgm:pt modelId="{DF45C027-AF8C-4639-9931-97F66F0A1EEE}">
      <dgm:prSet custT="1"/>
      <dgm:spPr/>
      <dgm:t>
        <a:bodyPr anchor="ctr"/>
        <a:lstStyle/>
        <a:p>
          <a:pPr>
            <a:lnSpc>
              <a:spcPct val="150000"/>
            </a:lnSpc>
          </a:pPr>
          <a:r>
            <a:rPr lang="en-US" sz="1800" dirty="0">
              <a:latin typeface="Arial" panose="020B0604020202020204" pitchFamily="34" charset="0"/>
              <a:cs typeface="Arial" panose="020B0604020202020204" pitchFamily="34" charset="0"/>
            </a:rPr>
            <a:t>Endpoint security is the practice of securing endpoints or entry points of end-user devices such as desktops, laptops, and mobile devices from being exploited by malicious actors and campaigns. Endpoint security systems protect these endpoints on a network or in the cloud from cybersecurity threats.</a:t>
          </a:r>
          <a:endParaRPr lang="en-PK" sz="1800" dirty="0">
            <a:latin typeface="Arial" panose="020B0604020202020204" pitchFamily="34" charset="0"/>
            <a:cs typeface="Arial" panose="020B0604020202020204" pitchFamily="34" charset="0"/>
          </a:endParaRPr>
        </a:p>
      </dgm:t>
    </dgm:pt>
    <dgm:pt modelId="{0ADAA55A-5099-48F7-9505-D34041B6A5D6}" type="parTrans" cxnId="{7AEEB7B5-1A50-4FF4-A17D-B6D439230A3C}">
      <dgm:prSet/>
      <dgm:spPr/>
      <dgm:t>
        <a:bodyPr/>
        <a:lstStyle/>
        <a:p>
          <a:endParaRPr lang="en-PK" sz="2000">
            <a:latin typeface="Arial" panose="020B0604020202020204" pitchFamily="34" charset="0"/>
            <a:cs typeface="Arial" panose="020B0604020202020204" pitchFamily="34" charset="0"/>
          </a:endParaRPr>
        </a:p>
      </dgm:t>
    </dgm:pt>
    <dgm:pt modelId="{CB376E1D-5889-4225-8D56-77C8B4C3B85A}" type="sibTrans" cxnId="{7AEEB7B5-1A50-4FF4-A17D-B6D439230A3C}">
      <dgm:prSet/>
      <dgm:spPr/>
      <dgm:t>
        <a:bodyPr/>
        <a:lstStyle/>
        <a:p>
          <a:endParaRPr lang="en-PK" sz="2000">
            <a:latin typeface="Arial" panose="020B0604020202020204" pitchFamily="34" charset="0"/>
            <a:cs typeface="Arial" panose="020B0604020202020204" pitchFamily="34" charset="0"/>
          </a:endParaRPr>
        </a:p>
      </dgm:t>
    </dgm:pt>
    <dgm:pt modelId="{470F62FF-D56E-40EE-BFF0-48084A5D243D}">
      <dgm:prSet custT="1"/>
      <dgm:spPr/>
      <dgm:t>
        <a:bodyPr/>
        <a:lstStyle/>
        <a:p>
          <a:r>
            <a:rPr lang="en-US" sz="1800" b="1" u="sng" dirty="0">
              <a:latin typeface="Arial" panose="020B0604020202020204" pitchFamily="34" charset="0"/>
              <a:cs typeface="Arial" panose="020B0604020202020204" pitchFamily="34" charset="0"/>
            </a:rPr>
            <a:t>APPLICATION SECURITY:</a:t>
          </a:r>
          <a:endParaRPr lang="en-PK" sz="1800" dirty="0">
            <a:latin typeface="Arial" panose="020B0604020202020204" pitchFamily="34" charset="0"/>
            <a:cs typeface="Arial" panose="020B0604020202020204" pitchFamily="34" charset="0"/>
          </a:endParaRPr>
        </a:p>
      </dgm:t>
    </dgm:pt>
    <dgm:pt modelId="{E964CF31-5F9B-46E5-8E81-0DE667C6B583}" type="parTrans" cxnId="{590DB54B-C33B-4A2F-B0E7-A627EBC6265D}">
      <dgm:prSet/>
      <dgm:spPr/>
      <dgm:t>
        <a:bodyPr/>
        <a:lstStyle/>
        <a:p>
          <a:endParaRPr lang="en-PK" sz="2000">
            <a:latin typeface="Arial" panose="020B0604020202020204" pitchFamily="34" charset="0"/>
            <a:cs typeface="Arial" panose="020B0604020202020204" pitchFamily="34" charset="0"/>
          </a:endParaRPr>
        </a:p>
      </dgm:t>
    </dgm:pt>
    <dgm:pt modelId="{46B421BD-5E04-4F0F-8D28-3C81EC495144}" type="sibTrans" cxnId="{590DB54B-C33B-4A2F-B0E7-A627EBC6265D}">
      <dgm:prSet/>
      <dgm:spPr/>
      <dgm:t>
        <a:bodyPr/>
        <a:lstStyle/>
        <a:p>
          <a:endParaRPr lang="en-PK" sz="2000">
            <a:latin typeface="Arial" panose="020B0604020202020204" pitchFamily="34" charset="0"/>
            <a:cs typeface="Arial" panose="020B0604020202020204" pitchFamily="34" charset="0"/>
          </a:endParaRPr>
        </a:p>
      </dgm:t>
    </dgm:pt>
    <dgm:pt modelId="{5F4118E3-6719-4520-AA24-C8EA1309CE80}">
      <dgm:prSet custT="1"/>
      <dgm:spPr/>
      <dgm:t>
        <a:bodyPr anchor="ctr"/>
        <a:lstStyle/>
        <a:p>
          <a:pPr>
            <a:lnSpc>
              <a:spcPct val="150000"/>
            </a:lnSpc>
          </a:pPr>
          <a:r>
            <a:rPr lang="en-US" sz="1800" dirty="0">
              <a:latin typeface="Arial" panose="020B0604020202020204" pitchFamily="34" charset="0"/>
              <a:cs typeface="Arial" panose="020B0604020202020204" pitchFamily="34" charset="0"/>
            </a:rPr>
            <a:t>Application security is the process of developing, adding, and testing security features within applications to prevent security vulnerabilities against threats such as unauthorized access and modification.</a:t>
          </a:r>
          <a:endParaRPr lang="en-PK" sz="1800" dirty="0">
            <a:latin typeface="Arial" panose="020B0604020202020204" pitchFamily="34" charset="0"/>
            <a:cs typeface="Arial" panose="020B0604020202020204" pitchFamily="34" charset="0"/>
          </a:endParaRPr>
        </a:p>
      </dgm:t>
    </dgm:pt>
    <dgm:pt modelId="{3944D579-FBFB-4379-BF19-62107E09A199}" type="parTrans" cxnId="{F67DFE85-835D-42EF-A803-ACC383A206A8}">
      <dgm:prSet/>
      <dgm:spPr/>
      <dgm:t>
        <a:bodyPr/>
        <a:lstStyle/>
        <a:p>
          <a:endParaRPr lang="en-PK" sz="2000">
            <a:latin typeface="Arial" panose="020B0604020202020204" pitchFamily="34" charset="0"/>
            <a:cs typeface="Arial" panose="020B0604020202020204" pitchFamily="34" charset="0"/>
          </a:endParaRPr>
        </a:p>
      </dgm:t>
    </dgm:pt>
    <dgm:pt modelId="{2B79B98C-B732-4D96-86A3-D85FF18C8A1B}" type="sibTrans" cxnId="{F67DFE85-835D-42EF-A803-ACC383A206A8}">
      <dgm:prSet/>
      <dgm:spPr/>
      <dgm:t>
        <a:bodyPr/>
        <a:lstStyle/>
        <a:p>
          <a:endParaRPr lang="en-PK" sz="2000">
            <a:latin typeface="Arial" panose="020B0604020202020204" pitchFamily="34" charset="0"/>
            <a:cs typeface="Arial" panose="020B0604020202020204" pitchFamily="34" charset="0"/>
          </a:endParaRPr>
        </a:p>
      </dgm:t>
    </dgm:pt>
    <dgm:pt modelId="{8B7F435B-1D58-4067-8D8A-D7047C4B6A3C}">
      <dgm:prSet custT="1"/>
      <dgm:spPr/>
      <dgm:t>
        <a:bodyPr/>
        <a:lstStyle/>
        <a:p>
          <a:r>
            <a:rPr lang="en-US" sz="1800" b="1" u="sng" dirty="0">
              <a:latin typeface="Arial" panose="020B0604020202020204" pitchFamily="34" charset="0"/>
              <a:cs typeface="Arial" panose="020B0604020202020204" pitchFamily="34" charset="0"/>
            </a:rPr>
            <a:t>DATA SECURITY:</a:t>
          </a:r>
          <a:endParaRPr lang="en-PK" sz="1800" dirty="0">
            <a:latin typeface="Arial" panose="020B0604020202020204" pitchFamily="34" charset="0"/>
            <a:cs typeface="Arial" panose="020B0604020202020204" pitchFamily="34" charset="0"/>
          </a:endParaRPr>
        </a:p>
      </dgm:t>
    </dgm:pt>
    <dgm:pt modelId="{6D19D9E2-7D71-4F46-9ABD-5A759C197750}" type="parTrans" cxnId="{5E38965C-C97B-4B08-902D-41013BD59F66}">
      <dgm:prSet/>
      <dgm:spPr/>
      <dgm:t>
        <a:bodyPr/>
        <a:lstStyle/>
        <a:p>
          <a:endParaRPr lang="en-PK" sz="2000">
            <a:latin typeface="Arial" panose="020B0604020202020204" pitchFamily="34" charset="0"/>
            <a:cs typeface="Arial" panose="020B0604020202020204" pitchFamily="34" charset="0"/>
          </a:endParaRPr>
        </a:p>
      </dgm:t>
    </dgm:pt>
    <dgm:pt modelId="{18C67D92-82EB-4F82-80E8-5A53E1D6711D}" type="sibTrans" cxnId="{5E38965C-C97B-4B08-902D-41013BD59F66}">
      <dgm:prSet/>
      <dgm:spPr/>
      <dgm:t>
        <a:bodyPr/>
        <a:lstStyle/>
        <a:p>
          <a:endParaRPr lang="en-PK" sz="2000">
            <a:latin typeface="Arial" panose="020B0604020202020204" pitchFamily="34" charset="0"/>
            <a:cs typeface="Arial" panose="020B0604020202020204" pitchFamily="34" charset="0"/>
          </a:endParaRPr>
        </a:p>
      </dgm:t>
    </dgm:pt>
    <dgm:pt modelId="{8B3095F5-83F9-40B1-B2DF-B65598C7F821}">
      <dgm:prSet custT="1"/>
      <dgm:spPr/>
      <dgm:t>
        <a:bodyPr anchor="ctr"/>
        <a:lstStyle/>
        <a:p>
          <a:pPr>
            <a:lnSpc>
              <a:spcPct val="150000"/>
            </a:lnSpc>
          </a:pPr>
          <a:r>
            <a:rPr lang="en-US" sz="1800" dirty="0">
              <a:latin typeface="Arial" panose="020B0604020202020204" pitchFamily="34" charset="0"/>
              <a:cs typeface="Arial" panose="020B0604020202020204" pitchFamily="34" charset="0"/>
            </a:rPr>
            <a:t>Data security refers to the process of protecting data from unauthorized access and data integrity throughout its lifecycle. Data security includes data encryption, hashing, tokenization, and key management practices that protect data across all applications and platforms.</a:t>
          </a:r>
          <a:endParaRPr lang="en-PK" sz="1800" dirty="0">
            <a:latin typeface="Arial" panose="020B0604020202020204" pitchFamily="34" charset="0"/>
            <a:cs typeface="Arial" panose="020B0604020202020204" pitchFamily="34" charset="0"/>
          </a:endParaRPr>
        </a:p>
      </dgm:t>
    </dgm:pt>
    <dgm:pt modelId="{E0BE7CE8-8DDE-49B9-89FC-C354905755D9}" type="parTrans" cxnId="{30CB8616-1A9C-4D26-B50A-DD96DDD6359E}">
      <dgm:prSet/>
      <dgm:spPr/>
      <dgm:t>
        <a:bodyPr/>
        <a:lstStyle/>
        <a:p>
          <a:endParaRPr lang="en-PK" sz="2000">
            <a:latin typeface="Arial" panose="020B0604020202020204" pitchFamily="34" charset="0"/>
            <a:cs typeface="Arial" panose="020B0604020202020204" pitchFamily="34" charset="0"/>
          </a:endParaRPr>
        </a:p>
      </dgm:t>
    </dgm:pt>
    <dgm:pt modelId="{0857B59C-BEF7-4745-85E9-416CEFBF86EC}" type="sibTrans" cxnId="{30CB8616-1A9C-4D26-B50A-DD96DDD6359E}">
      <dgm:prSet/>
      <dgm:spPr/>
      <dgm:t>
        <a:bodyPr/>
        <a:lstStyle/>
        <a:p>
          <a:endParaRPr lang="en-PK" sz="2000">
            <a:latin typeface="Arial" panose="020B0604020202020204" pitchFamily="34" charset="0"/>
            <a:cs typeface="Arial" panose="020B0604020202020204" pitchFamily="34" charset="0"/>
          </a:endParaRPr>
        </a:p>
      </dgm:t>
    </dgm:pt>
    <dgm:pt modelId="{9FC252EC-D1E7-46A2-8972-5154D7C46E78}">
      <dgm:prSet custT="1"/>
      <dgm:spPr/>
      <dgm:t>
        <a:bodyPr/>
        <a:lstStyle/>
        <a:p>
          <a:r>
            <a:rPr lang="en-US" sz="1800" b="1" u="sng" dirty="0">
              <a:latin typeface="Arial" panose="020B0604020202020204" pitchFamily="34" charset="0"/>
              <a:cs typeface="Arial" panose="020B0604020202020204" pitchFamily="34" charset="0"/>
            </a:rPr>
            <a:t>STANDARD’S COMPLIANCE:</a:t>
          </a:r>
          <a:endParaRPr lang="en-PK" sz="1800" dirty="0">
            <a:latin typeface="Arial" panose="020B0604020202020204" pitchFamily="34" charset="0"/>
            <a:cs typeface="Arial" panose="020B0604020202020204" pitchFamily="34" charset="0"/>
          </a:endParaRPr>
        </a:p>
      </dgm:t>
    </dgm:pt>
    <dgm:pt modelId="{7BF4576E-DFDF-44E4-8F2C-95365169823B}" type="parTrans" cxnId="{C4F28CB6-F09E-44A2-A980-8FD2EF7F435B}">
      <dgm:prSet/>
      <dgm:spPr/>
      <dgm:t>
        <a:bodyPr/>
        <a:lstStyle/>
        <a:p>
          <a:endParaRPr lang="en-PK" sz="2000">
            <a:latin typeface="Arial" panose="020B0604020202020204" pitchFamily="34" charset="0"/>
            <a:cs typeface="Arial" panose="020B0604020202020204" pitchFamily="34" charset="0"/>
          </a:endParaRPr>
        </a:p>
      </dgm:t>
    </dgm:pt>
    <dgm:pt modelId="{3C33E8CE-E3CF-4C78-963F-56F2181404A4}" type="sibTrans" cxnId="{C4F28CB6-F09E-44A2-A980-8FD2EF7F435B}">
      <dgm:prSet/>
      <dgm:spPr/>
      <dgm:t>
        <a:bodyPr/>
        <a:lstStyle/>
        <a:p>
          <a:endParaRPr lang="en-PK" sz="2000">
            <a:latin typeface="Arial" panose="020B0604020202020204" pitchFamily="34" charset="0"/>
            <a:cs typeface="Arial" panose="020B0604020202020204" pitchFamily="34" charset="0"/>
          </a:endParaRPr>
        </a:p>
      </dgm:t>
    </dgm:pt>
    <dgm:pt modelId="{E52EA4FC-FDB8-4638-8689-DEE5EECE3FBD}">
      <dgm:prSet custT="1"/>
      <dgm:spPr/>
      <dgm:t>
        <a:bodyPr anchor="ctr"/>
        <a:lstStyle/>
        <a:p>
          <a:pPr>
            <a:lnSpc>
              <a:spcPct val="150000"/>
            </a:lnSpc>
          </a:pPr>
          <a:r>
            <a:rPr lang="en-US" sz="1800" b="1" dirty="0">
              <a:latin typeface="Arial" panose="020B0604020202020204" pitchFamily="34" charset="0"/>
              <a:cs typeface="Arial" panose="020B0604020202020204" pitchFamily="34" charset="0"/>
            </a:rPr>
            <a:t>The bank is PCI-DSS compliant for the last 3 years and annually comply to the SWIFT Customer Security Framework. </a:t>
          </a:r>
          <a:r>
            <a:rPr lang="en-US" sz="1800" dirty="0">
              <a:latin typeface="Arial" panose="020B0604020202020204" pitchFamily="34" charset="0"/>
              <a:cs typeface="Arial" panose="020B0604020202020204" pitchFamily="34" charset="0"/>
            </a:rPr>
            <a:t> </a:t>
          </a:r>
          <a:endParaRPr lang="en-PK" sz="1800" dirty="0">
            <a:latin typeface="Arial" panose="020B0604020202020204" pitchFamily="34" charset="0"/>
            <a:cs typeface="Arial" panose="020B0604020202020204" pitchFamily="34" charset="0"/>
          </a:endParaRPr>
        </a:p>
      </dgm:t>
    </dgm:pt>
    <dgm:pt modelId="{65A8854E-EF43-4FA0-AAB7-867DC1EEFE87}" type="parTrans" cxnId="{3A5144A7-A8F5-42A8-B152-221776C14D5C}">
      <dgm:prSet/>
      <dgm:spPr/>
      <dgm:t>
        <a:bodyPr/>
        <a:lstStyle/>
        <a:p>
          <a:endParaRPr lang="en-PK" sz="2000">
            <a:latin typeface="Arial" panose="020B0604020202020204" pitchFamily="34" charset="0"/>
            <a:cs typeface="Arial" panose="020B0604020202020204" pitchFamily="34" charset="0"/>
          </a:endParaRPr>
        </a:p>
      </dgm:t>
    </dgm:pt>
    <dgm:pt modelId="{01237CC9-9985-4EAD-A459-151C7D8977BF}" type="sibTrans" cxnId="{3A5144A7-A8F5-42A8-B152-221776C14D5C}">
      <dgm:prSet/>
      <dgm:spPr/>
      <dgm:t>
        <a:bodyPr/>
        <a:lstStyle/>
        <a:p>
          <a:endParaRPr lang="en-PK" sz="2000">
            <a:latin typeface="Arial" panose="020B0604020202020204" pitchFamily="34" charset="0"/>
            <a:cs typeface="Arial" panose="020B0604020202020204" pitchFamily="34" charset="0"/>
          </a:endParaRPr>
        </a:p>
      </dgm:t>
    </dgm:pt>
    <dgm:pt modelId="{DDBE6D43-A66D-4E2A-9D27-0A077B3933BF}" type="pres">
      <dgm:prSet presAssocID="{94819885-77E1-4C7C-A3EF-DF12EE57EE4C}" presName="Name0" presStyleCnt="0">
        <dgm:presLayoutVars>
          <dgm:chMax/>
          <dgm:chPref val="3"/>
          <dgm:dir/>
          <dgm:animOne val="branch"/>
          <dgm:animLvl val="lvl"/>
        </dgm:presLayoutVars>
      </dgm:prSet>
      <dgm:spPr/>
    </dgm:pt>
    <dgm:pt modelId="{F69E9929-450B-4BA3-ADD2-F099BF92B873}" type="pres">
      <dgm:prSet presAssocID="{9FD40911-1D5F-473A-9724-09535AE8B84C}" presName="composite" presStyleCnt="0"/>
      <dgm:spPr/>
    </dgm:pt>
    <dgm:pt modelId="{72E176AB-6885-468D-928B-9886FFFB8A8A}" type="pres">
      <dgm:prSet presAssocID="{9FD40911-1D5F-473A-9724-09535AE8B84C}" presName="FirstChild" presStyleLbl="revTx" presStyleIdx="0" presStyleCnt="6">
        <dgm:presLayoutVars>
          <dgm:chMax val="0"/>
          <dgm:chPref val="0"/>
          <dgm:bulletEnabled val="1"/>
        </dgm:presLayoutVars>
      </dgm:prSet>
      <dgm:spPr/>
    </dgm:pt>
    <dgm:pt modelId="{BC6E2716-5A80-47E8-BFAA-A50A556C8CB8}" type="pres">
      <dgm:prSet presAssocID="{9FD40911-1D5F-473A-9724-09535AE8B84C}" presName="Parent" presStyleLbl="alignNode1" presStyleIdx="0" presStyleCnt="6">
        <dgm:presLayoutVars>
          <dgm:chMax val="3"/>
          <dgm:chPref val="3"/>
          <dgm:bulletEnabled val="1"/>
        </dgm:presLayoutVars>
      </dgm:prSet>
      <dgm:spPr/>
    </dgm:pt>
    <dgm:pt modelId="{C1B78ACF-E4ED-42E4-BC22-C401F2410D40}" type="pres">
      <dgm:prSet presAssocID="{9FD40911-1D5F-473A-9724-09535AE8B84C}" presName="Accent" presStyleLbl="parChTrans1D1" presStyleIdx="0" presStyleCnt="6"/>
      <dgm:spPr/>
    </dgm:pt>
    <dgm:pt modelId="{FA8BAFF0-B336-4D07-B8DC-D60EFCF3C4C9}" type="pres">
      <dgm:prSet presAssocID="{62018F95-BDE9-46E0-BABE-B7061040A2C9}" presName="sibTrans" presStyleCnt="0"/>
      <dgm:spPr/>
    </dgm:pt>
    <dgm:pt modelId="{15E6C525-72CF-4F00-93B4-3A753C797D7D}" type="pres">
      <dgm:prSet presAssocID="{94097C02-04BE-4604-964C-D2A99ABDE923}" presName="composite" presStyleCnt="0"/>
      <dgm:spPr/>
    </dgm:pt>
    <dgm:pt modelId="{CB68C330-D800-41DF-8C58-FBFAED6B2050}" type="pres">
      <dgm:prSet presAssocID="{94097C02-04BE-4604-964C-D2A99ABDE923}" presName="FirstChild" presStyleLbl="revTx" presStyleIdx="1" presStyleCnt="6">
        <dgm:presLayoutVars>
          <dgm:chMax val="0"/>
          <dgm:chPref val="0"/>
          <dgm:bulletEnabled val="1"/>
        </dgm:presLayoutVars>
      </dgm:prSet>
      <dgm:spPr/>
    </dgm:pt>
    <dgm:pt modelId="{BDAFFD81-A0B4-498C-A887-40DC0A2DD925}" type="pres">
      <dgm:prSet presAssocID="{94097C02-04BE-4604-964C-D2A99ABDE923}" presName="Parent" presStyleLbl="alignNode1" presStyleIdx="1" presStyleCnt="6">
        <dgm:presLayoutVars>
          <dgm:chMax val="3"/>
          <dgm:chPref val="3"/>
          <dgm:bulletEnabled val="1"/>
        </dgm:presLayoutVars>
      </dgm:prSet>
      <dgm:spPr/>
    </dgm:pt>
    <dgm:pt modelId="{1C0DA860-8B6F-48ED-AD00-FFCA7D170DC5}" type="pres">
      <dgm:prSet presAssocID="{94097C02-04BE-4604-964C-D2A99ABDE923}" presName="Accent" presStyleLbl="parChTrans1D1" presStyleIdx="1" presStyleCnt="6"/>
      <dgm:spPr/>
    </dgm:pt>
    <dgm:pt modelId="{2F42858B-D7ED-4474-BB9F-AB03F2637985}" type="pres">
      <dgm:prSet presAssocID="{7DB354A7-3EC1-4389-B079-56353A62BDFB}" presName="sibTrans" presStyleCnt="0"/>
      <dgm:spPr/>
    </dgm:pt>
    <dgm:pt modelId="{FF6B7253-1FF8-4D04-BE00-9659295106D1}" type="pres">
      <dgm:prSet presAssocID="{B705D6B5-0D06-4445-A62E-24F6A3203879}" presName="composite" presStyleCnt="0"/>
      <dgm:spPr/>
    </dgm:pt>
    <dgm:pt modelId="{76BC7C3A-0E83-41FC-8BC7-BBD349E239EE}" type="pres">
      <dgm:prSet presAssocID="{B705D6B5-0D06-4445-A62E-24F6A3203879}" presName="FirstChild" presStyleLbl="revTx" presStyleIdx="2" presStyleCnt="6">
        <dgm:presLayoutVars>
          <dgm:chMax val="0"/>
          <dgm:chPref val="0"/>
          <dgm:bulletEnabled val="1"/>
        </dgm:presLayoutVars>
      </dgm:prSet>
      <dgm:spPr/>
    </dgm:pt>
    <dgm:pt modelId="{E3F5FA7B-057F-4E41-AA80-7D235523E8E2}" type="pres">
      <dgm:prSet presAssocID="{B705D6B5-0D06-4445-A62E-24F6A3203879}" presName="Parent" presStyleLbl="alignNode1" presStyleIdx="2" presStyleCnt="6">
        <dgm:presLayoutVars>
          <dgm:chMax val="3"/>
          <dgm:chPref val="3"/>
          <dgm:bulletEnabled val="1"/>
        </dgm:presLayoutVars>
      </dgm:prSet>
      <dgm:spPr/>
    </dgm:pt>
    <dgm:pt modelId="{91A7143F-1826-46C9-BBAB-C385150ED717}" type="pres">
      <dgm:prSet presAssocID="{B705D6B5-0D06-4445-A62E-24F6A3203879}" presName="Accent" presStyleLbl="parChTrans1D1" presStyleIdx="2" presStyleCnt="6"/>
      <dgm:spPr/>
    </dgm:pt>
    <dgm:pt modelId="{B02588C9-C2BE-41E3-B602-743CF9497B4F}" type="pres">
      <dgm:prSet presAssocID="{04ABF771-048C-48D1-8356-6C7E6330FEF1}" presName="sibTrans" presStyleCnt="0"/>
      <dgm:spPr/>
    </dgm:pt>
    <dgm:pt modelId="{AB4CACFF-5F8A-4F1C-BA3D-02A8269A5F28}" type="pres">
      <dgm:prSet presAssocID="{470F62FF-D56E-40EE-BFF0-48084A5D243D}" presName="composite" presStyleCnt="0"/>
      <dgm:spPr/>
    </dgm:pt>
    <dgm:pt modelId="{29328655-4D95-4E0C-A80C-A4AF16A1A8A7}" type="pres">
      <dgm:prSet presAssocID="{470F62FF-D56E-40EE-BFF0-48084A5D243D}" presName="FirstChild" presStyleLbl="revTx" presStyleIdx="3" presStyleCnt="6">
        <dgm:presLayoutVars>
          <dgm:chMax val="0"/>
          <dgm:chPref val="0"/>
          <dgm:bulletEnabled val="1"/>
        </dgm:presLayoutVars>
      </dgm:prSet>
      <dgm:spPr/>
    </dgm:pt>
    <dgm:pt modelId="{58D94336-B06D-464B-9E24-89F1F971E5F2}" type="pres">
      <dgm:prSet presAssocID="{470F62FF-D56E-40EE-BFF0-48084A5D243D}" presName="Parent" presStyleLbl="alignNode1" presStyleIdx="3" presStyleCnt="6">
        <dgm:presLayoutVars>
          <dgm:chMax val="3"/>
          <dgm:chPref val="3"/>
          <dgm:bulletEnabled val="1"/>
        </dgm:presLayoutVars>
      </dgm:prSet>
      <dgm:spPr/>
    </dgm:pt>
    <dgm:pt modelId="{D3719AB9-8191-46A1-AB03-8CAB17E8E3DB}" type="pres">
      <dgm:prSet presAssocID="{470F62FF-D56E-40EE-BFF0-48084A5D243D}" presName="Accent" presStyleLbl="parChTrans1D1" presStyleIdx="3" presStyleCnt="6"/>
      <dgm:spPr/>
    </dgm:pt>
    <dgm:pt modelId="{9B5633BF-022B-41B4-A820-FF67861C5978}" type="pres">
      <dgm:prSet presAssocID="{46B421BD-5E04-4F0F-8D28-3C81EC495144}" presName="sibTrans" presStyleCnt="0"/>
      <dgm:spPr/>
    </dgm:pt>
    <dgm:pt modelId="{EC2CF32F-8B5F-496B-89AB-3681C2E6D920}" type="pres">
      <dgm:prSet presAssocID="{8B7F435B-1D58-4067-8D8A-D7047C4B6A3C}" presName="composite" presStyleCnt="0"/>
      <dgm:spPr/>
    </dgm:pt>
    <dgm:pt modelId="{FF57DDE3-4FDE-4B30-AC91-C4C9F0303267}" type="pres">
      <dgm:prSet presAssocID="{8B7F435B-1D58-4067-8D8A-D7047C4B6A3C}" presName="FirstChild" presStyleLbl="revTx" presStyleIdx="4" presStyleCnt="6">
        <dgm:presLayoutVars>
          <dgm:chMax val="0"/>
          <dgm:chPref val="0"/>
          <dgm:bulletEnabled val="1"/>
        </dgm:presLayoutVars>
      </dgm:prSet>
      <dgm:spPr/>
    </dgm:pt>
    <dgm:pt modelId="{D7402963-BD5C-43E6-90E8-C197A8D6874F}" type="pres">
      <dgm:prSet presAssocID="{8B7F435B-1D58-4067-8D8A-D7047C4B6A3C}" presName="Parent" presStyleLbl="alignNode1" presStyleIdx="4" presStyleCnt="6">
        <dgm:presLayoutVars>
          <dgm:chMax val="3"/>
          <dgm:chPref val="3"/>
          <dgm:bulletEnabled val="1"/>
        </dgm:presLayoutVars>
      </dgm:prSet>
      <dgm:spPr/>
    </dgm:pt>
    <dgm:pt modelId="{9A366C8B-2619-489A-906E-477A8057FA5B}" type="pres">
      <dgm:prSet presAssocID="{8B7F435B-1D58-4067-8D8A-D7047C4B6A3C}" presName="Accent" presStyleLbl="parChTrans1D1" presStyleIdx="4" presStyleCnt="6"/>
      <dgm:spPr/>
    </dgm:pt>
    <dgm:pt modelId="{16FE1894-BCE9-48C8-8AEF-B17F21AD2B0C}" type="pres">
      <dgm:prSet presAssocID="{18C67D92-82EB-4F82-80E8-5A53E1D6711D}" presName="sibTrans" presStyleCnt="0"/>
      <dgm:spPr/>
    </dgm:pt>
    <dgm:pt modelId="{805613FB-6BFE-4B42-8A32-338BA6FB47D7}" type="pres">
      <dgm:prSet presAssocID="{9FC252EC-D1E7-46A2-8972-5154D7C46E78}" presName="composite" presStyleCnt="0"/>
      <dgm:spPr/>
    </dgm:pt>
    <dgm:pt modelId="{1A70536F-7DE3-4F77-B9DC-8817466905FF}" type="pres">
      <dgm:prSet presAssocID="{9FC252EC-D1E7-46A2-8972-5154D7C46E78}" presName="FirstChild" presStyleLbl="revTx" presStyleIdx="5" presStyleCnt="6">
        <dgm:presLayoutVars>
          <dgm:chMax val="0"/>
          <dgm:chPref val="0"/>
          <dgm:bulletEnabled val="1"/>
        </dgm:presLayoutVars>
      </dgm:prSet>
      <dgm:spPr/>
    </dgm:pt>
    <dgm:pt modelId="{E8F7FA96-098B-40CC-A0B1-CCAA6332059F}" type="pres">
      <dgm:prSet presAssocID="{9FC252EC-D1E7-46A2-8972-5154D7C46E78}" presName="Parent" presStyleLbl="alignNode1" presStyleIdx="5" presStyleCnt="6">
        <dgm:presLayoutVars>
          <dgm:chMax val="3"/>
          <dgm:chPref val="3"/>
          <dgm:bulletEnabled val="1"/>
        </dgm:presLayoutVars>
      </dgm:prSet>
      <dgm:spPr/>
    </dgm:pt>
    <dgm:pt modelId="{0E0D74A5-F514-4103-AF3F-C85B05D6CB43}" type="pres">
      <dgm:prSet presAssocID="{9FC252EC-D1E7-46A2-8972-5154D7C46E78}" presName="Accent" presStyleLbl="parChTrans1D1" presStyleIdx="5" presStyleCnt="6"/>
      <dgm:spPr/>
    </dgm:pt>
  </dgm:ptLst>
  <dgm:cxnLst>
    <dgm:cxn modelId="{3790E404-1FD0-4D8B-9B52-8DB36DB59FF9}" type="presOf" srcId="{DD006172-A16F-4E76-830F-F1B5CE7E8BFF}" destId="{72E176AB-6885-468D-928B-9886FFFB8A8A}" srcOrd="0" destOrd="0" presId="urn:microsoft.com/office/officeart/2011/layout/TabList"/>
    <dgm:cxn modelId="{30CB8616-1A9C-4D26-B50A-DD96DDD6359E}" srcId="{8B7F435B-1D58-4067-8D8A-D7047C4B6A3C}" destId="{8B3095F5-83F9-40B1-B2DF-B65598C7F821}" srcOrd="0" destOrd="0" parTransId="{E0BE7CE8-8DDE-49B9-89FC-C354905755D9}" sibTransId="{0857B59C-BEF7-4745-85E9-416CEFBF86EC}"/>
    <dgm:cxn modelId="{67458518-25C0-4CD3-AFC5-DB0973140F8B}" type="presOf" srcId="{E52EA4FC-FDB8-4638-8689-DEE5EECE3FBD}" destId="{1A70536F-7DE3-4F77-B9DC-8817466905FF}" srcOrd="0" destOrd="0" presId="urn:microsoft.com/office/officeart/2011/layout/TabList"/>
    <dgm:cxn modelId="{5CF70120-DD48-445B-995C-DD8F0FA7C0E8}" type="presOf" srcId="{94819885-77E1-4C7C-A3EF-DF12EE57EE4C}" destId="{DDBE6D43-A66D-4E2A-9D27-0A077B3933BF}" srcOrd="0" destOrd="0" presId="urn:microsoft.com/office/officeart/2011/layout/TabList"/>
    <dgm:cxn modelId="{22791623-8B10-4978-B11A-984B10757791}" type="presOf" srcId="{8B3095F5-83F9-40B1-B2DF-B65598C7F821}" destId="{FF57DDE3-4FDE-4B30-AC91-C4C9F0303267}" srcOrd="0" destOrd="0" presId="urn:microsoft.com/office/officeart/2011/layout/TabList"/>
    <dgm:cxn modelId="{8C9FB724-4A06-405D-AE3E-A55280D47FEB}" type="presOf" srcId="{B705D6B5-0D06-4445-A62E-24F6A3203879}" destId="{E3F5FA7B-057F-4E41-AA80-7D235523E8E2}" srcOrd="0" destOrd="0" presId="urn:microsoft.com/office/officeart/2011/layout/TabList"/>
    <dgm:cxn modelId="{49F1362E-5486-4AA3-A13E-8EC9F8B94F8A}" type="presOf" srcId="{39732EF6-41CE-48CB-8FAA-875CBF961E12}" destId="{CB68C330-D800-41DF-8C58-FBFAED6B2050}" srcOrd="0" destOrd="0" presId="urn:microsoft.com/office/officeart/2011/layout/TabList"/>
    <dgm:cxn modelId="{6F3C5439-C37B-4F8F-8D7B-9164DCADD09C}" srcId="{9FD40911-1D5F-473A-9724-09535AE8B84C}" destId="{DD006172-A16F-4E76-830F-F1B5CE7E8BFF}" srcOrd="0" destOrd="0" parTransId="{677182FD-7754-4159-A755-5E6007828B11}" sibTransId="{73DFAF8B-4A76-463A-932D-88C315417C68}"/>
    <dgm:cxn modelId="{5E38965C-C97B-4B08-902D-41013BD59F66}" srcId="{94819885-77E1-4C7C-A3EF-DF12EE57EE4C}" destId="{8B7F435B-1D58-4067-8D8A-D7047C4B6A3C}" srcOrd="4" destOrd="0" parTransId="{6D19D9E2-7D71-4F46-9ABD-5A759C197750}" sibTransId="{18C67D92-82EB-4F82-80E8-5A53E1D6711D}"/>
    <dgm:cxn modelId="{1DE4E460-82E6-493A-B4A1-8F9A2FEDD0EE}" srcId="{94819885-77E1-4C7C-A3EF-DF12EE57EE4C}" destId="{B705D6B5-0D06-4445-A62E-24F6A3203879}" srcOrd="2" destOrd="0" parTransId="{79403B7D-712F-4F30-819C-FB7AF3583C34}" sibTransId="{04ABF771-048C-48D1-8356-6C7E6330FEF1}"/>
    <dgm:cxn modelId="{590DB54B-C33B-4A2F-B0E7-A627EBC6265D}" srcId="{94819885-77E1-4C7C-A3EF-DF12EE57EE4C}" destId="{470F62FF-D56E-40EE-BFF0-48084A5D243D}" srcOrd="3" destOrd="0" parTransId="{E964CF31-5F9B-46E5-8E81-0DE667C6B583}" sibTransId="{46B421BD-5E04-4F0F-8D28-3C81EC495144}"/>
    <dgm:cxn modelId="{5205086F-35EF-40E6-AF91-F7D8BEA99232}" type="presOf" srcId="{5F4118E3-6719-4520-AA24-C8EA1309CE80}" destId="{29328655-4D95-4E0C-A80C-A4AF16A1A8A7}" srcOrd="0" destOrd="0" presId="urn:microsoft.com/office/officeart/2011/layout/TabList"/>
    <dgm:cxn modelId="{0D82EE4F-C7E1-4233-8236-7FA48F43BAFF}" srcId="{94097C02-04BE-4604-964C-D2A99ABDE923}" destId="{39732EF6-41CE-48CB-8FAA-875CBF961E12}" srcOrd="0" destOrd="0" parTransId="{BEA41400-EBE7-4C31-86D4-B3A79B4561F7}" sibTransId="{F6B83702-F82B-46D6-99B9-46341F7E0BC8}"/>
    <dgm:cxn modelId="{DC6A9956-CA0C-43A4-BB0D-8A6730E25AE5}" srcId="{94819885-77E1-4C7C-A3EF-DF12EE57EE4C}" destId="{9FD40911-1D5F-473A-9724-09535AE8B84C}" srcOrd="0" destOrd="0" parTransId="{91E3A890-4D05-4C60-804A-F5907A8646DB}" sibTransId="{62018F95-BDE9-46E0-BABE-B7061040A2C9}"/>
    <dgm:cxn modelId="{F67DFE85-835D-42EF-A803-ACC383A206A8}" srcId="{470F62FF-D56E-40EE-BFF0-48084A5D243D}" destId="{5F4118E3-6719-4520-AA24-C8EA1309CE80}" srcOrd="0" destOrd="0" parTransId="{3944D579-FBFB-4379-BF19-62107E09A199}" sibTransId="{2B79B98C-B732-4D96-86A3-D85FF18C8A1B}"/>
    <dgm:cxn modelId="{0E475086-07C3-4E1B-8D5C-F1CEA60BFAD6}" srcId="{94819885-77E1-4C7C-A3EF-DF12EE57EE4C}" destId="{94097C02-04BE-4604-964C-D2A99ABDE923}" srcOrd="1" destOrd="0" parTransId="{CCD8F79C-11C7-4CDF-9F88-71C69DD4B3F0}" sibTransId="{7DB354A7-3EC1-4389-B079-56353A62BDFB}"/>
    <dgm:cxn modelId="{40877287-B080-4871-982C-1CB8F98C9734}" type="presOf" srcId="{9FD40911-1D5F-473A-9724-09535AE8B84C}" destId="{BC6E2716-5A80-47E8-BFAA-A50A556C8CB8}" srcOrd="0" destOrd="0" presId="urn:microsoft.com/office/officeart/2011/layout/TabList"/>
    <dgm:cxn modelId="{2EE35288-8939-4CD4-81E6-5ED493D6B23B}" type="presOf" srcId="{94097C02-04BE-4604-964C-D2A99ABDE923}" destId="{BDAFFD81-A0B4-498C-A887-40DC0A2DD925}" srcOrd="0" destOrd="0" presId="urn:microsoft.com/office/officeart/2011/layout/TabList"/>
    <dgm:cxn modelId="{E51BDC8A-E724-4944-94B7-17F32306F48B}" type="presOf" srcId="{DF45C027-AF8C-4639-9931-97F66F0A1EEE}" destId="{76BC7C3A-0E83-41FC-8BC7-BBD349E239EE}" srcOrd="0" destOrd="0" presId="urn:microsoft.com/office/officeart/2011/layout/TabList"/>
    <dgm:cxn modelId="{66136290-2800-4102-9C48-E15660FFF057}" type="presOf" srcId="{9FC252EC-D1E7-46A2-8972-5154D7C46E78}" destId="{E8F7FA96-098B-40CC-A0B1-CCAA6332059F}" srcOrd="0" destOrd="0" presId="urn:microsoft.com/office/officeart/2011/layout/TabList"/>
    <dgm:cxn modelId="{3A5144A7-A8F5-42A8-B152-221776C14D5C}" srcId="{9FC252EC-D1E7-46A2-8972-5154D7C46E78}" destId="{E52EA4FC-FDB8-4638-8689-DEE5EECE3FBD}" srcOrd="0" destOrd="0" parTransId="{65A8854E-EF43-4FA0-AAB7-867DC1EEFE87}" sibTransId="{01237CC9-9985-4EAD-A459-151C7D8977BF}"/>
    <dgm:cxn modelId="{5D47F0AA-E700-4CCA-9E21-5AB7303B1734}" type="presOf" srcId="{8B7F435B-1D58-4067-8D8A-D7047C4B6A3C}" destId="{D7402963-BD5C-43E6-90E8-C197A8D6874F}" srcOrd="0" destOrd="0" presId="urn:microsoft.com/office/officeart/2011/layout/TabList"/>
    <dgm:cxn modelId="{7AEEB7B5-1A50-4FF4-A17D-B6D439230A3C}" srcId="{B705D6B5-0D06-4445-A62E-24F6A3203879}" destId="{DF45C027-AF8C-4639-9931-97F66F0A1EEE}" srcOrd="0" destOrd="0" parTransId="{0ADAA55A-5099-48F7-9505-D34041B6A5D6}" sibTransId="{CB376E1D-5889-4225-8D56-77C8B4C3B85A}"/>
    <dgm:cxn modelId="{C4F28CB6-F09E-44A2-A980-8FD2EF7F435B}" srcId="{94819885-77E1-4C7C-A3EF-DF12EE57EE4C}" destId="{9FC252EC-D1E7-46A2-8972-5154D7C46E78}" srcOrd="5" destOrd="0" parTransId="{7BF4576E-DFDF-44E4-8F2C-95365169823B}" sibTransId="{3C33E8CE-E3CF-4C78-963F-56F2181404A4}"/>
    <dgm:cxn modelId="{DCD3C9C8-F08B-49FD-BD69-ABFFB03A234A}" type="presOf" srcId="{470F62FF-D56E-40EE-BFF0-48084A5D243D}" destId="{58D94336-B06D-464B-9E24-89F1F971E5F2}" srcOrd="0" destOrd="0" presId="urn:microsoft.com/office/officeart/2011/layout/TabList"/>
    <dgm:cxn modelId="{2325020E-AC6E-49AF-B97B-C150AFA24B67}" type="presParOf" srcId="{DDBE6D43-A66D-4E2A-9D27-0A077B3933BF}" destId="{F69E9929-450B-4BA3-ADD2-F099BF92B873}" srcOrd="0" destOrd="0" presId="urn:microsoft.com/office/officeart/2011/layout/TabList"/>
    <dgm:cxn modelId="{E05110ED-DE1F-4261-AA84-CCE91996E103}" type="presParOf" srcId="{F69E9929-450B-4BA3-ADD2-F099BF92B873}" destId="{72E176AB-6885-468D-928B-9886FFFB8A8A}" srcOrd="0" destOrd="0" presId="urn:microsoft.com/office/officeart/2011/layout/TabList"/>
    <dgm:cxn modelId="{11D286E9-CD1C-487A-ADC0-5248C57FD900}" type="presParOf" srcId="{F69E9929-450B-4BA3-ADD2-F099BF92B873}" destId="{BC6E2716-5A80-47E8-BFAA-A50A556C8CB8}" srcOrd="1" destOrd="0" presId="urn:microsoft.com/office/officeart/2011/layout/TabList"/>
    <dgm:cxn modelId="{95D3E4E8-9674-4B9D-8559-BD9F1158E33C}" type="presParOf" srcId="{F69E9929-450B-4BA3-ADD2-F099BF92B873}" destId="{C1B78ACF-E4ED-42E4-BC22-C401F2410D40}" srcOrd="2" destOrd="0" presId="urn:microsoft.com/office/officeart/2011/layout/TabList"/>
    <dgm:cxn modelId="{5102F1AF-351A-49A0-8B2D-39C9528D377C}" type="presParOf" srcId="{DDBE6D43-A66D-4E2A-9D27-0A077B3933BF}" destId="{FA8BAFF0-B336-4D07-B8DC-D60EFCF3C4C9}" srcOrd="1" destOrd="0" presId="urn:microsoft.com/office/officeart/2011/layout/TabList"/>
    <dgm:cxn modelId="{8360913A-16F3-4320-80B7-E5A41C7AC0F7}" type="presParOf" srcId="{DDBE6D43-A66D-4E2A-9D27-0A077B3933BF}" destId="{15E6C525-72CF-4F00-93B4-3A753C797D7D}" srcOrd="2" destOrd="0" presId="urn:microsoft.com/office/officeart/2011/layout/TabList"/>
    <dgm:cxn modelId="{EF7D910E-D6C8-41B2-9AEE-79B6C975F8B3}" type="presParOf" srcId="{15E6C525-72CF-4F00-93B4-3A753C797D7D}" destId="{CB68C330-D800-41DF-8C58-FBFAED6B2050}" srcOrd="0" destOrd="0" presId="urn:microsoft.com/office/officeart/2011/layout/TabList"/>
    <dgm:cxn modelId="{AA4C3B44-CF3D-45DB-A503-2ECBE90170C3}" type="presParOf" srcId="{15E6C525-72CF-4F00-93B4-3A753C797D7D}" destId="{BDAFFD81-A0B4-498C-A887-40DC0A2DD925}" srcOrd="1" destOrd="0" presId="urn:microsoft.com/office/officeart/2011/layout/TabList"/>
    <dgm:cxn modelId="{601A1712-422F-4E10-941F-CF425AD3D831}" type="presParOf" srcId="{15E6C525-72CF-4F00-93B4-3A753C797D7D}" destId="{1C0DA860-8B6F-48ED-AD00-FFCA7D170DC5}" srcOrd="2" destOrd="0" presId="urn:microsoft.com/office/officeart/2011/layout/TabList"/>
    <dgm:cxn modelId="{B53F9C2B-87CA-496D-8080-1DA370E2C5F3}" type="presParOf" srcId="{DDBE6D43-A66D-4E2A-9D27-0A077B3933BF}" destId="{2F42858B-D7ED-4474-BB9F-AB03F2637985}" srcOrd="3" destOrd="0" presId="urn:microsoft.com/office/officeart/2011/layout/TabList"/>
    <dgm:cxn modelId="{AFCA714E-3C40-465C-AB88-12F98B26FBE7}" type="presParOf" srcId="{DDBE6D43-A66D-4E2A-9D27-0A077B3933BF}" destId="{FF6B7253-1FF8-4D04-BE00-9659295106D1}" srcOrd="4" destOrd="0" presId="urn:microsoft.com/office/officeart/2011/layout/TabList"/>
    <dgm:cxn modelId="{9B6A56E7-66AA-4625-A602-FFB7B4FB1607}" type="presParOf" srcId="{FF6B7253-1FF8-4D04-BE00-9659295106D1}" destId="{76BC7C3A-0E83-41FC-8BC7-BBD349E239EE}" srcOrd="0" destOrd="0" presId="urn:microsoft.com/office/officeart/2011/layout/TabList"/>
    <dgm:cxn modelId="{CE84F1AB-C19B-49EA-922B-E2A28EBE8B0A}" type="presParOf" srcId="{FF6B7253-1FF8-4D04-BE00-9659295106D1}" destId="{E3F5FA7B-057F-4E41-AA80-7D235523E8E2}" srcOrd="1" destOrd="0" presId="urn:microsoft.com/office/officeart/2011/layout/TabList"/>
    <dgm:cxn modelId="{5E31DC91-2844-4D0F-8674-BD98C1EB1821}" type="presParOf" srcId="{FF6B7253-1FF8-4D04-BE00-9659295106D1}" destId="{91A7143F-1826-46C9-BBAB-C385150ED717}" srcOrd="2" destOrd="0" presId="urn:microsoft.com/office/officeart/2011/layout/TabList"/>
    <dgm:cxn modelId="{FB3C7BBC-1BFC-49FD-9985-237D5A0D919C}" type="presParOf" srcId="{DDBE6D43-A66D-4E2A-9D27-0A077B3933BF}" destId="{B02588C9-C2BE-41E3-B602-743CF9497B4F}" srcOrd="5" destOrd="0" presId="urn:microsoft.com/office/officeart/2011/layout/TabList"/>
    <dgm:cxn modelId="{BE91AF5B-D342-4581-A793-EC81A6579514}" type="presParOf" srcId="{DDBE6D43-A66D-4E2A-9D27-0A077B3933BF}" destId="{AB4CACFF-5F8A-4F1C-BA3D-02A8269A5F28}" srcOrd="6" destOrd="0" presId="urn:microsoft.com/office/officeart/2011/layout/TabList"/>
    <dgm:cxn modelId="{B667E77F-85C1-48B8-8622-8311A0E8C131}" type="presParOf" srcId="{AB4CACFF-5F8A-4F1C-BA3D-02A8269A5F28}" destId="{29328655-4D95-4E0C-A80C-A4AF16A1A8A7}" srcOrd="0" destOrd="0" presId="urn:microsoft.com/office/officeart/2011/layout/TabList"/>
    <dgm:cxn modelId="{4F785291-070E-463D-9DB9-629E34ADB68E}" type="presParOf" srcId="{AB4CACFF-5F8A-4F1C-BA3D-02A8269A5F28}" destId="{58D94336-B06D-464B-9E24-89F1F971E5F2}" srcOrd="1" destOrd="0" presId="urn:microsoft.com/office/officeart/2011/layout/TabList"/>
    <dgm:cxn modelId="{41C2C640-6F38-43FD-8A89-F0C7661481B8}" type="presParOf" srcId="{AB4CACFF-5F8A-4F1C-BA3D-02A8269A5F28}" destId="{D3719AB9-8191-46A1-AB03-8CAB17E8E3DB}" srcOrd="2" destOrd="0" presId="urn:microsoft.com/office/officeart/2011/layout/TabList"/>
    <dgm:cxn modelId="{E9D650B1-D7C9-4FA2-BAC8-79B9DBF0C147}" type="presParOf" srcId="{DDBE6D43-A66D-4E2A-9D27-0A077B3933BF}" destId="{9B5633BF-022B-41B4-A820-FF67861C5978}" srcOrd="7" destOrd="0" presId="urn:microsoft.com/office/officeart/2011/layout/TabList"/>
    <dgm:cxn modelId="{BB62B1E4-ED12-427D-82A8-ED404ECE77CC}" type="presParOf" srcId="{DDBE6D43-A66D-4E2A-9D27-0A077B3933BF}" destId="{EC2CF32F-8B5F-496B-89AB-3681C2E6D920}" srcOrd="8" destOrd="0" presId="urn:microsoft.com/office/officeart/2011/layout/TabList"/>
    <dgm:cxn modelId="{51A3B996-0ED7-4ED6-B2E9-1098B2D1CE3E}" type="presParOf" srcId="{EC2CF32F-8B5F-496B-89AB-3681C2E6D920}" destId="{FF57DDE3-4FDE-4B30-AC91-C4C9F0303267}" srcOrd="0" destOrd="0" presId="urn:microsoft.com/office/officeart/2011/layout/TabList"/>
    <dgm:cxn modelId="{6BDA0FEF-E39E-4DD7-B66C-4903418F5FCD}" type="presParOf" srcId="{EC2CF32F-8B5F-496B-89AB-3681C2E6D920}" destId="{D7402963-BD5C-43E6-90E8-C197A8D6874F}" srcOrd="1" destOrd="0" presId="urn:microsoft.com/office/officeart/2011/layout/TabList"/>
    <dgm:cxn modelId="{EFDF31BE-9B50-4A3F-9F0C-06AAB888638A}" type="presParOf" srcId="{EC2CF32F-8B5F-496B-89AB-3681C2E6D920}" destId="{9A366C8B-2619-489A-906E-477A8057FA5B}" srcOrd="2" destOrd="0" presId="urn:microsoft.com/office/officeart/2011/layout/TabList"/>
    <dgm:cxn modelId="{F171554F-D831-4BE0-B236-6CC07D99B53D}" type="presParOf" srcId="{DDBE6D43-A66D-4E2A-9D27-0A077B3933BF}" destId="{16FE1894-BCE9-48C8-8AEF-B17F21AD2B0C}" srcOrd="9" destOrd="0" presId="urn:microsoft.com/office/officeart/2011/layout/TabList"/>
    <dgm:cxn modelId="{C5273419-7B62-4321-95E0-6D4301FFC1EA}" type="presParOf" srcId="{DDBE6D43-A66D-4E2A-9D27-0A077B3933BF}" destId="{805613FB-6BFE-4B42-8A32-338BA6FB47D7}" srcOrd="10" destOrd="0" presId="urn:microsoft.com/office/officeart/2011/layout/TabList"/>
    <dgm:cxn modelId="{764C85D0-03B7-4E4C-BB26-6730153B93BD}" type="presParOf" srcId="{805613FB-6BFE-4B42-8A32-338BA6FB47D7}" destId="{1A70536F-7DE3-4F77-B9DC-8817466905FF}" srcOrd="0" destOrd="0" presId="urn:microsoft.com/office/officeart/2011/layout/TabList"/>
    <dgm:cxn modelId="{7FE266F9-FE9B-4817-8EA6-3C4E4FD3B99B}" type="presParOf" srcId="{805613FB-6BFE-4B42-8A32-338BA6FB47D7}" destId="{E8F7FA96-098B-40CC-A0B1-CCAA6332059F}" srcOrd="1" destOrd="0" presId="urn:microsoft.com/office/officeart/2011/layout/TabList"/>
    <dgm:cxn modelId="{40C8CE30-B3D5-4A5D-A0F9-D58AE7FB2737}" type="presParOf" srcId="{805613FB-6BFE-4B42-8A32-338BA6FB47D7}" destId="{0E0D74A5-F514-4103-AF3F-C85B05D6CB43}" srcOrd="2" destOrd="0" presId="urn:microsoft.com/office/officeart/2011/layout/Tab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98D69-F30B-43C2-B1A3-D10A30B3C677}">
      <dsp:nvSpPr>
        <dsp:cNvPr id="0" name=""/>
        <dsp:cNvSpPr/>
      </dsp:nvSpPr>
      <dsp:spPr>
        <a:xfrm>
          <a:off x="1341049" y="745"/>
          <a:ext cx="1569861" cy="87214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mj-lt"/>
            </a:rPr>
            <a:t>Identify</a:t>
          </a:r>
          <a:endParaRPr lang="en-PK" sz="2400" kern="1200" dirty="0">
            <a:latin typeface="+mj-lt"/>
          </a:endParaRPr>
        </a:p>
      </dsp:txBody>
      <dsp:txXfrm>
        <a:off x="1366593" y="26289"/>
        <a:ext cx="1518773" cy="821057"/>
      </dsp:txXfrm>
    </dsp:sp>
    <dsp:sp modelId="{852E1D99-F36C-4A0F-8821-AC1C33C82506}">
      <dsp:nvSpPr>
        <dsp:cNvPr id="0" name=""/>
        <dsp:cNvSpPr/>
      </dsp:nvSpPr>
      <dsp:spPr>
        <a:xfrm rot="5400000">
          <a:off x="1962452" y="894694"/>
          <a:ext cx="327054" cy="392465"/>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K" sz="1700" kern="1200"/>
        </a:p>
      </dsp:txBody>
      <dsp:txXfrm rot="-5400000">
        <a:off x="2008240" y="927399"/>
        <a:ext cx="235479" cy="228938"/>
      </dsp:txXfrm>
    </dsp:sp>
    <dsp:sp modelId="{7E79F52D-C9BD-4259-B2C6-33CA7DA326C8}">
      <dsp:nvSpPr>
        <dsp:cNvPr id="0" name=""/>
        <dsp:cNvSpPr/>
      </dsp:nvSpPr>
      <dsp:spPr>
        <a:xfrm>
          <a:off x="1341049" y="1308962"/>
          <a:ext cx="1569861" cy="872145"/>
        </a:xfrm>
        <a:prstGeom prst="roundRect">
          <a:avLst>
            <a:gd name="adj" fmla="val 10000"/>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Protect</a:t>
          </a:r>
          <a:endParaRPr lang="en-PK" sz="2500" kern="1200" dirty="0"/>
        </a:p>
      </dsp:txBody>
      <dsp:txXfrm>
        <a:off x="1366593" y="1334506"/>
        <a:ext cx="1518773" cy="821057"/>
      </dsp:txXfrm>
    </dsp:sp>
    <dsp:sp modelId="{42320049-D7D9-4152-91BD-E8EBCCC80B05}">
      <dsp:nvSpPr>
        <dsp:cNvPr id="0" name=""/>
        <dsp:cNvSpPr/>
      </dsp:nvSpPr>
      <dsp:spPr>
        <a:xfrm rot="5400000">
          <a:off x="1962452" y="2202911"/>
          <a:ext cx="327054" cy="392465"/>
        </a:xfrm>
        <a:prstGeom prst="rightArrow">
          <a:avLst>
            <a:gd name="adj1" fmla="val 60000"/>
            <a:gd name="adj2" fmla="val 50000"/>
          </a:avLst>
        </a:prstGeom>
        <a:solidFill>
          <a:schemeClr val="accent2">
            <a:hueOff val="1560506"/>
            <a:satOff val="-1946"/>
            <a:lumOff val="45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K" sz="1700" kern="1200"/>
        </a:p>
      </dsp:txBody>
      <dsp:txXfrm rot="-5400000">
        <a:off x="2008240" y="2235616"/>
        <a:ext cx="235479" cy="228938"/>
      </dsp:txXfrm>
    </dsp:sp>
    <dsp:sp modelId="{ED39240B-A84F-4C57-B202-93D7BC88FEBC}">
      <dsp:nvSpPr>
        <dsp:cNvPr id="0" name=""/>
        <dsp:cNvSpPr/>
      </dsp:nvSpPr>
      <dsp:spPr>
        <a:xfrm>
          <a:off x="1341049" y="2617180"/>
          <a:ext cx="1569861" cy="872145"/>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Detect</a:t>
          </a:r>
          <a:endParaRPr lang="en-PK" sz="2500" kern="1200" dirty="0"/>
        </a:p>
      </dsp:txBody>
      <dsp:txXfrm>
        <a:off x="1366593" y="2642724"/>
        <a:ext cx="1518773" cy="821057"/>
      </dsp:txXfrm>
    </dsp:sp>
    <dsp:sp modelId="{126A2212-021E-4865-8E9E-A5AAABB21500}">
      <dsp:nvSpPr>
        <dsp:cNvPr id="0" name=""/>
        <dsp:cNvSpPr/>
      </dsp:nvSpPr>
      <dsp:spPr>
        <a:xfrm rot="5400000">
          <a:off x="1962452" y="3511129"/>
          <a:ext cx="327054" cy="392465"/>
        </a:xfrm>
        <a:prstGeom prst="rightArrow">
          <a:avLst>
            <a:gd name="adj1" fmla="val 60000"/>
            <a:gd name="adj2" fmla="val 50000"/>
          </a:avLst>
        </a:prstGeom>
        <a:solidFill>
          <a:schemeClr val="accent2">
            <a:hueOff val="3121013"/>
            <a:satOff val="-3893"/>
            <a:lumOff val="91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K" sz="1700" kern="1200"/>
        </a:p>
      </dsp:txBody>
      <dsp:txXfrm rot="-5400000">
        <a:off x="2008240" y="3543834"/>
        <a:ext cx="235479" cy="228938"/>
      </dsp:txXfrm>
    </dsp:sp>
    <dsp:sp modelId="{027CD78D-9138-48DC-A3E6-9FCF906F41F0}">
      <dsp:nvSpPr>
        <dsp:cNvPr id="0" name=""/>
        <dsp:cNvSpPr/>
      </dsp:nvSpPr>
      <dsp:spPr>
        <a:xfrm>
          <a:off x="1341049" y="3925398"/>
          <a:ext cx="1569861" cy="872145"/>
        </a:xfrm>
        <a:prstGeom prst="roundRect">
          <a:avLst>
            <a:gd name="adj" fmla="val 10000"/>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Respond</a:t>
          </a:r>
          <a:endParaRPr lang="en-PK" sz="2500" kern="1200" dirty="0"/>
        </a:p>
      </dsp:txBody>
      <dsp:txXfrm>
        <a:off x="1366593" y="3950942"/>
        <a:ext cx="1518773" cy="821057"/>
      </dsp:txXfrm>
    </dsp:sp>
    <dsp:sp modelId="{7828EE35-096F-48E0-9EE9-E782D1488194}">
      <dsp:nvSpPr>
        <dsp:cNvPr id="0" name=""/>
        <dsp:cNvSpPr/>
      </dsp:nvSpPr>
      <dsp:spPr>
        <a:xfrm rot="5400000">
          <a:off x="1962452" y="4819346"/>
          <a:ext cx="327054" cy="392465"/>
        </a:xfrm>
        <a:prstGeom prst="rightArrow">
          <a:avLst>
            <a:gd name="adj1" fmla="val 60000"/>
            <a:gd name="adj2" fmla="val 50000"/>
          </a:avLst>
        </a:prstGeom>
        <a:solidFill>
          <a:schemeClr val="accent2">
            <a:hueOff val="4681519"/>
            <a:satOff val="-5839"/>
            <a:lumOff val="137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K" sz="1700" kern="1200"/>
        </a:p>
      </dsp:txBody>
      <dsp:txXfrm rot="-5400000">
        <a:off x="2008240" y="4852051"/>
        <a:ext cx="235479" cy="228938"/>
      </dsp:txXfrm>
    </dsp:sp>
    <dsp:sp modelId="{113FB63E-BCE8-43F7-95C7-B9F2954253AC}">
      <dsp:nvSpPr>
        <dsp:cNvPr id="0" name=""/>
        <dsp:cNvSpPr/>
      </dsp:nvSpPr>
      <dsp:spPr>
        <a:xfrm>
          <a:off x="1341049" y="5233615"/>
          <a:ext cx="1569861" cy="872145"/>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Recover</a:t>
          </a:r>
          <a:endParaRPr lang="en-PK" sz="2500" kern="1200" dirty="0"/>
        </a:p>
      </dsp:txBody>
      <dsp:txXfrm>
        <a:off x="1366593" y="5259159"/>
        <a:ext cx="1518773" cy="8210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0D74A5-F514-4103-AF3F-C85B05D6CB43}">
      <dsp:nvSpPr>
        <dsp:cNvPr id="0" name=""/>
        <dsp:cNvSpPr/>
      </dsp:nvSpPr>
      <dsp:spPr>
        <a:xfrm>
          <a:off x="0" y="7352082"/>
          <a:ext cx="18384729"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366C8B-2619-489A-906E-477A8057FA5B}">
      <dsp:nvSpPr>
        <dsp:cNvPr id="0" name=""/>
        <dsp:cNvSpPr/>
      </dsp:nvSpPr>
      <dsp:spPr>
        <a:xfrm>
          <a:off x="0" y="6117019"/>
          <a:ext cx="18384729"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719AB9-8191-46A1-AB03-8CAB17E8E3DB}">
      <dsp:nvSpPr>
        <dsp:cNvPr id="0" name=""/>
        <dsp:cNvSpPr/>
      </dsp:nvSpPr>
      <dsp:spPr>
        <a:xfrm>
          <a:off x="0" y="4881956"/>
          <a:ext cx="18384729"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A7143F-1826-46C9-BBAB-C385150ED717}">
      <dsp:nvSpPr>
        <dsp:cNvPr id="0" name=""/>
        <dsp:cNvSpPr/>
      </dsp:nvSpPr>
      <dsp:spPr>
        <a:xfrm>
          <a:off x="0" y="3646893"/>
          <a:ext cx="18384729"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0DA860-8B6F-48ED-AD00-FFCA7D170DC5}">
      <dsp:nvSpPr>
        <dsp:cNvPr id="0" name=""/>
        <dsp:cNvSpPr/>
      </dsp:nvSpPr>
      <dsp:spPr>
        <a:xfrm>
          <a:off x="0" y="2411830"/>
          <a:ext cx="18384729"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B78ACF-E4ED-42E4-BC22-C401F2410D40}">
      <dsp:nvSpPr>
        <dsp:cNvPr id="0" name=""/>
        <dsp:cNvSpPr/>
      </dsp:nvSpPr>
      <dsp:spPr>
        <a:xfrm>
          <a:off x="0" y="1176767"/>
          <a:ext cx="18384729"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E176AB-6885-468D-928B-9886FFFB8A8A}">
      <dsp:nvSpPr>
        <dsp:cNvPr id="0" name=""/>
        <dsp:cNvSpPr/>
      </dsp:nvSpPr>
      <dsp:spPr>
        <a:xfrm>
          <a:off x="4780029" y="517"/>
          <a:ext cx="13604699" cy="117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150000"/>
            </a:lnSpc>
            <a:spcBef>
              <a:spcPct val="0"/>
            </a:spcBef>
            <a:spcAft>
              <a:spcPct val="35000"/>
            </a:spcAft>
            <a:buNone/>
          </a:pPr>
          <a:r>
            <a:rPr lang="en-US" sz="1800" kern="1200" dirty="0">
              <a:latin typeface="Arial" panose="020B0604020202020204" pitchFamily="34" charset="0"/>
              <a:cs typeface="Arial" panose="020B0604020202020204" pitchFamily="34" charset="0"/>
            </a:rPr>
            <a:t>P</a:t>
          </a:r>
          <a:r>
            <a:rPr lang="en-US" sz="1800" b="0" i="0" kern="1200" dirty="0">
              <a:latin typeface="Arial" panose="020B0604020202020204" pitchFamily="34" charset="0"/>
              <a:cs typeface="Arial" panose="020B0604020202020204" pitchFamily="34" charset="0"/>
            </a:rPr>
            <a:t>erimeter security involves safeguarding a company's network boundary from hackers, intruders, and other unwanted individuals. It includes surveillance detection, analyzing patterns, recognizing threats, and dealing with them effectively.</a:t>
          </a:r>
          <a:endParaRPr lang="en-PK" sz="1800" kern="1200" dirty="0">
            <a:latin typeface="Arial" panose="020B0604020202020204" pitchFamily="34" charset="0"/>
            <a:cs typeface="Arial" panose="020B0604020202020204" pitchFamily="34" charset="0"/>
          </a:endParaRPr>
        </a:p>
      </dsp:txBody>
      <dsp:txXfrm>
        <a:off x="4780029" y="517"/>
        <a:ext cx="13604699" cy="1176250"/>
      </dsp:txXfrm>
    </dsp:sp>
    <dsp:sp modelId="{BC6E2716-5A80-47E8-BFAA-A50A556C8CB8}">
      <dsp:nvSpPr>
        <dsp:cNvPr id="0" name=""/>
        <dsp:cNvSpPr/>
      </dsp:nvSpPr>
      <dsp:spPr>
        <a:xfrm>
          <a:off x="0" y="517"/>
          <a:ext cx="4780029" cy="1176250"/>
        </a:xfrm>
        <a:prstGeom prst="round2SameRect">
          <a:avLst>
            <a:gd name="adj1" fmla="val 16670"/>
            <a:gd name="adj2" fmla="val 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b="1" u="sng" kern="1200" dirty="0">
              <a:latin typeface="Arial" panose="020B0604020202020204" pitchFamily="34" charset="0"/>
              <a:cs typeface="Arial" panose="020B0604020202020204" pitchFamily="34" charset="0"/>
            </a:rPr>
            <a:t>PERIMETER SECURITY:</a:t>
          </a:r>
          <a:endParaRPr lang="en-PK" sz="1800" kern="1200" dirty="0">
            <a:latin typeface="Arial" panose="020B0604020202020204" pitchFamily="34" charset="0"/>
            <a:cs typeface="Arial" panose="020B0604020202020204" pitchFamily="34" charset="0"/>
          </a:endParaRPr>
        </a:p>
      </dsp:txBody>
      <dsp:txXfrm>
        <a:off x="57430" y="57947"/>
        <a:ext cx="4665169" cy="1118820"/>
      </dsp:txXfrm>
    </dsp:sp>
    <dsp:sp modelId="{CB68C330-D800-41DF-8C58-FBFAED6B2050}">
      <dsp:nvSpPr>
        <dsp:cNvPr id="0" name=""/>
        <dsp:cNvSpPr/>
      </dsp:nvSpPr>
      <dsp:spPr>
        <a:xfrm>
          <a:off x="4780029" y="1235580"/>
          <a:ext cx="13604699" cy="117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150000"/>
            </a:lnSpc>
            <a:spcBef>
              <a:spcPct val="0"/>
            </a:spcBef>
            <a:spcAft>
              <a:spcPct val="35000"/>
            </a:spcAft>
            <a:buNone/>
          </a:pPr>
          <a:r>
            <a:rPr lang="en-US" sz="1800" kern="1200" dirty="0">
              <a:latin typeface="Arial" panose="020B0604020202020204" pitchFamily="34" charset="0"/>
              <a:cs typeface="Arial" panose="020B0604020202020204" pitchFamily="34" charset="0"/>
            </a:rPr>
            <a:t>Network Security protects network and data from breaches, intrusions and other threats. This is a vast and overarching term that describes hardware and software solutions as well as processes or rules and configurations relating to network use, accessibility and overall threat protection.</a:t>
          </a:r>
          <a:endParaRPr lang="en-PK" sz="1800" kern="1200" dirty="0">
            <a:latin typeface="Arial" panose="020B0604020202020204" pitchFamily="34" charset="0"/>
            <a:cs typeface="Arial" panose="020B0604020202020204" pitchFamily="34" charset="0"/>
          </a:endParaRPr>
        </a:p>
      </dsp:txBody>
      <dsp:txXfrm>
        <a:off x="4780029" y="1235580"/>
        <a:ext cx="13604699" cy="1176250"/>
      </dsp:txXfrm>
    </dsp:sp>
    <dsp:sp modelId="{BDAFFD81-A0B4-498C-A887-40DC0A2DD925}">
      <dsp:nvSpPr>
        <dsp:cNvPr id="0" name=""/>
        <dsp:cNvSpPr/>
      </dsp:nvSpPr>
      <dsp:spPr>
        <a:xfrm>
          <a:off x="0" y="1235580"/>
          <a:ext cx="4780029" cy="1176250"/>
        </a:xfrm>
        <a:prstGeom prst="round2SameRect">
          <a:avLst>
            <a:gd name="adj1" fmla="val 16670"/>
            <a:gd name="adj2" fmla="val 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b="1" u="sng" kern="1200" dirty="0">
              <a:latin typeface="Arial" panose="020B0604020202020204" pitchFamily="34" charset="0"/>
              <a:cs typeface="Arial" panose="020B0604020202020204" pitchFamily="34" charset="0"/>
            </a:rPr>
            <a:t>NETWORK SECURITY:</a:t>
          </a:r>
          <a:endParaRPr lang="en-PK" sz="1800" kern="1200" dirty="0">
            <a:latin typeface="Arial" panose="020B0604020202020204" pitchFamily="34" charset="0"/>
            <a:cs typeface="Arial" panose="020B0604020202020204" pitchFamily="34" charset="0"/>
          </a:endParaRPr>
        </a:p>
      </dsp:txBody>
      <dsp:txXfrm>
        <a:off x="57430" y="1293010"/>
        <a:ext cx="4665169" cy="1118820"/>
      </dsp:txXfrm>
    </dsp:sp>
    <dsp:sp modelId="{76BC7C3A-0E83-41FC-8BC7-BBD349E239EE}">
      <dsp:nvSpPr>
        <dsp:cNvPr id="0" name=""/>
        <dsp:cNvSpPr/>
      </dsp:nvSpPr>
      <dsp:spPr>
        <a:xfrm>
          <a:off x="4780029" y="2470643"/>
          <a:ext cx="13604699" cy="117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150000"/>
            </a:lnSpc>
            <a:spcBef>
              <a:spcPct val="0"/>
            </a:spcBef>
            <a:spcAft>
              <a:spcPct val="35000"/>
            </a:spcAft>
            <a:buNone/>
          </a:pPr>
          <a:r>
            <a:rPr lang="en-US" sz="1800" kern="1200" dirty="0">
              <a:latin typeface="Arial" panose="020B0604020202020204" pitchFamily="34" charset="0"/>
              <a:cs typeface="Arial" panose="020B0604020202020204" pitchFamily="34" charset="0"/>
            </a:rPr>
            <a:t>Endpoint security is the practice of securing endpoints or entry points of end-user devices such as desktops, laptops, and mobile devices from being exploited by malicious actors and campaigns. Endpoint security systems protect these endpoints on a network or in the cloud from cybersecurity threats.</a:t>
          </a:r>
          <a:endParaRPr lang="en-PK" sz="1800" kern="1200" dirty="0">
            <a:latin typeface="Arial" panose="020B0604020202020204" pitchFamily="34" charset="0"/>
            <a:cs typeface="Arial" panose="020B0604020202020204" pitchFamily="34" charset="0"/>
          </a:endParaRPr>
        </a:p>
      </dsp:txBody>
      <dsp:txXfrm>
        <a:off x="4780029" y="2470643"/>
        <a:ext cx="13604699" cy="1176250"/>
      </dsp:txXfrm>
    </dsp:sp>
    <dsp:sp modelId="{E3F5FA7B-057F-4E41-AA80-7D235523E8E2}">
      <dsp:nvSpPr>
        <dsp:cNvPr id="0" name=""/>
        <dsp:cNvSpPr/>
      </dsp:nvSpPr>
      <dsp:spPr>
        <a:xfrm>
          <a:off x="0" y="2470643"/>
          <a:ext cx="4780029" cy="1176250"/>
        </a:xfrm>
        <a:prstGeom prst="round2SameRect">
          <a:avLst>
            <a:gd name="adj1" fmla="val 16670"/>
            <a:gd name="adj2" fmla="val 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b="1" u="sng" kern="1200" dirty="0">
              <a:latin typeface="Arial" panose="020B0604020202020204" pitchFamily="34" charset="0"/>
              <a:cs typeface="Arial" panose="020B0604020202020204" pitchFamily="34" charset="0"/>
            </a:rPr>
            <a:t>ENDPOINT SECURITY:</a:t>
          </a:r>
          <a:endParaRPr lang="en-PK" sz="1800" kern="1200" dirty="0">
            <a:latin typeface="Arial" panose="020B0604020202020204" pitchFamily="34" charset="0"/>
            <a:cs typeface="Arial" panose="020B0604020202020204" pitchFamily="34" charset="0"/>
          </a:endParaRPr>
        </a:p>
      </dsp:txBody>
      <dsp:txXfrm>
        <a:off x="57430" y="2528073"/>
        <a:ext cx="4665169" cy="1118820"/>
      </dsp:txXfrm>
    </dsp:sp>
    <dsp:sp modelId="{29328655-4D95-4E0C-A80C-A4AF16A1A8A7}">
      <dsp:nvSpPr>
        <dsp:cNvPr id="0" name=""/>
        <dsp:cNvSpPr/>
      </dsp:nvSpPr>
      <dsp:spPr>
        <a:xfrm>
          <a:off x="4780029" y="3705706"/>
          <a:ext cx="13604699" cy="117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150000"/>
            </a:lnSpc>
            <a:spcBef>
              <a:spcPct val="0"/>
            </a:spcBef>
            <a:spcAft>
              <a:spcPct val="35000"/>
            </a:spcAft>
            <a:buNone/>
          </a:pPr>
          <a:r>
            <a:rPr lang="en-US" sz="1800" kern="1200" dirty="0">
              <a:latin typeface="Arial" panose="020B0604020202020204" pitchFamily="34" charset="0"/>
              <a:cs typeface="Arial" panose="020B0604020202020204" pitchFamily="34" charset="0"/>
            </a:rPr>
            <a:t>Application security is the process of developing, adding, and testing security features within applications to prevent security vulnerabilities against threats such as unauthorized access and modification.</a:t>
          </a:r>
          <a:endParaRPr lang="en-PK" sz="1800" kern="1200" dirty="0">
            <a:latin typeface="Arial" panose="020B0604020202020204" pitchFamily="34" charset="0"/>
            <a:cs typeface="Arial" panose="020B0604020202020204" pitchFamily="34" charset="0"/>
          </a:endParaRPr>
        </a:p>
      </dsp:txBody>
      <dsp:txXfrm>
        <a:off x="4780029" y="3705706"/>
        <a:ext cx="13604699" cy="1176250"/>
      </dsp:txXfrm>
    </dsp:sp>
    <dsp:sp modelId="{58D94336-B06D-464B-9E24-89F1F971E5F2}">
      <dsp:nvSpPr>
        <dsp:cNvPr id="0" name=""/>
        <dsp:cNvSpPr/>
      </dsp:nvSpPr>
      <dsp:spPr>
        <a:xfrm>
          <a:off x="0" y="3705706"/>
          <a:ext cx="4780029" cy="1176250"/>
        </a:xfrm>
        <a:prstGeom prst="round2SameRect">
          <a:avLst>
            <a:gd name="adj1" fmla="val 16670"/>
            <a:gd name="adj2" fmla="val 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b="1" u="sng" kern="1200" dirty="0">
              <a:latin typeface="Arial" panose="020B0604020202020204" pitchFamily="34" charset="0"/>
              <a:cs typeface="Arial" panose="020B0604020202020204" pitchFamily="34" charset="0"/>
            </a:rPr>
            <a:t>APPLICATION SECURITY:</a:t>
          </a:r>
          <a:endParaRPr lang="en-PK" sz="1800" kern="1200" dirty="0">
            <a:latin typeface="Arial" panose="020B0604020202020204" pitchFamily="34" charset="0"/>
            <a:cs typeface="Arial" panose="020B0604020202020204" pitchFamily="34" charset="0"/>
          </a:endParaRPr>
        </a:p>
      </dsp:txBody>
      <dsp:txXfrm>
        <a:off x="57430" y="3763136"/>
        <a:ext cx="4665169" cy="1118820"/>
      </dsp:txXfrm>
    </dsp:sp>
    <dsp:sp modelId="{FF57DDE3-4FDE-4B30-AC91-C4C9F0303267}">
      <dsp:nvSpPr>
        <dsp:cNvPr id="0" name=""/>
        <dsp:cNvSpPr/>
      </dsp:nvSpPr>
      <dsp:spPr>
        <a:xfrm>
          <a:off x="4780029" y="4940769"/>
          <a:ext cx="13604699" cy="117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150000"/>
            </a:lnSpc>
            <a:spcBef>
              <a:spcPct val="0"/>
            </a:spcBef>
            <a:spcAft>
              <a:spcPct val="35000"/>
            </a:spcAft>
            <a:buNone/>
          </a:pPr>
          <a:r>
            <a:rPr lang="en-US" sz="1800" kern="1200" dirty="0">
              <a:latin typeface="Arial" panose="020B0604020202020204" pitchFamily="34" charset="0"/>
              <a:cs typeface="Arial" panose="020B0604020202020204" pitchFamily="34" charset="0"/>
            </a:rPr>
            <a:t>Data security refers to the process of protecting data from unauthorized access and data integrity throughout its lifecycle. Data security includes data encryption, hashing, tokenization, and key management practices that protect data across all applications and platforms.</a:t>
          </a:r>
          <a:endParaRPr lang="en-PK" sz="1800" kern="1200" dirty="0">
            <a:latin typeface="Arial" panose="020B0604020202020204" pitchFamily="34" charset="0"/>
            <a:cs typeface="Arial" panose="020B0604020202020204" pitchFamily="34" charset="0"/>
          </a:endParaRPr>
        </a:p>
      </dsp:txBody>
      <dsp:txXfrm>
        <a:off x="4780029" y="4940769"/>
        <a:ext cx="13604699" cy="1176250"/>
      </dsp:txXfrm>
    </dsp:sp>
    <dsp:sp modelId="{D7402963-BD5C-43E6-90E8-C197A8D6874F}">
      <dsp:nvSpPr>
        <dsp:cNvPr id="0" name=""/>
        <dsp:cNvSpPr/>
      </dsp:nvSpPr>
      <dsp:spPr>
        <a:xfrm>
          <a:off x="0" y="4940769"/>
          <a:ext cx="4780029" cy="1176250"/>
        </a:xfrm>
        <a:prstGeom prst="round2SameRect">
          <a:avLst>
            <a:gd name="adj1" fmla="val 16670"/>
            <a:gd name="adj2" fmla="val 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b="1" u="sng" kern="1200" dirty="0">
              <a:latin typeface="Arial" panose="020B0604020202020204" pitchFamily="34" charset="0"/>
              <a:cs typeface="Arial" panose="020B0604020202020204" pitchFamily="34" charset="0"/>
            </a:rPr>
            <a:t>DATA SECURITY:</a:t>
          </a:r>
          <a:endParaRPr lang="en-PK" sz="1800" kern="1200" dirty="0">
            <a:latin typeface="Arial" panose="020B0604020202020204" pitchFamily="34" charset="0"/>
            <a:cs typeface="Arial" panose="020B0604020202020204" pitchFamily="34" charset="0"/>
          </a:endParaRPr>
        </a:p>
      </dsp:txBody>
      <dsp:txXfrm>
        <a:off x="57430" y="4998199"/>
        <a:ext cx="4665169" cy="1118820"/>
      </dsp:txXfrm>
    </dsp:sp>
    <dsp:sp modelId="{1A70536F-7DE3-4F77-B9DC-8817466905FF}">
      <dsp:nvSpPr>
        <dsp:cNvPr id="0" name=""/>
        <dsp:cNvSpPr/>
      </dsp:nvSpPr>
      <dsp:spPr>
        <a:xfrm>
          <a:off x="4780029" y="6175832"/>
          <a:ext cx="13604699" cy="117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150000"/>
            </a:lnSpc>
            <a:spcBef>
              <a:spcPct val="0"/>
            </a:spcBef>
            <a:spcAft>
              <a:spcPct val="35000"/>
            </a:spcAft>
            <a:buNone/>
          </a:pPr>
          <a:r>
            <a:rPr lang="en-US" sz="1800" b="1" kern="1200" dirty="0">
              <a:latin typeface="Arial" panose="020B0604020202020204" pitchFamily="34" charset="0"/>
              <a:cs typeface="Arial" panose="020B0604020202020204" pitchFamily="34" charset="0"/>
            </a:rPr>
            <a:t>The bank is PCI-DSS compliant for the last 3 years and annually comply to the SWIFT Customer Security Framework. </a:t>
          </a:r>
          <a:r>
            <a:rPr lang="en-US" sz="1800" kern="1200" dirty="0">
              <a:latin typeface="Arial" panose="020B0604020202020204" pitchFamily="34" charset="0"/>
              <a:cs typeface="Arial" panose="020B0604020202020204" pitchFamily="34" charset="0"/>
            </a:rPr>
            <a:t> </a:t>
          </a:r>
          <a:endParaRPr lang="en-PK" sz="1800" kern="1200" dirty="0">
            <a:latin typeface="Arial" panose="020B0604020202020204" pitchFamily="34" charset="0"/>
            <a:cs typeface="Arial" panose="020B0604020202020204" pitchFamily="34" charset="0"/>
          </a:endParaRPr>
        </a:p>
      </dsp:txBody>
      <dsp:txXfrm>
        <a:off x="4780029" y="6175832"/>
        <a:ext cx="13604699" cy="1176250"/>
      </dsp:txXfrm>
    </dsp:sp>
    <dsp:sp modelId="{E8F7FA96-098B-40CC-A0B1-CCAA6332059F}">
      <dsp:nvSpPr>
        <dsp:cNvPr id="0" name=""/>
        <dsp:cNvSpPr/>
      </dsp:nvSpPr>
      <dsp:spPr>
        <a:xfrm>
          <a:off x="0" y="6175832"/>
          <a:ext cx="4780029" cy="1176250"/>
        </a:xfrm>
        <a:prstGeom prst="round2SameRect">
          <a:avLst>
            <a:gd name="adj1" fmla="val 16670"/>
            <a:gd name="adj2" fmla="val 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b="1" u="sng" kern="1200" dirty="0">
              <a:latin typeface="Arial" panose="020B0604020202020204" pitchFamily="34" charset="0"/>
              <a:cs typeface="Arial" panose="020B0604020202020204" pitchFamily="34" charset="0"/>
            </a:rPr>
            <a:t>STANDARD’S COMPLIANCE:</a:t>
          </a:r>
          <a:endParaRPr lang="en-PK" sz="1800" kern="1200" dirty="0">
            <a:latin typeface="Arial" panose="020B0604020202020204" pitchFamily="34" charset="0"/>
            <a:cs typeface="Arial" panose="020B0604020202020204" pitchFamily="34" charset="0"/>
          </a:endParaRPr>
        </a:p>
      </dsp:txBody>
      <dsp:txXfrm>
        <a:off x="57430" y="6233262"/>
        <a:ext cx="4665169" cy="1118820"/>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0.85867</cdr:x>
      <cdr:y>0.04842</cdr:y>
    </cdr:from>
    <cdr:to>
      <cdr:x>1</cdr:x>
      <cdr:y>0.27987</cdr:y>
    </cdr:to>
    <cdr:sp macro="" textlink="">
      <cdr:nvSpPr>
        <cdr:cNvPr id="2" name="TextBox 1"/>
        <cdr:cNvSpPr txBox="1"/>
      </cdr:nvSpPr>
      <cdr:spPr>
        <a:xfrm xmlns:a="http://schemas.openxmlformats.org/drawingml/2006/main">
          <a:off x="16003148" y="401223"/>
          <a:ext cx="2633986" cy="1918013"/>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2000" baseline="0" dirty="0"/>
            <a:t>5 - Optimal</a:t>
          </a:r>
          <a:endParaRPr lang="en-US" sz="2000" dirty="0"/>
        </a:p>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2000" baseline="0" dirty="0"/>
            <a:t>4 - Managed</a:t>
          </a:r>
          <a:endParaRPr lang="en-US" sz="2000" dirty="0"/>
        </a:p>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2000" baseline="0" dirty="0"/>
            <a:t>3 - Defined</a:t>
          </a:r>
          <a:endParaRPr lang="en-US" sz="2000" dirty="0"/>
        </a:p>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2000" baseline="0" dirty="0"/>
            <a:t>2 - Acknowledged</a:t>
          </a:r>
          <a:endParaRPr lang="en-US" sz="2000" dirty="0"/>
        </a:p>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2000" dirty="0"/>
            <a:t>1</a:t>
          </a:r>
          <a:r>
            <a:rPr lang="en-US" sz="2000" baseline="0" dirty="0"/>
            <a:t> - Initial</a:t>
          </a:r>
          <a:endParaRPr lang="en-US" sz="2000" dirty="0"/>
        </a:p>
        <a:p xmlns:a="http://schemas.openxmlformats.org/drawingml/2006/main">
          <a:r>
            <a:rPr lang="en-US" sz="2000" dirty="0"/>
            <a:t>0 - Non-existent</a:t>
          </a:r>
        </a:p>
        <a:p xmlns:a="http://schemas.openxmlformats.org/drawingml/2006/main">
          <a:endParaRPr lang="en-US" sz="2000" dirty="0"/>
        </a:p>
      </cdr:txBody>
    </cdr:sp>
  </cdr:relSizeAnchor>
  <cdr:relSizeAnchor xmlns:cdr="http://schemas.openxmlformats.org/drawingml/2006/chartDrawing">
    <cdr:from>
      <cdr:x>0</cdr:x>
      <cdr:y>0.09685</cdr:y>
    </cdr:from>
    <cdr:to>
      <cdr:x>0.17052</cdr:x>
      <cdr:y>0.19736</cdr:y>
    </cdr:to>
    <cdr:sp macro="" textlink="">
      <cdr:nvSpPr>
        <cdr:cNvPr id="3" name="TextBox 2">
          <a:extLst xmlns:a="http://schemas.openxmlformats.org/drawingml/2006/main">
            <a:ext uri="{FF2B5EF4-FFF2-40B4-BE49-F238E27FC236}">
              <a16:creationId xmlns:a16="http://schemas.microsoft.com/office/drawing/2014/main" id="{99DAD32C-ED2F-49EC-905E-222BFCC9A02D}"/>
            </a:ext>
          </a:extLst>
        </cdr:cNvPr>
        <cdr:cNvSpPr txBox="1"/>
      </cdr:nvSpPr>
      <cdr:spPr>
        <a:xfrm xmlns:a="http://schemas.openxmlformats.org/drawingml/2006/main">
          <a:off x="0" y="802598"/>
          <a:ext cx="3178057" cy="832899"/>
        </a:xfrm>
        <a:prstGeom xmlns:a="http://schemas.openxmlformats.org/drawingml/2006/main" prst="rect">
          <a:avLst/>
        </a:prstGeom>
      </cdr:spPr>
      <cdr:style>
        <a:lnRef xmlns:a="http://schemas.openxmlformats.org/drawingml/2006/main" idx="1">
          <a:schemeClr val="accent6"/>
        </a:lnRef>
        <a:fillRef xmlns:a="http://schemas.openxmlformats.org/drawingml/2006/main" idx="2">
          <a:schemeClr val="accent6"/>
        </a:fillRef>
        <a:effectRef xmlns:a="http://schemas.openxmlformats.org/drawingml/2006/main" idx="1">
          <a:schemeClr val="accent6"/>
        </a:effectRef>
        <a:fontRef xmlns:a="http://schemas.openxmlformats.org/drawingml/2006/main" idx="minor">
          <a:schemeClr val="dk1"/>
        </a:fontRef>
      </cdr:style>
      <cdr:txBody>
        <a:bodyPr xmlns:a="http://schemas.openxmlformats.org/drawingml/2006/main" vertOverflow="clip" wrap="square" rtlCol="0"/>
        <a:lstStyle xmlns:a="http://schemas.openxmlformats.org/drawingml/2006/main"/>
        <a:p xmlns:a="http://schemas.openxmlformats.org/drawingml/2006/main">
          <a:pPr algn="ctr"/>
          <a:r>
            <a:rPr lang="en-US" sz="2400" b="1" dirty="0"/>
            <a:t>INFOSEC OBJECTIVES</a:t>
          </a:r>
          <a:endParaRPr lang="en-PK" sz="2400" b="1"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8712200" cy="56673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11387138" y="0"/>
            <a:ext cx="8712200" cy="56673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2009775" y="5441950"/>
            <a:ext cx="16084549" cy="44545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742613"/>
            <a:ext cx="8712200" cy="56673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11387138" y="10742613"/>
            <a:ext cx="8712200" cy="56673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a3b69b2317_0_9129: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672" name="Google Shape;672;ga3b69b2317_0_912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0783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473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4258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3163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2973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552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7128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2703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5426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a3b69b2317_0_9328: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ga3b69b2317_0_93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0341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11733200" y="4289147"/>
            <a:ext cx="6852284" cy="678814"/>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4250" b="0" i="0">
                <a:solidFill>
                  <a:schemeClr val="lt1"/>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1005205" y="2601150"/>
            <a:ext cx="18093690" cy="7464171"/>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1"/>
        <p:cNvGrpSpPr/>
        <p:nvPr/>
      </p:nvGrpSpPr>
      <p:grpSpPr>
        <a:xfrm>
          <a:off x="0" y="0"/>
          <a:ext cx="0" cy="0"/>
          <a:chOff x="0" y="0"/>
          <a:chExt cx="0" cy="0"/>
        </a:xfrm>
      </p:grpSpPr>
      <p:sp>
        <p:nvSpPr>
          <p:cNvPr id="22" name="Google Shape;22;p3"/>
          <p:cNvSpPr/>
          <p:nvPr/>
        </p:nvSpPr>
        <p:spPr>
          <a:xfrm>
            <a:off x="0" y="0"/>
            <a:ext cx="20104100" cy="11308715"/>
          </a:xfrm>
          <a:custGeom>
            <a:avLst/>
            <a:gdLst/>
            <a:ahLst/>
            <a:cxnLst/>
            <a:rect l="l" t="t" r="r" b="b"/>
            <a:pathLst>
              <a:path w="20104100" h="11308715" extrusionOk="0">
                <a:moveTo>
                  <a:pt x="0" y="11308556"/>
                </a:moveTo>
                <a:lnTo>
                  <a:pt x="20104099" y="11308556"/>
                </a:lnTo>
                <a:lnTo>
                  <a:pt x="20104099" y="0"/>
                </a:lnTo>
                <a:lnTo>
                  <a:pt x="0" y="0"/>
                </a:lnTo>
                <a:lnTo>
                  <a:pt x="0" y="11308556"/>
                </a:lnTo>
                <a:close/>
              </a:path>
            </a:pathLst>
          </a:custGeom>
          <a:solidFill>
            <a:srgbClr val="2C2C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23;p3"/>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507807" y="3505898"/>
            <a:ext cx="17088487" cy="2374963"/>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3015615" y="6333236"/>
            <a:ext cx="14072870" cy="2827337"/>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11733200" y="4289147"/>
            <a:ext cx="6852284" cy="678814"/>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4250" b="0" i="0">
                <a:solidFill>
                  <a:schemeClr val="lt1"/>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1005205" y="2601150"/>
            <a:ext cx="8745284" cy="7464171"/>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5"/>
          <p:cNvSpPr txBox="1">
            <a:spLocks noGrp="1"/>
          </p:cNvSpPr>
          <p:nvPr>
            <p:ph type="body" idx="2"/>
          </p:nvPr>
        </p:nvSpPr>
        <p:spPr>
          <a:xfrm>
            <a:off x="10353611" y="2601150"/>
            <a:ext cx="8745284" cy="7464171"/>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11733200" y="4289147"/>
            <a:ext cx="6852284" cy="678814"/>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4250" b="0" i="0">
                <a:solidFill>
                  <a:schemeClr val="lt1"/>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730345" y="709949"/>
            <a:ext cx="18643200" cy="829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5300"/>
              <a:buFont typeface="Georgia"/>
              <a:buNone/>
              <a:defRPr sz="5300" b="0" i="0" u="none" strike="noStrike" cap="none">
                <a:solidFill>
                  <a:schemeClr val="dk1"/>
                </a:solidFill>
                <a:latin typeface="Georgia"/>
                <a:ea typeface="Georgia"/>
                <a:cs typeface="Georgia"/>
                <a:sym typeface="Georgia"/>
              </a:defRPr>
            </a:lvl1pPr>
            <a:lvl2pPr lvl="1" rtl="0">
              <a:spcBef>
                <a:spcPts val="0"/>
              </a:spcBef>
              <a:spcAft>
                <a:spcPts val="0"/>
              </a:spcAft>
              <a:buSzPts val="1400"/>
              <a:buNone/>
              <a:defRPr sz="3000"/>
            </a:lvl2pPr>
            <a:lvl3pPr lvl="2" rtl="0">
              <a:spcBef>
                <a:spcPts val="0"/>
              </a:spcBef>
              <a:spcAft>
                <a:spcPts val="0"/>
              </a:spcAft>
              <a:buSzPts val="1400"/>
              <a:buNone/>
              <a:defRPr sz="3000"/>
            </a:lvl3pPr>
            <a:lvl4pPr lvl="3" rtl="0">
              <a:spcBef>
                <a:spcPts val="0"/>
              </a:spcBef>
              <a:spcAft>
                <a:spcPts val="0"/>
              </a:spcAft>
              <a:buSzPts val="1400"/>
              <a:buNone/>
              <a:defRPr sz="3000"/>
            </a:lvl4pPr>
            <a:lvl5pPr lvl="4" rtl="0">
              <a:spcBef>
                <a:spcPts val="0"/>
              </a:spcBef>
              <a:spcAft>
                <a:spcPts val="0"/>
              </a:spcAft>
              <a:buSzPts val="1400"/>
              <a:buNone/>
              <a:defRPr sz="3000"/>
            </a:lvl5pPr>
            <a:lvl6pPr lvl="5" rtl="0">
              <a:spcBef>
                <a:spcPts val="0"/>
              </a:spcBef>
              <a:spcAft>
                <a:spcPts val="0"/>
              </a:spcAft>
              <a:buSzPts val="1400"/>
              <a:buNone/>
              <a:defRPr sz="3000"/>
            </a:lvl6pPr>
            <a:lvl7pPr lvl="6" rtl="0">
              <a:spcBef>
                <a:spcPts val="0"/>
              </a:spcBef>
              <a:spcAft>
                <a:spcPts val="0"/>
              </a:spcAft>
              <a:buSzPts val="1400"/>
              <a:buNone/>
              <a:defRPr sz="3000"/>
            </a:lvl7pPr>
            <a:lvl8pPr lvl="7" rtl="0">
              <a:spcBef>
                <a:spcPts val="0"/>
              </a:spcBef>
              <a:spcAft>
                <a:spcPts val="0"/>
              </a:spcAft>
              <a:buSzPts val="1400"/>
              <a:buNone/>
              <a:defRPr sz="3000"/>
            </a:lvl8pPr>
            <a:lvl9pPr lvl="8" rtl="0">
              <a:spcBef>
                <a:spcPts val="0"/>
              </a:spcBef>
              <a:spcAft>
                <a:spcPts val="0"/>
              </a:spcAft>
              <a:buSzPts val="1400"/>
              <a:buNone/>
              <a:defRPr sz="3000"/>
            </a:lvl9pPr>
          </a:lstStyle>
          <a:p>
            <a:endParaRPr/>
          </a:p>
        </p:txBody>
      </p:sp>
      <p:sp>
        <p:nvSpPr>
          <p:cNvPr id="46" name="Google Shape;46;p7"/>
          <p:cNvSpPr txBox="1">
            <a:spLocks noGrp="1"/>
          </p:cNvSpPr>
          <p:nvPr>
            <p:ph type="body" idx="1"/>
          </p:nvPr>
        </p:nvSpPr>
        <p:spPr>
          <a:xfrm>
            <a:off x="730345" y="3468725"/>
            <a:ext cx="12232500" cy="6709800"/>
          </a:xfrm>
          <a:prstGeom prst="rect">
            <a:avLst/>
          </a:prstGeom>
          <a:noFill/>
          <a:ln>
            <a:noFill/>
          </a:ln>
        </p:spPr>
        <p:txBody>
          <a:bodyPr spcFirstLastPara="1" wrap="square" lIns="0" tIns="0" rIns="0" bIns="0" anchor="t" anchorCtr="0">
            <a:noAutofit/>
          </a:bodyPr>
          <a:lstStyle>
            <a:lvl1pPr marL="457200" marR="0" lvl="0" indent="-393700" algn="l" rtl="0">
              <a:lnSpc>
                <a:spcPct val="100000"/>
              </a:lnSpc>
              <a:spcBef>
                <a:spcPts val="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1pPr>
            <a:lvl2pPr marL="914400" marR="0" lvl="1"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2pPr>
            <a:lvl3pPr marL="1371600" marR="0" lvl="2"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3pPr>
            <a:lvl4pPr marL="1828800" marR="0" lvl="3"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4pPr>
            <a:lvl5pPr marL="2286000" marR="0" lvl="4"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5pPr>
            <a:lvl6pPr marL="2743200" marR="0" lvl="5"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6pPr>
            <a:lvl7pPr marL="3200400" marR="0" lvl="6"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7pPr>
            <a:lvl8pPr marL="3657600" marR="0" lvl="7"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8pPr>
            <a:lvl9pPr marL="4114800" marR="0" lvl="8" indent="-393700" algn="l" rtl="0">
              <a:lnSpc>
                <a:spcPct val="100000"/>
              </a:lnSpc>
              <a:spcBef>
                <a:spcPts val="1000"/>
              </a:spcBef>
              <a:spcAft>
                <a:spcPts val="1000"/>
              </a:spcAft>
              <a:buClr>
                <a:schemeClr val="dk1"/>
              </a:buClr>
              <a:buSzPts val="2600"/>
              <a:buFont typeface="Arial"/>
              <a:buChar char="•"/>
              <a:defRPr sz="2600" b="0" i="0" u="none" strike="noStrike" cap="none">
                <a:solidFill>
                  <a:schemeClr val="dk1"/>
                </a:solidFill>
                <a:latin typeface="Arial"/>
                <a:ea typeface="Arial"/>
                <a:cs typeface="Arial"/>
                <a:sym typeface="Arial"/>
              </a:defRPr>
            </a:lvl9pPr>
          </a:lstStyle>
          <a:p>
            <a:endParaRPr/>
          </a:p>
        </p:txBody>
      </p:sp>
      <p:sp>
        <p:nvSpPr>
          <p:cNvPr id="47" name="Google Shape;47;p7"/>
          <p:cNvSpPr txBox="1">
            <a:spLocks noGrp="1"/>
          </p:cNvSpPr>
          <p:nvPr>
            <p:ph type="sldNum" idx="12"/>
          </p:nvPr>
        </p:nvSpPr>
        <p:spPr>
          <a:xfrm>
            <a:off x="13551946" y="10706184"/>
            <a:ext cx="5822100" cy="2262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a:solidFill>
                  <a:schemeClr val="dk1"/>
                </a:solidFill>
                <a:latin typeface="Arial"/>
                <a:ea typeface="Arial"/>
                <a:cs typeface="Arial"/>
                <a:sym typeface="Arial"/>
              </a:defRPr>
            </a:lvl1pPr>
            <a:lvl2pPr marL="0" marR="0" lvl="1" indent="0" algn="r" rtl="0">
              <a:spcBef>
                <a:spcPts val="0"/>
              </a:spcBef>
              <a:buNone/>
              <a:defRPr sz="1200">
                <a:solidFill>
                  <a:schemeClr val="dk1"/>
                </a:solidFill>
                <a:latin typeface="Arial"/>
                <a:ea typeface="Arial"/>
                <a:cs typeface="Arial"/>
                <a:sym typeface="Arial"/>
              </a:defRPr>
            </a:lvl2pPr>
            <a:lvl3pPr marL="0" marR="0" lvl="2" indent="0" algn="r" rtl="0">
              <a:spcBef>
                <a:spcPts val="0"/>
              </a:spcBef>
              <a:buNone/>
              <a:defRPr sz="1200">
                <a:solidFill>
                  <a:schemeClr val="dk1"/>
                </a:solidFill>
                <a:latin typeface="Arial"/>
                <a:ea typeface="Arial"/>
                <a:cs typeface="Arial"/>
                <a:sym typeface="Arial"/>
              </a:defRPr>
            </a:lvl3pPr>
            <a:lvl4pPr marL="0" marR="0" lvl="3" indent="0" algn="r" rtl="0">
              <a:spcBef>
                <a:spcPts val="0"/>
              </a:spcBef>
              <a:buNone/>
              <a:defRPr sz="1200">
                <a:solidFill>
                  <a:schemeClr val="dk1"/>
                </a:solidFill>
                <a:latin typeface="Arial"/>
                <a:ea typeface="Arial"/>
                <a:cs typeface="Arial"/>
                <a:sym typeface="Arial"/>
              </a:defRPr>
            </a:lvl4pPr>
            <a:lvl5pPr marL="0" marR="0" lvl="4" indent="0" algn="r" rtl="0">
              <a:spcBef>
                <a:spcPts val="0"/>
              </a:spcBef>
              <a:buNone/>
              <a:defRPr sz="1200">
                <a:solidFill>
                  <a:schemeClr val="dk1"/>
                </a:solidFill>
                <a:latin typeface="Arial"/>
                <a:ea typeface="Arial"/>
                <a:cs typeface="Arial"/>
                <a:sym typeface="Arial"/>
              </a:defRPr>
            </a:lvl5pPr>
            <a:lvl6pPr marL="0" marR="0" lvl="5" indent="0" algn="r" rtl="0">
              <a:spcBef>
                <a:spcPts val="0"/>
              </a:spcBef>
              <a:buNone/>
              <a:defRPr sz="1200">
                <a:solidFill>
                  <a:schemeClr val="dk1"/>
                </a:solidFill>
                <a:latin typeface="Arial"/>
                <a:ea typeface="Arial"/>
                <a:cs typeface="Arial"/>
                <a:sym typeface="Arial"/>
              </a:defRPr>
            </a:lvl6pPr>
            <a:lvl7pPr marL="0" marR="0" lvl="6" indent="0" algn="r" rtl="0">
              <a:spcBef>
                <a:spcPts val="0"/>
              </a:spcBef>
              <a:buNone/>
              <a:defRPr sz="1200">
                <a:solidFill>
                  <a:schemeClr val="dk1"/>
                </a:solidFill>
                <a:latin typeface="Arial"/>
                <a:ea typeface="Arial"/>
                <a:cs typeface="Arial"/>
                <a:sym typeface="Arial"/>
              </a:defRPr>
            </a:lvl7pPr>
            <a:lvl8pPr marL="0" marR="0" lvl="7" indent="0" algn="r" rtl="0">
              <a:spcBef>
                <a:spcPts val="0"/>
              </a:spcBef>
              <a:buNone/>
              <a:defRPr sz="1200">
                <a:solidFill>
                  <a:schemeClr val="dk1"/>
                </a:solidFill>
                <a:latin typeface="Arial"/>
                <a:ea typeface="Arial"/>
                <a:cs typeface="Arial"/>
                <a:sym typeface="Arial"/>
              </a:defRPr>
            </a:lvl8pPr>
            <a:lvl9pPr marL="0" marR="0" lvl="8" indent="0" algn="r" rtl="0">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7"/>
          <p:cNvSpPr txBox="1">
            <a:spLocks noGrp="1"/>
          </p:cNvSpPr>
          <p:nvPr>
            <p:ph type="subTitle" idx="2"/>
          </p:nvPr>
        </p:nvSpPr>
        <p:spPr>
          <a:xfrm>
            <a:off x="730343" y="1539300"/>
            <a:ext cx="18643200" cy="1461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hank You Light">
  <p:cSld name="Thank You Light">
    <p:bg>
      <p:bgPr>
        <a:solidFill>
          <a:schemeClr val="lt1"/>
        </a:solidFill>
        <a:effectLst/>
      </p:bgPr>
    </p:bg>
    <p:spTree>
      <p:nvGrpSpPr>
        <p:cNvPr id="1" name="Shape 49"/>
        <p:cNvGrpSpPr/>
        <p:nvPr/>
      </p:nvGrpSpPr>
      <p:grpSpPr>
        <a:xfrm>
          <a:off x="0" y="0"/>
          <a:ext cx="0" cy="0"/>
          <a:chOff x="0" y="0"/>
          <a:chExt cx="0" cy="0"/>
        </a:xfrm>
      </p:grpSpPr>
      <p:sp>
        <p:nvSpPr>
          <p:cNvPr id="50" name="Google Shape;50;p8"/>
          <p:cNvSpPr/>
          <p:nvPr/>
        </p:nvSpPr>
        <p:spPr>
          <a:xfrm>
            <a:off x="0" y="0"/>
            <a:ext cx="20104200" cy="11309400"/>
          </a:xfrm>
          <a:prstGeom prst="rect">
            <a:avLst/>
          </a:prstGeom>
          <a:solidFill>
            <a:srgbClr val="464646"/>
          </a:solidFill>
          <a:ln>
            <a:noFill/>
          </a:ln>
        </p:spPr>
        <p:txBody>
          <a:bodyPr spcFirstLastPara="1" wrap="square" lIns="150750" tIns="75350" rIns="150750" bIns="75350" anchor="ctr" anchorCtr="0">
            <a:noAutofit/>
          </a:bodyPr>
          <a:lstStyle/>
          <a:p>
            <a:pPr marL="0" marR="0" lvl="0" indent="0" algn="ctr" rtl="0">
              <a:spcBef>
                <a:spcPts val="0"/>
              </a:spcBef>
              <a:spcAft>
                <a:spcPts val="0"/>
              </a:spcAft>
              <a:buNone/>
            </a:pPr>
            <a:endParaRPr sz="3000" b="0" i="0" u="none" strike="noStrike" cap="none">
              <a:solidFill>
                <a:schemeClr val="lt1"/>
              </a:solidFill>
              <a:latin typeface="Arial"/>
              <a:ea typeface="Arial"/>
              <a:cs typeface="Arial"/>
              <a:sym typeface="Arial"/>
            </a:endParaRPr>
          </a:p>
        </p:txBody>
      </p:sp>
      <p:sp>
        <p:nvSpPr>
          <p:cNvPr id="51" name="Google Shape;51;p8"/>
          <p:cNvSpPr txBox="1">
            <a:spLocks noGrp="1"/>
          </p:cNvSpPr>
          <p:nvPr>
            <p:ph type="ctrTitle"/>
          </p:nvPr>
        </p:nvSpPr>
        <p:spPr>
          <a:xfrm>
            <a:off x="730347" y="706834"/>
            <a:ext cx="9026100" cy="4005300"/>
          </a:xfrm>
          <a:prstGeom prst="rect">
            <a:avLst/>
          </a:prstGeom>
          <a:noFill/>
          <a:ln>
            <a:noFill/>
          </a:ln>
        </p:spPr>
        <p:txBody>
          <a:bodyPr spcFirstLastPara="1" wrap="square" lIns="0" tIns="0" rIns="0" bIns="0" anchor="b" anchorCtr="0">
            <a:noAutofit/>
          </a:bodyPr>
          <a:lstStyle>
            <a:lvl1pPr lvl="0" algn="l" rtl="0">
              <a:lnSpc>
                <a:spcPct val="85000"/>
              </a:lnSpc>
              <a:spcBef>
                <a:spcPts val="0"/>
              </a:spcBef>
              <a:spcAft>
                <a:spcPts val="0"/>
              </a:spcAft>
              <a:buClr>
                <a:schemeClr val="lt1"/>
              </a:buClr>
              <a:buSzPts val="9600"/>
              <a:buFont typeface="Georgia"/>
              <a:buNone/>
              <a:defRPr sz="9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 name="Google Shape;52;p8"/>
          <p:cNvSpPr/>
          <p:nvPr/>
        </p:nvSpPr>
        <p:spPr>
          <a:xfrm>
            <a:off x="8795544" y="0"/>
            <a:ext cx="11308500" cy="11309400"/>
          </a:xfrm>
          <a:prstGeom prst="rect">
            <a:avLst/>
          </a:prstGeom>
          <a:noFill/>
          <a:ln>
            <a:noFill/>
          </a:ln>
        </p:spPr>
        <p:txBody>
          <a:bodyPr spcFirstLastPara="1" wrap="square" lIns="150750" tIns="75350" rIns="150750" bIns="75350" anchor="t" anchorCtr="0">
            <a:noAutofit/>
          </a:bodyPr>
          <a:lstStyle/>
          <a:p>
            <a:pPr marL="0" marR="0" lvl="0" indent="0" algn="l" rtl="0">
              <a:spcBef>
                <a:spcPts val="0"/>
              </a:spcBef>
              <a:spcAft>
                <a:spcPts val="0"/>
              </a:spcAft>
              <a:buNone/>
            </a:pPr>
            <a:endParaRPr sz="3000">
              <a:solidFill>
                <a:schemeClr val="dk1"/>
              </a:solidFill>
              <a:latin typeface="Arial"/>
              <a:ea typeface="Arial"/>
              <a:cs typeface="Arial"/>
              <a:sym typeface="Arial"/>
            </a:endParaRPr>
          </a:p>
        </p:txBody>
      </p:sp>
      <p:sp>
        <p:nvSpPr>
          <p:cNvPr id="53" name="Google Shape;53;p8"/>
          <p:cNvSpPr txBox="1">
            <a:spLocks noGrp="1"/>
          </p:cNvSpPr>
          <p:nvPr>
            <p:ph type="body" idx="1"/>
          </p:nvPr>
        </p:nvSpPr>
        <p:spPr>
          <a:xfrm>
            <a:off x="730343" y="8673470"/>
            <a:ext cx="18643200" cy="2394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lt1"/>
              </a:buClr>
              <a:buSzPts val="2000"/>
              <a:buFont typeface="Arial"/>
              <a:buNone/>
              <a:defRPr sz="2000" b="0">
                <a:solidFill>
                  <a:schemeClr val="lt1"/>
                </a:solidFill>
              </a:defRPr>
            </a:lvl1pPr>
            <a:lvl2pPr marL="914400" lvl="1" indent="-228600" algn="l" rtl="0">
              <a:lnSpc>
                <a:spcPct val="100000"/>
              </a:lnSpc>
              <a:spcBef>
                <a:spcPts val="0"/>
              </a:spcBef>
              <a:spcAft>
                <a:spcPts val="0"/>
              </a:spcAft>
              <a:buClr>
                <a:schemeClr val="lt1"/>
              </a:buClr>
              <a:buSzPts val="2000"/>
              <a:buFont typeface="Arial"/>
              <a:buNone/>
              <a:defRPr sz="2000" b="0">
                <a:solidFill>
                  <a:schemeClr val="lt1"/>
                </a:solidFill>
              </a:defRPr>
            </a:lvl2pPr>
            <a:lvl3pPr marL="1371600" lvl="2" indent="-228600" algn="l" rtl="0">
              <a:lnSpc>
                <a:spcPct val="100000"/>
              </a:lnSpc>
              <a:spcBef>
                <a:spcPts val="0"/>
              </a:spcBef>
              <a:spcAft>
                <a:spcPts val="0"/>
              </a:spcAft>
              <a:buClr>
                <a:schemeClr val="lt1"/>
              </a:buClr>
              <a:buSzPts val="2000"/>
              <a:buFont typeface="Arial"/>
              <a:buNone/>
              <a:defRPr sz="2000" b="0">
                <a:solidFill>
                  <a:schemeClr val="lt1"/>
                </a:solidFill>
              </a:defRPr>
            </a:lvl3pPr>
            <a:lvl4pPr marL="1828800" lvl="3" indent="-228600" algn="l" rtl="0">
              <a:lnSpc>
                <a:spcPct val="100000"/>
              </a:lnSpc>
              <a:spcBef>
                <a:spcPts val="0"/>
              </a:spcBef>
              <a:spcAft>
                <a:spcPts val="0"/>
              </a:spcAft>
              <a:buClr>
                <a:schemeClr val="lt1"/>
              </a:buClr>
              <a:buSzPts val="2000"/>
              <a:buFont typeface="Arial"/>
              <a:buNone/>
              <a:defRPr sz="2000" b="0">
                <a:solidFill>
                  <a:schemeClr val="lt1"/>
                </a:solidFill>
              </a:defRPr>
            </a:lvl4pPr>
            <a:lvl5pPr marL="2286000" lvl="4" indent="-228600" algn="l" rtl="0">
              <a:lnSpc>
                <a:spcPct val="100000"/>
              </a:lnSpc>
              <a:spcBef>
                <a:spcPts val="0"/>
              </a:spcBef>
              <a:spcAft>
                <a:spcPts val="0"/>
              </a:spcAft>
              <a:buClr>
                <a:schemeClr val="lt1"/>
              </a:buClr>
              <a:buSzPts val="2000"/>
              <a:buFont typeface="Arial"/>
              <a:buNone/>
              <a:defRPr sz="2000" b="0">
                <a:solidFill>
                  <a:schemeClr val="lt1"/>
                </a:solidFill>
              </a:defRPr>
            </a:lvl5pPr>
            <a:lvl6pPr marL="2743200" lvl="5" indent="-228600" algn="l" rtl="0">
              <a:lnSpc>
                <a:spcPct val="100000"/>
              </a:lnSpc>
              <a:spcBef>
                <a:spcPts val="0"/>
              </a:spcBef>
              <a:spcAft>
                <a:spcPts val="0"/>
              </a:spcAft>
              <a:buClr>
                <a:schemeClr val="lt1"/>
              </a:buClr>
              <a:buSzPts val="2000"/>
              <a:buFont typeface="Arial"/>
              <a:buNone/>
              <a:defRPr sz="2000">
                <a:solidFill>
                  <a:schemeClr val="lt1"/>
                </a:solidFill>
              </a:defRPr>
            </a:lvl6pPr>
            <a:lvl7pPr marL="3200400" lvl="6" indent="-228600" algn="l" rtl="0">
              <a:lnSpc>
                <a:spcPct val="100000"/>
              </a:lnSpc>
              <a:spcBef>
                <a:spcPts val="0"/>
              </a:spcBef>
              <a:spcAft>
                <a:spcPts val="0"/>
              </a:spcAft>
              <a:buClr>
                <a:schemeClr val="lt1"/>
              </a:buClr>
              <a:buSzPts val="2000"/>
              <a:buFont typeface="Arial"/>
              <a:buNone/>
              <a:defRPr sz="2000">
                <a:solidFill>
                  <a:schemeClr val="lt1"/>
                </a:solidFill>
              </a:defRPr>
            </a:lvl7pPr>
            <a:lvl8pPr marL="3657600" lvl="7" indent="-228600" algn="l" rtl="0">
              <a:lnSpc>
                <a:spcPct val="100000"/>
              </a:lnSpc>
              <a:spcBef>
                <a:spcPts val="0"/>
              </a:spcBef>
              <a:spcAft>
                <a:spcPts val="0"/>
              </a:spcAft>
              <a:buClr>
                <a:schemeClr val="lt1"/>
              </a:buClr>
              <a:buSzPts val="2000"/>
              <a:buFont typeface="Arial"/>
              <a:buNone/>
              <a:defRPr sz="2000">
                <a:solidFill>
                  <a:schemeClr val="lt1"/>
                </a:solidFill>
              </a:defRPr>
            </a:lvl8pPr>
            <a:lvl9pPr marL="4114800" lvl="8" indent="-228600" algn="l" rtl="0">
              <a:lnSpc>
                <a:spcPct val="100000"/>
              </a:lnSpc>
              <a:spcBef>
                <a:spcPts val="0"/>
              </a:spcBef>
              <a:spcAft>
                <a:spcPts val="0"/>
              </a:spcAft>
              <a:buClr>
                <a:schemeClr val="lt1"/>
              </a:buClr>
              <a:buSzPts val="2000"/>
              <a:buFont typeface="Arial"/>
              <a:buNone/>
              <a:defRPr sz="2000">
                <a:solidFill>
                  <a:schemeClr val="lt1"/>
                </a:solidFill>
              </a:defRPr>
            </a:lvl9pPr>
          </a:lstStyle>
          <a:p>
            <a:endParaRPr/>
          </a:p>
        </p:txBody>
      </p:sp>
      <p:sp>
        <p:nvSpPr>
          <p:cNvPr id="54" name="Google Shape;54;p8"/>
          <p:cNvSpPr/>
          <p:nvPr/>
        </p:nvSpPr>
        <p:spPr>
          <a:xfrm>
            <a:off x="8795544" y="0"/>
            <a:ext cx="11308500" cy="11309400"/>
          </a:xfrm>
          <a:prstGeom prst="rect">
            <a:avLst/>
          </a:prstGeom>
          <a:noFill/>
          <a:ln>
            <a:noFill/>
          </a:ln>
        </p:spPr>
        <p:txBody>
          <a:bodyPr spcFirstLastPara="1" wrap="square" lIns="150750" tIns="75350" rIns="150750" bIns="75350" anchor="t" anchorCtr="0">
            <a:noAutofit/>
          </a:bodyPr>
          <a:lstStyle/>
          <a:p>
            <a:pPr marL="0" marR="0" lvl="0" indent="0" algn="l" rtl="0">
              <a:spcBef>
                <a:spcPts val="0"/>
              </a:spcBef>
              <a:spcAft>
                <a:spcPts val="0"/>
              </a:spcAft>
              <a:buNone/>
            </a:pPr>
            <a:endParaRPr sz="3000">
              <a:solidFill>
                <a:schemeClr val="dk1"/>
              </a:solidFill>
              <a:latin typeface="Arial"/>
              <a:ea typeface="Arial"/>
              <a:cs typeface="Arial"/>
              <a:sym typeface="Arial"/>
            </a:endParaRPr>
          </a:p>
        </p:txBody>
      </p:sp>
      <p:sp>
        <p:nvSpPr>
          <p:cNvPr id="55" name="Google Shape;55;p8"/>
          <p:cNvSpPr txBox="1"/>
          <p:nvPr/>
        </p:nvSpPr>
        <p:spPr>
          <a:xfrm>
            <a:off x="730345" y="7256830"/>
            <a:ext cx="9026100" cy="56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pwc.com</a:t>
            </a:r>
            <a:endParaRPr sz="200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11733200" y="4289147"/>
            <a:ext cx="6852300" cy="6789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sz="4250" b="0" i="0">
                <a:solidFill>
                  <a:schemeClr val="lt1"/>
                </a:solidFill>
                <a:latin typeface="Georgia"/>
                <a:ea typeface="Georgia"/>
                <a:cs typeface="Georgia"/>
                <a:sym typeface="Georgi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 name="Google Shape;64;p10"/>
          <p:cNvSpPr txBox="1">
            <a:spLocks noGrp="1"/>
          </p:cNvSpPr>
          <p:nvPr>
            <p:ph type="body" idx="1"/>
          </p:nvPr>
        </p:nvSpPr>
        <p:spPr>
          <a:xfrm>
            <a:off x="1005205" y="2601150"/>
            <a:ext cx="18093600" cy="7464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4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
        <p:nvSpPr>
          <p:cNvPr id="65" name="Google Shape;65;p10"/>
          <p:cNvSpPr txBox="1">
            <a:spLocks noGrp="1"/>
          </p:cNvSpPr>
          <p:nvPr>
            <p:ph type="ftr" idx="11"/>
          </p:nvPr>
        </p:nvSpPr>
        <p:spPr>
          <a:xfrm>
            <a:off x="6835394" y="10517696"/>
            <a:ext cx="6433200" cy="5655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10"/>
          <p:cNvSpPr txBox="1">
            <a:spLocks noGrp="1"/>
          </p:cNvSpPr>
          <p:nvPr>
            <p:ph type="dt" idx="10"/>
          </p:nvPr>
        </p:nvSpPr>
        <p:spPr>
          <a:xfrm>
            <a:off x="1005205" y="10517696"/>
            <a:ext cx="4623900" cy="5655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14474953" y="10517696"/>
            <a:ext cx="4623900" cy="565500"/>
          </a:xfrm>
          <a:prstGeom prst="rect">
            <a:avLst/>
          </a:prstGeom>
          <a:noFill/>
          <a:ln>
            <a:noFill/>
          </a:ln>
        </p:spPr>
        <p:txBody>
          <a:bodyPr spcFirstLastPara="1" wrap="square" lIns="0" tIns="0" rIns="0" bIns="0" anchor="t"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73"/>
        <p:cNvGrpSpPr/>
        <p:nvPr/>
      </p:nvGrpSpPr>
      <p:grpSpPr>
        <a:xfrm>
          <a:off x="0" y="0"/>
          <a:ext cx="0" cy="0"/>
          <a:chOff x="0" y="0"/>
          <a:chExt cx="0" cy="0"/>
        </a:xfrm>
      </p:grpSpPr>
      <p:sp>
        <p:nvSpPr>
          <p:cNvPr id="74" name="Google Shape;74;p12"/>
          <p:cNvSpPr txBox="1">
            <a:spLocks noGrp="1"/>
          </p:cNvSpPr>
          <p:nvPr>
            <p:ph type="ctrTitle"/>
          </p:nvPr>
        </p:nvSpPr>
        <p:spPr>
          <a:xfrm>
            <a:off x="1507807" y="3505898"/>
            <a:ext cx="17088600" cy="23751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 name="Google Shape;75;p12"/>
          <p:cNvSpPr txBox="1">
            <a:spLocks noGrp="1"/>
          </p:cNvSpPr>
          <p:nvPr>
            <p:ph type="subTitle" idx="1"/>
          </p:nvPr>
        </p:nvSpPr>
        <p:spPr>
          <a:xfrm>
            <a:off x="3015615" y="6333236"/>
            <a:ext cx="14073000" cy="28272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6835394" y="10517696"/>
            <a:ext cx="6433200" cy="5655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 name="Google Shape;77;p12"/>
          <p:cNvSpPr txBox="1">
            <a:spLocks noGrp="1"/>
          </p:cNvSpPr>
          <p:nvPr>
            <p:ph type="dt" idx="10"/>
          </p:nvPr>
        </p:nvSpPr>
        <p:spPr>
          <a:xfrm>
            <a:off x="1005205" y="10517696"/>
            <a:ext cx="4623900" cy="5655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12"/>
          <p:cNvSpPr txBox="1">
            <a:spLocks noGrp="1"/>
          </p:cNvSpPr>
          <p:nvPr>
            <p:ph type="sldNum" idx="12"/>
          </p:nvPr>
        </p:nvSpPr>
        <p:spPr>
          <a:xfrm>
            <a:off x="14474953" y="10517696"/>
            <a:ext cx="4623900" cy="565500"/>
          </a:xfrm>
          <a:prstGeom prst="rect">
            <a:avLst/>
          </a:prstGeom>
          <a:noFill/>
          <a:ln>
            <a:noFill/>
          </a:ln>
        </p:spPr>
        <p:txBody>
          <a:bodyPr spcFirstLastPara="1" wrap="square" lIns="0" tIns="0" rIns="0" bIns="0" anchor="t"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9"/>
        <p:cNvGrpSpPr/>
        <p:nvPr/>
      </p:nvGrpSpPr>
      <p:grpSpPr>
        <a:xfrm>
          <a:off x="0" y="0"/>
          <a:ext cx="0" cy="0"/>
          <a:chOff x="0" y="0"/>
          <a:chExt cx="0" cy="0"/>
        </a:xfrm>
      </p:grpSpPr>
      <p:sp>
        <p:nvSpPr>
          <p:cNvPr id="80" name="Google Shape;80;p13"/>
          <p:cNvSpPr txBox="1">
            <a:spLocks noGrp="1"/>
          </p:cNvSpPr>
          <p:nvPr>
            <p:ph type="title"/>
          </p:nvPr>
        </p:nvSpPr>
        <p:spPr>
          <a:xfrm>
            <a:off x="11733200" y="4289147"/>
            <a:ext cx="6852300" cy="6789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sz="4250" b="0" i="0">
                <a:solidFill>
                  <a:schemeClr val="lt1"/>
                </a:solidFill>
                <a:latin typeface="Georgia"/>
                <a:ea typeface="Georgia"/>
                <a:cs typeface="Georgia"/>
                <a:sym typeface="Georgi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 name="Google Shape;81;p13"/>
          <p:cNvSpPr txBox="1">
            <a:spLocks noGrp="1"/>
          </p:cNvSpPr>
          <p:nvPr>
            <p:ph type="body" idx="1"/>
          </p:nvPr>
        </p:nvSpPr>
        <p:spPr>
          <a:xfrm>
            <a:off x="1005205" y="2601150"/>
            <a:ext cx="8745300" cy="7464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4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
        <p:nvSpPr>
          <p:cNvPr id="82" name="Google Shape;82;p13"/>
          <p:cNvSpPr txBox="1">
            <a:spLocks noGrp="1"/>
          </p:cNvSpPr>
          <p:nvPr>
            <p:ph type="body" idx="2"/>
          </p:nvPr>
        </p:nvSpPr>
        <p:spPr>
          <a:xfrm>
            <a:off x="10353611" y="2601150"/>
            <a:ext cx="8745300" cy="7464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4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
        <p:nvSpPr>
          <p:cNvPr id="83" name="Google Shape;83;p13"/>
          <p:cNvSpPr txBox="1">
            <a:spLocks noGrp="1"/>
          </p:cNvSpPr>
          <p:nvPr>
            <p:ph type="ftr" idx="11"/>
          </p:nvPr>
        </p:nvSpPr>
        <p:spPr>
          <a:xfrm>
            <a:off x="6835394" y="10517696"/>
            <a:ext cx="6433200" cy="5655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13"/>
          <p:cNvSpPr txBox="1">
            <a:spLocks noGrp="1"/>
          </p:cNvSpPr>
          <p:nvPr>
            <p:ph type="dt" idx="10"/>
          </p:nvPr>
        </p:nvSpPr>
        <p:spPr>
          <a:xfrm>
            <a:off x="1005205" y="10517696"/>
            <a:ext cx="4623900" cy="5655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13"/>
          <p:cNvSpPr txBox="1">
            <a:spLocks noGrp="1"/>
          </p:cNvSpPr>
          <p:nvPr>
            <p:ph type="sldNum" idx="12"/>
          </p:nvPr>
        </p:nvSpPr>
        <p:spPr>
          <a:xfrm>
            <a:off x="14474953" y="10517696"/>
            <a:ext cx="4623900" cy="565500"/>
          </a:xfrm>
          <a:prstGeom prst="rect">
            <a:avLst/>
          </a:prstGeom>
          <a:noFill/>
          <a:ln>
            <a:noFill/>
          </a:ln>
        </p:spPr>
        <p:txBody>
          <a:bodyPr spcFirstLastPara="1" wrap="square" lIns="0" tIns="0" rIns="0" bIns="0" anchor="t"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6"/>
        <p:cNvGrpSpPr/>
        <p:nvPr/>
      </p:nvGrpSpPr>
      <p:grpSpPr>
        <a:xfrm>
          <a:off x="0" y="0"/>
          <a:ext cx="0" cy="0"/>
          <a:chOff x="0" y="0"/>
          <a:chExt cx="0" cy="0"/>
        </a:xfrm>
      </p:grpSpPr>
      <p:sp>
        <p:nvSpPr>
          <p:cNvPr id="87" name="Google Shape;87;p14"/>
          <p:cNvSpPr txBox="1">
            <a:spLocks noGrp="1"/>
          </p:cNvSpPr>
          <p:nvPr>
            <p:ph type="title"/>
          </p:nvPr>
        </p:nvSpPr>
        <p:spPr>
          <a:xfrm>
            <a:off x="11733200" y="4289147"/>
            <a:ext cx="6852300" cy="6789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sz="4250" b="0" i="0">
                <a:solidFill>
                  <a:schemeClr val="lt1"/>
                </a:solidFill>
                <a:latin typeface="Georgia"/>
                <a:ea typeface="Georgia"/>
                <a:cs typeface="Georgia"/>
                <a:sym typeface="Georgi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 name="Google Shape;88;p14"/>
          <p:cNvSpPr txBox="1">
            <a:spLocks noGrp="1"/>
          </p:cNvSpPr>
          <p:nvPr>
            <p:ph type="ftr" idx="11"/>
          </p:nvPr>
        </p:nvSpPr>
        <p:spPr>
          <a:xfrm>
            <a:off x="6835394" y="10517696"/>
            <a:ext cx="6433200" cy="5655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 name="Google Shape;89;p14"/>
          <p:cNvSpPr txBox="1">
            <a:spLocks noGrp="1"/>
          </p:cNvSpPr>
          <p:nvPr>
            <p:ph type="dt" idx="10"/>
          </p:nvPr>
        </p:nvSpPr>
        <p:spPr>
          <a:xfrm>
            <a:off x="1005205" y="10517696"/>
            <a:ext cx="4623900" cy="5655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14"/>
          <p:cNvSpPr txBox="1">
            <a:spLocks noGrp="1"/>
          </p:cNvSpPr>
          <p:nvPr>
            <p:ph type="sldNum" idx="12"/>
          </p:nvPr>
        </p:nvSpPr>
        <p:spPr>
          <a:xfrm>
            <a:off x="14474953" y="10517696"/>
            <a:ext cx="4623900" cy="565500"/>
          </a:xfrm>
          <a:prstGeom prst="rect">
            <a:avLst/>
          </a:prstGeom>
          <a:noFill/>
          <a:ln>
            <a:noFill/>
          </a:ln>
        </p:spPr>
        <p:txBody>
          <a:bodyPr spcFirstLastPara="1" wrap="square" lIns="0" tIns="0" rIns="0" bIns="0" anchor="t"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730345" y="709949"/>
            <a:ext cx="18643200" cy="829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5300"/>
              <a:buFont typeface="Georgia"/>
              <a:buNone/>
              <a:defRPr sz="5300" b="0" i="0" u="none" strike="noStrike" cap="none">
                <a:solidFill>
                  <a:schemeClr val="dk1"/>
                </a:solidFill>
                <a:latin typeface="Georgia"/>
                <a:ea typeface="Georgia"/>
                <a:cs typeface="Georgia"/>
                <a:sym typeface="Georgia"/>
              </a:defRPr>
            </a:lvl1pPr>
            <a:lvl2pPr lvl="1" rtl="0">
              <a:spcBef>
                <a:spcPts val="0"/>
              </a:spcBef>
              <a:spcAft>
                <a:spcPts val="0"/>
              </a:spcAft>
              <a:buSzPts val="1400"/>
              <a:buNone/>
              <a:defRPr sz="3000"/>
            </a:lvl2pPr>
            <a:lvl3pPr lvl="2" rtl="0">
              <a:spcBef>
                <a:spcPts val="0"/>
              </a:spcBef>
              <a:spcAft>
                <a:spcPts val="0"/>
              </a:spcAft>
              <a:buSzPts val="1400"/>
              <a:buNone/>
              <a:defRPr sz="3000"/>
            </a:lvl3pPr>
            <a:lvl4pPr lvl="3" rtl="0">
              <a:spcBef>
                <a:spcPts val="0"/>
              </a:spcBef>
              <a:spcAft>
                <a:spcPts val="0"/>
              </a:spcAft>
              <a:buSzPts val="1400"/>
              <a:buNone/>
              <a:defRPr sz="3000"/>
            </a:lvl4pPr>
            <a:lvl5pPr lvl="4" rtl="0">
              <a:spcBef>
                <a:spcPts val="0"/>
              </a:spcBef>
              <a:spcAft>
                <a:spcPts val="0"/>
              </a:spcAft>
              <a:buSzPts val="1400"/>
              <a:buNone/>
              <a:defRPr sz="3000"/>
            </a:lvl5pPr>
            <a:lvl6pPr lvl="5" rtl="0">
              <a:spcBef>
                <a:spcPts val="0"/>
              </a:spcBef>
              <a:spcAft>
                <a:spcPts val="0"/>
              </a:spcAft>
              <a:buSzPts val="1400"/>
              <a:buNone/>
              <a:defRPr sz="3000"/>
            </a:lvl6pPr>
            <a:lvl7pPr lvl="6" rtl="0">
              <a:spcBef>
                <a:spcPts val="0"/>
              </a:spcBef>
              <a:spcAft>
                <a:spcPts val="0"/>
              </a:spcAft>
              <a:buSzPts val="1400"/>
              <a:buNone/>
              <a:defRPr sz="3000"/>
            </a:lvl7pPr>
            <a:lvl8pPr lvl="7" rtl="0">
              <a:spcBef>
                <a:spcPts val="0"/>
              </a:spcBef>
              <a:spcAft>
                <a:spcPts val="0"/>
              </a:spcAft>
              <a:buSzPts val="1400"/>
              <a:buNone/>
              <a:defRPr sz="3000"/>
            </a:lvl8pPr>
            <a:lvl9pPr lvl="8" rtl="0">
              <a:spcBef>
                <a:spcPts val="0"/>
              </a:spcBef>
              <a:spcAft>
                <a:spcPts val="0"/>
              </a:spcAft>
              <a:buSzPts val="1400"/>
              <a:buNone/>
              <a:defRPr sz="3000"/>
            </a:lvl9pPr>
          </a:lstStyle>
          <a:p>
            <a:endParaRPr/>
          </a:p>
        </p:txBody>
      </p:sp>
      <p:sp>
        <p:nvSpPr>
          <p:cNvPr id="93" name="Google Shape;93;p15"/>
          <p:cNvSpPr txBox="1">
            <a:spLocks noGrp="1"/>
          </p:cNvSpPr>
          <p:nvPr>
            <p:ph type="body" idx="1"/>
          </p:nvPr>
        </p:nvSpPr>
        <p:spPr>
          <a:xfrm>
            <a:off x="730345" y="3468725"/>
            <a:ext cx="12232500" cy="6709800"/>
          </a:xfrm>
          <a:prstGeom prst="rect">
            <a:avLst/>
          </a:prstGeom>
          <a:noFill/>
          <a:ln>
            <a:noFill/>
          </a:ln>
        </p:spPr>
        <p:txBody>
          <a:bodyPr spcFirstLastPara="1" wrap="square" lIns="0" tIns="0" rIns="0" bIns="0" anchor="t" anchorCtr="0">
            <a:noAutofit/>
          </a:bodyPr>
          <a:lstStyle>
            <a:lvl1pPr marL="457200" marR="0" lvl="0" indent="-393700" algn="l" rtl="0">
              <a:lnSpc>
                <a:spcPct val="100000"/>
              </a:lnSpc>
              <a:spcBef>
                <a:spcPts val="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1pPr>
            <a:lvl2pPr marL="914400" marR="0" lvl="1"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2pPr>
            <a:lvl3pPr marL="1371600" marR="0" lvl="2"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3pPr>
            <a:lvl4pPr marL="1828800" marR="0" lvl="3"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4pPr>
            <a:lvl5pPr marL="2286000" marR="0" lvl="4"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5pPr>
            <a:lvl6pPr marL="2743200" marR="0" lvl="5"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6pPr>
            <a:lvl7pPr marL="3200400" marR="0" lvl="6"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7pPr>
            <a:lvl8pPr marL="3657600" marR="0" lvl="7" indent="-393700" algn="l" rtl="0">
              <a:lnSpc>
                <a:spcPct val="100000"/>
              </a:lnSpc>
              <a:spcBef>
                <a:spcPts val="100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8pPr>
            <a:lvl9pPr marL="4114800" marR="0" lvl="8" indent="-393700" algn="l" rtl="0">
              <a:lnSpc>
                <a:spcPct val="100000"/>
              </a:lnSpc>
              <a:spcBef>
                <a:spcPts val="1000"/>
              </a:spcBef>
              <a:spcAft>
                <a:spcPts val="1000"/>
              </a:spcAft>
              <a:buClr>
                <a:schemeClr val="dk1"/>
              </a:buClr>
              <a:buSzPts val="2600"/>
              <a:buFont typeface="Arial"/>
              <a:buChar char="•"/>
              <a:defRPr sz="2600" b="0" i="0" u="none" strike="noStrike" cap="none">
                <a:solidFill>
                  <a:schemeClr val="dk1"/>
                </a:solidFill>
                <a:latin typeface="Arial"/>
                <a:ea typeface="Arial"/>
                <a:cs typeface="Arial"/>
                <a:sym typeface="Arial"/>
              </a:defRPr>
            </a:lvl9pPr>
          </a:lstStyle>
          <a:p>
            <a:endParaRPr/>
          </a:p>
        </p:txBody>
      </p:sp>
      <p:sp>
        <p:nvSpPr>
          <p:cNvPr id="94" name="Google Shape;94;p15"/>
          <p:cNvSpPr txBox="1">
            <a:spLocks noGrp="1"/>
          </p:cNvSpPr>
          <p:nvPr>
            <p:ph type="sldNum" idx="12"/>
          </p:nvPr>
        </p:nvSpPr>
        <p:spPr>
          <a:xfrm>
            <a:off x="13551946" y="10706184"/>
            <a:ext cx="5822100" cy="2262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a:solidFill>
                  <a:schemeClr val="dk1"/>
                </a:solidFill>
                <a:latin typeface="Arial"/>
                <a:ea typeface="Arial"/>
                <a:cs typeface="Arial"/>
                <a:sym typeface="Arial"/>
              </a:defRPr>
            </a:lvl1pPr>
            <a:lvl2pPr marL="0" marR="0" lvl="1" indent="0" algn="r" rtl="0">
              <a:spcBef>
                <a:spcPts val="0"/>
              </a:spcBef>
              <a:buNone/>
              <a:defRPr sz="1200">
                <a:solidFill>
                  <a:schemeClr val="dk1"/>
                </a:solidFill>
                <a:latin typeface="Arial"/>
                <a:ea typeface="Arial"/>
                <a:cs typeface="Arial"/>
                <a:sym typeface="Arial"/>
              </a:defRPr>
            </a:lvl2pPr>
            <a:lvl3pPr marL="0" marR="0" lvl="2" indent="0" algn="r" rtl="0">
              <a:spcBef>
                <a:spcPts val="0"/>
              </a:spcBef>
              <a:buNone/>
              <a:defRPr sz="1200">
                <a:solidFill>
                  <a:schemeClr val="dk1"/>
                </a:solidFill>
                <a:latin typeface="Arial"/>
                <a:ea typeface="Arial"/>
                <a:cs typeface="Arial"/>
                <a:sym typeface="Arial"/>
              </a:defRPr>
            </a:lvl3pPr>
            <a:lvl4pPr marL="0" marR="0" lvl="3" indent="0" algn="r" rtl="0">
              <a:spcBef>
                <a:spcPts val="0"/>
              </a:spcBef>
              <a:buNone/>
              <a:defRPr sz="1200">
                <a:solidFill>
                  <a:schemeClr val="dk1"/>
                </a:solidFill>
                <a:latin typeface="Arial"/>
                <a:ea typeface="Arial"/>
                <a:cs typeface="Arial"/>
                <a:sym typeface="Arial"/>
              </a:defRPr>
            </a:lvl4pPr>
            <a:lvl5pPr marL="0" marR="0" lvl="4" indent="0" algn="r" rtl="0">
              <a:spcBef>
                <a:spcPts val="0"/>
              </a:spcBef>
              <a:buNone/>
              <a:defRPr sz="1200">
                <a:solidFill>
                  <a:schemeClr val="dk1"/>
                </a:solidFill>
                <a:latin typeface="Arial"/>
                <a:ea typeface="Arial"/>
                <a:cs typeface="Arial"/>
                <a:sym typeface="Arial"/>
              </a:defRPr>
            </a:lvl5pPr>
            <a:lvl6pPr marL="0" marR="0" lvl="5" indent="0" algn="r" rtl="0">
              <a:spcBef>
                <a:spcPts val="0"/>
              </a:spcBef>
              <a:buNone/>
              <a:defRPr sz="1200">
                <a:solidFill>
                  <a:schemeClr val="dk1"/>
                </a:solidFill>
                <a:latin typeface="Arial"/>
                <a:ea typeface="Arial"/>
                <a:cs typeface="Arial"/>
                <a:sym typeface="Arial"/>
              </a:defRPr>
            </a:lvl6pPr>
            <a:lvl7pPr marL="0" marR="0" lvl="6" indent="0" algn="r" rtl="0">
              <a:spcBef>
                <a:spcPts val="0"/>
              </a:spcBef>
              <a:buNone/>
              <a:defRPr sz="1200">
                <a:solidFill>
                  <a:schemeClr val="dk1"/>
                </a:solidFill>
                <a:latin typeface="Arial"/>
                <a:ea typeface="Arial"/>
                <a:cs typeface="Arial"/>
                <a:sym typeface="Arial"/>
              </a:defRPr>
            </a:lvl7pPr>
            <a:lvl8pPr marL="0" marR="0" lvl="7" indent="0" algn="r" rtl="0">
              <a:spcBef>
                <a:spcPts val="0"/>
              </a:spcBef>
              <a:buNone/>
              <a:defRPr sz="1200">
                <a:solidFill>
                  <a:schemeClr val="dk1"/>
                </a:solidFill>
                <a:latin typeface="Arial"/>
                <a:ea typeface="Arial"/>
                <a:cs typeface="Arial"/>
                <a:sym typeface="Arial"/>
              </a:defRPr>
            </a:lvl8pPr>
            <a:lvl9pPr marL="0" marR="0" lvl="8" indent="0" algn="r" rtl="0">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15"/>
          <p:cNvSpPr txBox="1">
            <a:spLocks noGrp="1"/>
          </p:cNvSpPr>
          <p:nvPr>
            <p:ph type="subTitle" idx="2"/>
          </p:nvPr>
        </p:nvSpPr>
        <p:spPr>
          <a:xfrm>
            <a:off x="730343" y="1539300"/>
            <a:ext cx="18643200" cy="1461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4000"/>
              <a:buFont typeface="Arial"/>
              <a:buNone/>
              <a:defRPr sz="4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1733200" y="4289147"/>
            <a:ext cx="6852284" cy="678814"/>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4250" b="0" i="0" u="none" strike="noStrike" cap="none">
                <a:solidFill>
                  <a:schemeClr val="lt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005205" y="2601150"/>
            <a:ext cx="18093690" cy="7464171"/>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11733200" y="4289147"/>
            <a:ext cx="6852300" cy="6789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4250" b="0" i="0" u="none" strike="noStrike" cap="none">
                <a:solidFill>
                  <a:schemeClr val="lt1"/>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8" name="Google Shape;58;p9"/>
          <p:cNvSpPr txBox="1">
            <a:spLocks noGrp="1"/>
          </p:cNvSpPr>
          <p:nvPr>
            <p:ph type="body" idx="1"/>
          </p:nvPr>
        </p:nvSpPr>
        <p:spPr>
          <a:xfrm>
            <a:off x="1005205" y="2601150"/>
            <a:ext cx="18093600" cy="74643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6835394" y="10517696"/>
            <a:ext cx="6433200" cy="5655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dt" idx="10"/>
          </p:nvPr>
        </p:nvSpPr>
        <p:spPr>
          <a:xfrm>
            <a:off x="1005205" y="10517696"/>
            <a:ext cx="4623900" cy="5655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sldNum" idx="12"/>
          </p:nvPr>
        </p:nvSpPr>
        <p:spPr>
          <a:xfrm>
            <a:off x="14474953" y="10517696"/>
            <a:ext cx="4623900" cy="565500"/>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5" r:id="rId1"/>
    <p:sldLayoutId id="2147483657" r:id="rId2"/>
    <p:sldLayoutId id="2147483658" r:id="rId3"/>
    <p:sldLayoutId id="2147483659" r:id="rId4"/>
    <p:sldLayoutId id="2147483660"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chart" Target="../charts/chart1.xml"/><Relationship Id="rId13" Type="http://schemas.microsoft.com/office/2007/relationships/diagramDrawing" Target="../diagrams/drawing1.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1.png"/><Relationship Id="rId11" Type="http://schemas.openxmlformats.org/officeDocument/2006/relationships/diagramQuickStyle" Target="../diagrams/quickStyle1.xml"/><Relationship Id="rId5" Type="http://schemas.openxmlformats.org/officeDocument/2006/relationships/image" Target="../media/image10.png"/><Relationship Id="rId10" Type="http://schemas.openxmlformats.org/officeDocument/2006/relationships/diagramLayout" Target="../diagrams/layout1.xml"/><Relationship Id="rId4" Type="http://schemas.openxmlformats.org/officeDocument/2006/relationships/image" Target="../media/image9.png"/><Relationship Id="rId9"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7.xml"/><Relationship Id="rId7" Type="http://schemas.openxmlformats.org/officeDocument/2006/relationships/image" Target="../media/image11.png"/><Relationship Id="rId2" Type="http://schemas.openxmlformats.org/officeDocument/2006/relationships/slideLayout" Target="../slideLayouts/slideLayout8.xml"/><Relationship Id="rId1" Type="http://schemas.openxmlformats.org/officeDocument/2006/relationships/themeOverride" Target="../theme/themeOverride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image" Target="../media/image8.png"/><Relationship Id="rId7" Type="http://schemas.openxmlformats.org/officeDocument/2006/relationships/image" Target="../media/image12.png"/><Relationship Id="rId12"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1.png"/><Relationship Id="rId11" Type="http://schemas.openxmlformats.org/officeDocument/2006/relationships/diagramColors" Target="../diagrams/colors2.xml"/><Relationship Id="rId5" Type="http://schemas.openxmlformats.org/officeDocument/2006/relationships/image" Target="../media/image10.png"/><Relationship Id="rId10" Type="http://schemas.openxmlformats.org/officeDocument/2006/relationships/diagramQuickStyle" Target="../diagrams/quickStyle2.xml"/><Relationship Id="rId4" Type="http://schemas.openxmlformats.org/officeDocument/2006/relationships/image" Target="../media/image9.png"/><Relationship Id="rId9"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673"/>
        <p:cNvGrpSpPr/>
        <p:nvPr/>
      </p:nvGrpSpPr>
      <p:grpSpPr>
        <a:xfrm>
          <a:off x="0" y="0"/>
          <a:ext cx="0" cy="0"/>
          <a:chOff x="0" y="0"/>
          <a:chExt cx="0" cy="0"/>
        </a:xfrm>
      </p:grpSpPr>
      <p:grpSp>
        <p:nvGrpSpPr>
          <p:cNvPr id="674" name="Google Shape;674;p45"/>
          <p:cNvGrpSpPr/>
          <p:nvPr/>
        </p:nvGrpSpPr>
        <p:grpSpPr>
          <a:xfrm>
            <a:off x="-82550" y="-120195"/>
            <a:ext cx="20347983" cy="11446000"/>
            <a:chOff x="0" y="0"/>
            <a:chExt cx="20104716" cy="11309159"/>
          </a:xfrm>
        </p:grpSpPr>
        <p:sp>
          <p:nvSpPr>
            <p:cNvPr id="675" name="Google Shape;675;p45"/>
            <p:cNvSpPr/>
            <p:nvPr/>
          </p:nvSpPr>
          <p:spPr>
            <a:xfrm>
              <a:off x="0" y="0"/>
              <a:ext cx="20104100" cy="11308715"/>
            </a:xfrm>
            <a:custGeom>
              <a:avLst/>
              <a:gdLst/>
              <a:ahLst/>
              <a:cxnLst/>
              <a:rect l="l" t="t" r="r" b="b"/>
              <a:pathLst>
                <a:path w="20104100" h="11308715" extrusionOk="0">
                  <a:moveTo>
                    <a:pt x="0" y="0"/>
                  </a:moveTo>
                  <a:lnTo>
                    <a:pt x="20104099" y="0"/>
                  </a:lnTo>
                  <a:lnTo>
                    <a:pt x="20104099" y="11308556"/>
                  </a:lnTo>
                  <a:lnTo>
                    <a:pt x="0" y="11308556"/>
                  </a:lnTo>
                  <a:lnTo>
                    <a:pt x="0" y="0"/>
                  </a:lnTo>
                  <a:close/>
                </a:path>
              </a:pathLst>
            </a:custGeom>
            <a:solidFill>
              <a:srgbClr val="1A1A1A">
                <a:alpha val="96860"/>
              </a:srgbClr>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76" name="Google Shape;676;p45"/>
            <p:cNvSpPr/>
            <p:nvPr/>
          </p:nvSpPr>
          <p:spPr>
            <a:xfrm>
              <a:off x="15789816" y="22550"/>
              <a:ext cx="3039744" cy="1314450"/>
            </a:xfrm>
            <a:custGeom>
              <a:avLst/>
              <a:gdLst/>
              <a:ahLst/>
              <a:cxnLst/>
              <a:rect l="l" t="t" r="r" b="b"/>
              <a:pathLst>
                <a:path w="3039744" h="1314450" extrusionOk="0">
                  <a:moveTo>
                    <a:pt x="3039698" y="9025"/>
                  </a:moveTo>
                  <a:lnTo>
                    <a:pt x="2286254" y="1313991"/>
                  </a:lnTo>
                  <a:lnTo>
                    <a:pt x="758605" y="1313991"/>
                  </a:lnTo>
                  <a:lnTo>
                    <a:pt x="0" y="0"/>
                  </a:lnTo>
                  <a:lnTo>
                    <a:pt x="10345" y="0"/>
                  </a:lnTo>
                  <a:lnTo>
                    <a:pt x="3034525" y="0"/>
                  </a:lnTo>
                  <a:lnTo>
                    <a:pt x="3039698" y="9025"/>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77" name="Google Shape;677;p45"/>
            <p:cNvSpPr/>
            <p:nvPr/>
          </p:nvSpPr>
          <p:spPr>
            <a:xfrm>
              <a:off x="15800156" y="10534456"/>
              <a:ext cx="3024505" cy="0"/>
            </a:xfrm>
            <a:custGeom>
              <a:avLst/>
              <a:gdLst/>
              <a:ahLst/>
              <a:cxnLst/>
              <a:rect l="l" t="t" r="r" b="b"/>
              <a:pathLst>
                <a:path w="3024505" h="120000" extrusionOk="0">
                  <a:moveTo>
                    <a:pt x="0" y="0"/>
                  </a:moveTo>
                  <a:lnTo>
                    <a:pt x="3024106"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78" name="Google Shape;678;p45"/>
            <p:cNvSpPr/>
            <p:nvPr/>
          </p:nvSpPr>
          <p:spPr>
            <a:xfrm>
              <a:off x="5164565" y="10534456"/>
              <a:ext cx="9123044" cy="0"/>
            </a:xfrm>
            <a:custGeom>
              <a:avLst/>
              <a:gdLst/>
              <a:ahLst/>
              <a:cxnLst/>
              <a:rect l="l" t="t" r="r" b="b"/>
              <a:pathLst>
                <a:path w="9123044" h="120000" extrusionOk="0">
                  <a:moveTo>
                    <a:pt x="0" y="0"/>
                  </a:moveTo>
                  <a:lnTo>
                    <a:pt x="9122758"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79" name="Google Shape;679;p45"/>
            <p:cNvSpPr/>
            <p:nvPr/>
          </p:nvSpPr>
          <p:spPr>
            <a:xfrm>
              <a:off x="12466970" y="5278502"/>
              <a:ext cx="3333750" cy="0"/>
            </a:xfrm>
            <a:custGeom>
              <a:avLst/>
              <a:gdLst/>
              <a:ahLst/>
              <a:cxnLst/>
              <a:rect l="l" t="t" r="r" b="b"/>
              <a:pathLst>
                <a:path w="3333750" h="120000" extrusionOk="0">
                  <a:moveTo>
                    <a:pt x="0" y="0"/>
                  </a:moveTo>
                  <a:lnTo>
                    <a:pt x="3333267" y="0"/>
                  </a:lnTo>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0" name="Google Shape;680;p45"/>
            <p:cNvSpPr/>
            <p:nvPr/>
          </p:nvSpPr>
          <p:spPr>
            <a:xfrm>
              <a:off x="17306952" y="5278502"/>
              <a:ext cx="10794" cy="0"/>
            </a:xfrm>
            <a:custGeom>
              <a:avLst/>
              <a:gdLst/>
              <a:ahLst/>
              <a:cxnLst/>
              <a:rect l="l" t="t" r="r" b="b"/>
              <a:pathLst>
                <a:path w="10794" h="120000" extrusionOk="0">
                  <a:moveTo>
                    <a:pt x="10512" y="0"/>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1" name="Google Shape;681;p45"/>
            <p:cNvSpPr/>
            <p:nvPr/>
          </p:nvSpPr>
          <p:spPr>
            <a:xfrm>
              <a:off x="4410245" y="6592485"/>
              <a:ext cx="10795" cy="0"/>
            </a:xfrm>
            <a:custGeom>
              <a:avLst/>
              <a:gdLst/>
              <a:ahLst/>
              <a:cxnLst/>
              <a:rect l="l" t="t" r="r" b="b"/>
              <a:pathLst>
                <a:path w="10795" h="120000" extrusionOk="0">
                  <a:moveTo>
                    <a:pt x="10512" y="0"/>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2" name="Google Shape;682;p45"/>
            <p:cNvSpPr/>
            <p:nvPr/>
          </p:nvSpPr>
          <p:spPr>
            <a:xfrm>
              <a:off x="5923171" y="6592485"/>
              <a:ext cx="3053715" cy="0"/>
            </a:xfrm>
            <a:custGeom>
              <a:avLst/>
              <a:gdLst/>
              <a:ahLst/>
              <a:cxnLst/>
              <a:rect l="l" t="t" r="r" b="b"/>
              <a:pathLst>
                <a:path w="3053715" h="120000" extrusionOk="0">
                  <a:moveTo>
                    <a:pt x="0" y="0"/>
                  </a:moveTo>
                  <a:lnTo>
                    <a:pt x="3053708"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3" name="Google Shape;683;p45"/>
            <p:cNvSpPr/>
            <p:nvPr/>
          </p:nvSpPr>
          <p:spPr>
            <a:xfrm>
              <a:off x="16548344" y="6592485"/>
              <a:ext cx="1517650" cy="0"/>
            </a:xfrm>
            <a:custGeom>
              <a:avLst/>
              <a:gdLst/>
              <a:ahLst/>
              <a:cxnLst/>
              <a:rect l="l" t="t" r="r" b="b"/>
              <a:pathLst>
                <a:path w="1517650" h="120000" extrusionOk="0">
                  <a:moveTo>
                    <a:pt x="0" y="0"/>
                  </a:moveTo>
                  <a:lnTo>
                    <a:pt x="10512" y="0"/>
                  </a:lnTo>
                  <a:lnTo>
                    <a:pt x="1517304"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4" name="Google Shape;684;p45"/>
            <p:cNvSpPr/>
            <p:nvPr/>
          </p:nvSpPr>
          <p:spPr>
            <a:xfrm>
              <a:off x="13513816" y="6592485"/>
              <a:ext cx="1527809" cy="0"/>
            </a:xfrm>
            <a:custGeom>
              <a:avLst/>
              <a:gdLst/>
              <a:ahLst/>
              <a:cxnLst/>
              <a:rect l="l" t="t" r="r" b="b"/>
              <a:pathLst>
                <a:path w="1527809" h="120000" extrusionOk="0">
                  <a:moveTo>
                    <a:pt x="1527733" y="0"/>
                  </a:moveTo>
                  <a:lnTo>
                    <a:pt x="1517304" y="0"/>
                  </a:lnTo>
                  <a:lnTo>
                    <a:pt x="10429" y="0"/>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5" name="Google Shape;685;p45"/>
            <p:cNvSpPr/>
            <p:nvPr/>
          </p:nvSpPr>
          <p:spPr>
            <a:xfrm>
              <a:off x="9720681" y="7906479"/>
              <a:ext cx="10795" cy="0"/>
            </a:xfrm>
            <a:custGeom>
              <a:avLst/>
              <a:gdLst/>
              <a:ahLst/>
              <a:cxnLst/>
              <a:rect l="l" t="t" r="r" b="b"/>
              <a:pathLst>
                <a:path w="10795" h="120000" extrusionOk="0">
                  <a:moveTo>
                    <a:pt x="10512" y="0"/>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6" name="Google Shape;686;p45"/>
            <p:cNvSpPr/>
            <p:nvPr/>
          </p:nvSpPr>
          <p:spPr>
            <a:xfrm>
              <a:off x="15789823" y="7906479"/>
              <a:ext cx="1365884" cy="0"/>
            </a:xfrm>
            <a:custGeom>
              <a:avLst/>
              <a:gdLst/>
              <a:ahLst/>
              <a:cxnLst/>
              <a:rect l="l" t="t" r="r" b="b"/>
              <a:pathLst>
                <a:path w="1365884" h="120000" extrusionOk="0">
                  <a:moveTo>
                    <a:pt x="0" y="0"/>
                  </a:moveTo>
                  <a:lnTo>
                    <a:pt x="1365758"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7" name="Google Shape;687;p45"/>
            <p:cNvSpPr/>
            <p:nvPr/>
          </p:nvSpPr>
          <p:spPr>
            <a:xfrm>
              <a:off x="11237985" y="7906479"/>
              <a:ext cx="1527809" cy="0"/>
            </a:xfrm>
            <a:custGeom>
              <a:avLst/>
              <a:gdLst/>
              <a:ahLst/>
              <a:cxnLst/>
              <a:rect l="l" t="t" r="r" b="b"/>
              <a:pathLst>
                <a:path w="1527809" h="120000" extrusionOk="0">
                  <a:moveTo>
                    <a:pt x="1527649" y="0"/>
                  </a:moveTo>
                  <a:lnTo>
                    <a:pt x="1517220" y="0"/>
                  </a:lnTo>
                  <a:lnTo>
                    <a:pt x="10429" y="0"/>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8" name="Google Shape;688;p45"/>
            <p:cNvSpPr/>
            <p:nvPr/>
          </p:nvSpPr>
          <p:spPr>
            <a:xfrm>
              <a:off x="5166757" y="7906479"/>
              <a:ext cx="3039109" cy="0"/>
            </a:xfrm>
            <a:custGeom>
              <a:avLst/>
              <a:gdLst/>
              <a:ahLst/>
              <a:cxnLst/>
              <a:rect l="l" t="t" r="r" b="b"/>
              <a:pathLst>
                <a:path w="3039109" h="120000" extrusionOk="0">
                  <a:moveTo>
                    <a:pt x="0" y="0"/>
                  </a:moveTo>
                  <a:lnTo>
                    <a:pt x="3038902"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89" name="Google Shape;689;p45"/>
            <p:cNvSpPr/>
            <p:nvPr/>
          </p:nvSpPr>
          <p:spPr>
            <a:xfrm>
              <a:off x="15026738" y="9220463"/>
              <a:ext cx="3053715" cy="0"/>
            </a:xfrm>
            <a:custGeom>
              <a:avLst/>
              <a:gdLst/>
              <a:ahLst/>
              <a:cxnLst/>
              <a:rect l="l" t="t" r="r" b="b"/>
              <a:pathLst>
                <a:path w="3053715" h="120000" extrusionOk="0">
                  <a:moveTo>
                    <a:pt x="0" y="0"/>
                  </a:moveTo>
                  <a:lnTo>
                    <a:pt x="3053718"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0" name="Google Shape;690;p45"/>
            <p:cNvSpPr/>
            <p:nvPr/>
          </p:nvSpPr>
          <p:spPr>
            <a:xfrm>
              <a:off x="10479290" y="9220463"/>
              <a:ext cx="3045459" cy="0"/>
            </a:xfrm>
            <a:custGeom>
              <a:avLst/>
              <a:gdLst/>
              <a:ahLst/>
              <a:cxnLst/>
              <a:rect l="l" t="t" r="r" b="b"/>
              <a:pathLst>
                <a:path w="3045459" h="120000" extrusionOk="0">
                  <a:moveTo>
                    <a:pt x="0" y="0"/>
                  </a:moveTo>
                  <a:lnTo>
                    <a:pt x="10512" y="0"/>
                  </a:lnTo>
                  <a:lnTo>
                    <a:pt x="3034609" y="0"/>
                  </a:lnTo>
                  <a:lnTo>
                    <a:pt x="3045038"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1" name="Google Shape;691;p45"/>
            <p:cNvSpPr/>
            <p:nvPr/>
          </p:nvSpPr>
          <p:spPr>
            <a:xfrm>
              <a:off x="11996597" y="3964518"/>
              <a:ext cx="1527809" cy="0"/>
            </a:xfrm>
            <a:custGeom>
              <a:avLst/>
              <a:gdLst/>
              <a:ahLst/>
              <a:cxnLst/>
              <a:rect l="l" t="t" r="r" b="b"/>
              <a:pathLst>
                <a:path w="1527809" h="120000" extrusionOk="0">
                  <a:moveTo>
                    <a:pt x="0" y="0"/>
                  </a:moveTo>
                  <a:lnTo>
                    <a:pt x="10512" y="0"/>
                  </a:lnTo>
                  <a:lnTo>
                    <a:pt x="1517304" y="0"/>
                  </a:lnTo>
                  <a:lnTo>
                    <a:pt x="1527723"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2" name="Google Shape;692;p45"/>
            <p:cNvSpPr/>
            <p:nvPr/>
          </p:nvSpPr>
          <p:spPr>
            <a:xfrm>
              <a:off x="18829520" y="3973539"/>
              <a:ext cx="1275080" cy="2619375"/>
            </a:xfrm>
            <a:custGeom>
              <a:avLst/>
              <a:gdLst/>
              <a:ahLst/>
              <a:cxnLst/>
              <a:rect l="l" t="t" r="r" b="b"/>
              <a:pathLst>
                <a:path w="1275080" h="2619375" extrusionOk="0">
                  <a:moveTo>
                    <a:pt x="1274578" y="2618946"/>
                  </a:moveTo>
                  <a:lnTo>
                    <a:pt x="753432" y="2618946"/>
                  </a:lnTo>
                  <a:lnTo>
                    <a:pt x="0" y="1313980"/>
                  </a:lnTo>
                  <a:lnTo>
                    <a:pt x="758605" y="0"/>
                  </a:lnTo>
                  <a:lnTo>
                    <a:pt x="1274578" y="893692"/>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3" name="Google Shape;693;p45"/>
            <p:cNvSpPr/>
            <p:nvPr/>
          </p:nvSpPr>
          <p:spPr>
            <a:xfrm>
              <a:off x="7455199" y="3964518"/>
              <a:ext cx="1517650" cy="0"/>
            </a:xfrm>
            <a:custGeom>
              <a:avLst/>
              <a:gdLst/>
              <a:ahLst/>
              <a:cxnLst/>
              <a:rect l="l" t="t" r="r" b="b"/>
              <a:pathLst>
                <a:path w="1517650" h="120000" extrusionOk="0">
                  <a:moveTo>
                    <a:pt x="0" y="0"/>
                  </a:moveTo>
                  <a:lnTo>
                    <a:pt x="1506875" y="0"/>
                  </a:lnTo>
                  <a:lnTo>
                    <a:pt x="1517294"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4" name="Google Shape;694;p45"/>
            <p:cNvSpPr/>
            <p:nvPr/>
          </p:nvSpPr>
          <p:spPr>
            <a:xfrm>
              <a:off x="8967330" y="2650520"/>
              <a:ext cx="763904" cy="1323339"/>
            </a:xfrm>
            <a:custGeom>
              <a:avLst/>
              <a:gdLst/>
              <a:ahLst/>
              <a:cxnLst/>
              <a:rect l="l" t="t" r="r" b="b"/>
              <a:pathLst>
                <a:path w="763904" h="1323339" extrusionOk="0">
                  <a:moveTo>
                    <a:pt x="0" y="1323017"/>
                  </a:moveTo>
                  <a:lnTo>
                    <a:pt x="5162" y="1314001"/>
                  </a:lnTo>
                  <a:lnTo>
                    <a:pt x="758605" y="9036"/>
                  </a:lnTo>
                  <a:lnTo>
                    <a:pt x="763861"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5" name="Google Shape;695;p45"/>
            <p:cNvSpPr/>
            <p:nvPr/>
          </p:nvSpPr>
          <p:spPr>
            <a:xfrm>
              <a:off x="5174203" y="10534456"/>
              <a:ext cx="5714" cy="9525"/>
            </a:xfrm>
            <a:custGeom>
              <a:avLst/>
              <a:gdLst/>
              <a:ahLst/>
              <a:cxnLst/>
              <a:rect l="l" t="t" r="r" b="b"/>
              <a:pathLst>
                <a:path w="5714" h="9525" extrusionOk="0">
                  <a:moveTo>
                    <a:pt x="5162" y="0"/>
                  </a:moveTo>
                  <a:lnTo>
                    <a:pt x="0" y="901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6" name="Google Shape;696;p45"/>
            <p:cNvSpPr/>
            <p:nvPr/>
          </p:nvSpPr>
          <p:spPr>
            <a:xfrm>
              <a:off x="7450024" y="5278497"/>
              <a:ext cx="763904" cy="1323340"/>
            </a:xfrm>
            <a:custGeom>
              <a:avLst/>
              <a:gdLst/>
              <a:ahLst/>
              <a:cxnLst/>
              <a:rect l="l" t="t" r="r" b="b"/>
              <a:pathLst>
                <a:path w="763904" h="1323340" extrusionOk="0">
                  <a:moveTo>
                    <a:pt x="0" y="1323017"/>
                  </a:moveTo>
                  <a:lnTo>
                    <a:pt x="5256" y="1313991"/>
                  </a:lnTo>
                  <a:lnTo>
                    <a:pt x="758605" y="9120"/>
                  </a:lnTo>
                  <a:lnTo>
                    <a:pt x="763861"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7" name="Google Shape;697;p45"/>
            <p:cNvSpPr/>
            <p:nvPr/>
          </p:nvSpPr>
          <p:spPr>
            <a:xfrm>
              <a:off x="8967241" y="5278502"/>
              <a:ext cx="763904" cy="1323340"/>
            </a:xfrm>
            <a:custGeom>
              <a:avLst/>
              <a:gdLst/>
              <a:ahLst/>
              <a:cxnLst/>
              <a:rect l="l" t="t" r="r" b="b"/>
              <a:pathLst>
                <a:path w="763904" h="1323340" extrusionOk="0">
                  <a:moveTo>
                    <a:pt x="763872" y="0"/>
                  </a:moveTo>
                  <a:lnTo>
                    <a:pt x="758699" y="9015"/>
                  </a:lnTo>
                  <a:lnTo>
                    <a:pt x="5256" y="1313980"/>
                  </a:lnTo>
                  <a:lnTo>
                    <a:pt x="0" y="1323017"/>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8" name="Google Shape;698;p45"/>
            <p:cNvSpPr/>
            <p:nvPr/>
          </p:nvSpPr>
          <p:spPr>
            <a:xfrm>
              <a:off x="11243154" y="2650524"/>
              <a:ext cx="5715" cy="9525"/>
            </a:xfrm>
            <a:custGeom>
              <a:avLst/>
              <a:gdLst/>
              <a:ahLst/>
              <a:cxnLst/>
              <a:rect l="l" t="t" r="r" b="b"/>
              <a:pathLst>
                <a:path w="5715" h="9525" extrusionOk="0">
                  <a:moveTo>
                    <a:pt x="5256" y="0"/>
                  </a:moveTo>
                  <a:lnTo>
                    <a:pt x="0" y="902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699" name="Google Shape;699;p45"/>
            <p:cNvSpPr/>
            <p:nvPr/>
          </p:nvSpPr>
          <p:spPr>
            <a:xfrm>
              <a:off x="6691417" y="9429028"/>
              <a:ext cx="659129" cy="1115059"/>
            </a:xfrm>
            <a:custGeom>
              <a:avLst/>
              <a:gdLst/>
              <a:ahLst/>
              <a:cxnLst/>
              <a:rect l="l" t="t" r="r" b="b"/>
              <a:pathLst>
                <a:path w="659129" h="1115059" extrusionOk="0">
                  <a:moveTo>
                    <a:pt x="0" y="1114447"/>
                  </a:moveTo>
                  <a:lnTo>
                    <a:pt x="5162" y="1105432"/>
                  </a:lnTo>
                  <a:lnTo>
                    <a:pt x="659131" y="0"/>
                  </a:lnTo>
                  <a:lnTo>
                    <a:pt x="648671"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0" name="Google Shape;700;p45"/>
            <p:cNvSpPr/>
            <p:nvPr/>
          </p:nvSpPr>
          <p:spPr>
            <a:xfrm>
              <a:off x="3656895" y="5278502"/>
              <a:ext cx="5714" cy="9525"/>
            </a:xfrm>
            <a:custGeom>
              <a:avLst/>
              <a:gdLst/>
              <a:ahLst/>
              <a:cxnLst/>
              <a:rect l="l" t="t" r="r" b="b"/>
              <a:pathLst>
                <a:path w="5714" h="9525" extrusionOk="0">
                  <a:moveTo>
                    <a:pt x="5256" y="0"/>
                  </a:moveTo>
                  <a:lnTo>
                    <a:pt x="0" y="9109"/>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1" name="Google Shape;701;p45"/>
            <p:cNvSpPr/>
            <p:nvPr/>
          </p:nvSpPr>
          <p:spPr>
            <a:xfrm>
              <a:off x="4415502" y="3964518"/>
              <a:ext cx="5714" cy="9525"/>
            </a:xfrm>
            <a:custGeom>
              <a:avLst/>
              <a:gdLst/>
              <a:ahLst/>
              <a:cxnLst/>
              <a:rect l="l" t="t" r="r" b="b"/>
              <a:pathLst>
                <a:path w="5714" h="9525" extrusionOk="0">
                  <a:moveTo>
                    <a:pt x="5256" y="0"/>
                  </a:moveTo>
                  <a:lnTo>
                    <a:pt x="0" y="9109"/>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2" name="Google Shape;702;p45"/>
            <p:cNvSpPr/>
            <p:nvPr/>
          </p:nvSpPr>
          <p:spPr>
            <a:xfrm>
              <a:off x="5174203" y="2650524"/>
              <a:ext cx="5714" cy="9525"/>
            </a:xfrm>
            <a:custGeom>
              <a:avLst/>
              <a:gdLst/>
              <a:ahLst/>
              <a:cxnLst/>
              <a:rect l="l" t="t" r="r" b="b"/>
              <a:pathLst>
                <a:path w="5714" h="9525" extrusionOk="0">
                  <a:moveTo>
                    <a:pt x="5162" y="0"/>
                  </a:moveTo>
                  <a:lnTo>
                    <a:pt x="0" y="902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3" name="Google Shape;703;p45"/>
            <p:cNvSpPr/>
            <p:nvPr/>
          </p:nvSpPr>
          <p:spPr>
            <a:xfrm>
              <a:off x="3656896" y="7906479"/>
              <a:ext cx="5714" cy="9525"/>
            </a:xfrm>
            <a:custGeom>
              <a:avLst/>
              <a:gdLst/>
              <a:ahLst/>
              <a:cxnLst/>
              <a:rect l="l" t="t" r="r" b="b"/>
              <a:pathLst>
                <a:path w="5714" h="9525" extrusionOk="0">
                  <a:moveTo>
                    <a:pt x="5162" y="0"/>
                  </a:moveTo>
                  <a:lnTo>
                    <a:pt x="0" y="901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4" name="Google Shape;704;p45"/>
            <p:cNvSpPr/>
            <p:nvPr/>
          </p:nvSpPr>
          <p:spPr>
            <a:xfrm>
              <a:off x="4415502" y="6592485"/>
              <a:ext cx="5714" cy="9525"/>
            </a:xfrm>
            <a:custGeom>
              <a:avLst/>
              <a:gdLst/>
              <a:ahLst/>
              <a:cxnLst/>
              <a:rect l="l" t="t" r="r" b="b"/>
              <a:pathLst>
                <a:path w="5714" h="9525" extrusionOk="0">
                  <a:moveTo>
                    <a:pt x="5256" y="0"/>
                  </a:moveTo>
                  <a:lnTo>
                    <a:pt x="0" y="902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5" name="Google Shape;705;p45"/>
            <p:cNvSpPr/>
            <p:nvPr/>
          </p:nvSpPr>
          <p:spPr>
            <a:xfrm>
              <a:off x="5174109" y="5278502"/>
              <a:ext cx="5714" cy="9525"/>
            </a:xfrm>
            <a:custGeom>
              <a:avLst/>
              <a:gdLst/>
              <a:ahLst/>
              <a:cxnLst/>
              <a:rect l="l" t="t" r="r" b="b"/>
              <a:pathLst>
                <a:path w="5714" h="9525" extrusionOk="0">
                  <a:moveTo>
                    <a:pt x="5256" y="0"/>
                  </a:moveTo>
                  <a:lnTo>
                    <a:pt x="0" y="9109"/>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6" name="Google Shape;706;p45"/>
            <p:cNvSpPr/>
            <p:nvPr/>
          </p:nvSpPr>
          <p:spPr>
            <a:xfrm>
              <a:off x="5179284" y="6592485"/>
              <a:ext cx="758825" cy="1314450"/>
            </a:xfrm>
            <a:custGeom>
              <a:avLst/>
              <a:gdLst/>
              <a:ahLst/>
              <a:cxnLst/>
              <a:rect l="l" t="t" r="r" b="b"/>
              <a:pathLst>
                <a:path w="758825" h="1314450" extrusionOk="0">
                  <a:moveTo>
                    <a:pt x="758688" y="0"/>
                  </a:moveTo>
                  <a:lnTo>
                    <a:pt x="753432" y="9025"/>
                  </a:lnTo>
                  <a:lnTo>
                    <a:pt x="0" y="1313991"/>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7" name="Google Shape;707;p45"/>
            <p:cNvSpPr/>
            <p:nvPr/>
          </p:nvSpPr>
          <p:spPr>
            <a:xfrm>
              <a:off x="4415504" y="9220463"/>
              <a:ext cx="5714" cy="9525"/>
            </a:xfrm>
            <a:custGeom>
              <a:avLst/>
              <a:gdLst/>
              <a:ahLst/>
              <a:cxnLst/>
              <a:rect l="l" t="t" r="r" b="b"/>
              <a:pathLst>
                <a:path w="5714" h="9525" extrusionOk="0">
                  <a:moveTo>
                    <a:pt x="5162" y="0"/>
                  </a:moveTo>
                  <a:lnTo>
                    <a:pt x="0" y="902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8" name="Google Shape;708;p45"/>
            <p:cNvSpPr/>
            <p:nvPr/>
          </p:nvSpPr>
          <p:spPr>
            <a:xfrm>
              <a:off x="3656802" y="10534456"/>
              <a:ext cx="5714" cy="9525"/>
            </a:xfrm>
            <a:custGeom>
              <a:avLst/>
              <a:gdLst/>
              <a:ahLst/>
              <a:cxnLst/>
              <a:rect l="l" t="t" r="r" b="b"/>
              <a:pathLst>
                <a:path w="5714" h="9525" extrusionOk="0">
                  <a:moveTo>
                    <a:pt x="5256" y="0"/>
                  </a:moveTo>
                  <a:lnTo>
                    <a:pt x="0" y="901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09" name="Google Shape;709;p45"/>
            <p:cNvSpPr/>
            <p:nvPr/>
          </p:nvSpPr>
          <p:spPr>
            <a:xfrm>
              <a:off x="8208633" y="2650524"/>
              <a:ext cx="5715" cy="9525"/>
            </a:xfrm>
            <a:custGeom>
              <a:avLst/>
              <a:gdLst/>
              <a:ahLst/>
              <a:cxnLst/>
              <a:rect l="l" t="t" r="r" b="b"/>
              <a:pathLst>
                <a:path w="5715" h="9525" extrusionOk="0">
                  <a:moveTo>
                    <a:pt x="5172" y="0"/>
                  </a:moveTo>
                  <a:lnTo>
                    <a:pt x="0" y="8942"/>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0" name="Google Shape;710;p45"/>
            <p:cNvSpPr/>
            <p:nvPr/>
          </p:nvSpPr>
          <p:spPr>
            <a:xfrm>
              <a:off x="6696583" y="3964518"/>
              <a:ext cx="758825" cy="1314450"/>
            </a:xfrm>
            <a:custGeom>
              <a:avLst/>
              <a:gdLst/>
              <a:ahLst/>
              <a:cxnLst/>
              <a:rect l="l" t="t" r="r" b="b"/>
              <a:pathLst>
                <a:path w="758825" h="1314450" extrusionOk="0">
                  <a:moveTo>
                    <a:pt x="758615" y="0"/>
                  </a:moveTo>
                  <a:lnTo>
                    <a:pt x="753443" y="9015"/>
                  </a:lnTo>
                  <a:lnTo>
                    <a:pt x="0" y="131398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1" name="Google Shape;711;p45"/>
            <p:cNvSpPr/>
            <p:nvPr/>
          </p:nvSpPr>
          <p:spPr>
            <a:xfrm>
              <a:off x="4415499" y="31579"/>
              <a:ext cx="3034665" cy="2619375"/>
            </a:xfrm>
            <a:custGeom>
              <a:avLst/>
              <a:gdLst/>
              <a:ahLst/>
              <a:cxnLst/>
              <a:rect l="l" t="t" r="r" b="b"/>
              <a:pathLst>
                <a:path w="3034665" h="2619375" extrusionOk="0">
                  <a:moveTo>
                    <a:pt x="3034525" y="1313980"/>
                  </a:moveTo>
                  <a:lnTo>
                    <a:pt x="2281082" y="2618946"/>
                  </a:lnTo>
                  <a:lnTo>
                    <a:pt x="753443" y="2618946"/>
                  </a:lnTo>
                  <a:lnTo>
                    <a:pt x="0" y="1313980"/>
                  </a:lnTo>
                  <a:lnTo>
                    <a:pt x="5172" y="1304965"/>
                  </a:lnTo>
                  <a:lnTo>
                    <a:pt x="758615" y="0"/>
                  </a:lnTo>
                  <a:lnTo>
                    <a:pt x="1512058" y="1304965"/>
                  </a:lnTo>
                  <a:lnTo>
                    <a:pt x="3029363" y="1304965"/>
                  </a:lnTo>
                  <a:lnTo>
                    <a:pt x="3034525" y="1313980"/>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2" name="Google Shape;712;p45"/>
            <p:cNvSpPr/>
            <p:nvPr/>
          </p:nvSpPr>
          <p:spPr>
            <a:xfrm>
              <a:off x="6691421" y="1345564"/>
              <a:ext cx="1517650" cy="2619375"/>
            </a:xfrm>
            <a:custGeom>
              <a:avLst/>
              <a:gdLst/>
              <a:ahLst/>
              <a:cxnLst/>
              <a:rect l="l" t="t" r="r" b="b"/>
              <a:pathLst>
                <a:path w="1517650" h="2619375" extrusionOk="0">
                  <a:moveTo>
                    <a:pt x="1517210" y="1313897"/>
                  </a:moveTo>
                  <a:lnTo>
                    <a:pt x="763777" y="2618956"/>
                  </a:lnTo>
                  <a:lnTo>
                    <a:pt x="753348" y="2618956"/>
                  </a:lnTo>
                  <a:lnTo>
                    <a:pt x="0" y="1313991"/>
                  </a:lnTo>
                  <a:lnTo>
                    <a:pt x="5162" y="1304955"/>
                  </a:lnTo>
                  <a:lnTo>
                    <a:pt x="758605" y="0"/>
                  </a:lnTo>
                  <a:lnTo>
                    <a:pt x="1512048" y="1304955"/>
                  </a:lnTo>
                  <a:lnTo>
                    <a:pt x="1517210" y="1313897"/>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3" name="Google Shape;713;p45"/>
            <p:cNvSpPr/>
            <p:nvPr/>
          </p:nvSpPr>
          <p:spPr>
            <a:xfrm>
              <a:off x="8967244" y="1336544"/>
              <a:ext cx="3034665" cy="1314450"/>
            </a:xfrm>
            <a:custGeom>
              <a:avLst/>
              <a:gdLst/>
              <a:ahLst/>
              <a:cxnLst/>
              <a:rect l="l" t="t" r="r" b="b"/>
              <a:pathLst>
                <a:path w="3034665" h="1314450" extrusionOk="0">
                  <a:moveTo>
                    <a:pt x="3034609" y="9015"/>
                  </a:moveTo>
                  <a:lnTo>
                    <a:pt x="2281166" y="1313980"/>
                  </a:lnTo>
                  <a:lnTo>
                    <a:pt x="753443" y="1313980"/>
                  </a:lnTo>
                  <a:lnTo>
                    <a:pt x="0" y="9015"/>
                  </a:lnTo>
                  <a:lnTo>
                    <a:pt x="5256" y="0"/>
                  </a:lnTo>
                  <a:lnTo>
                    <a:pt x="3029352" y="0"/>
                  </a:lnTo>
                  <a:lnTo>
                    <a:pt x="3034609" y="9015"/>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4" name="Google Shape;714;p45"/>
            <p:cNvSpPr/>
            <p:nvPr/>
          </p:nvSpPr>
          <p:spPr>
            <a:xfrm>
              <a:off x="8213807" y="22546"/>
              <a:ext cx="3783329" cy="1314450"/>
            </a:xfrm>
            <a:custGeom>
              <a:avLst/>
              <a:gdLst/>
              <a:ahLst/>
              <a:cxnLst/>
              <a:rect l="l" t="t" r="r" b="b"/>
              <a:pathLst>
                <a:path w="3783329" h="1314450" extrusionOk="0">
                  <a:moveTo>
                    <a:pt x="3024274" y="0"/>
                  </a:moveTo>
                  <a:lnTo>
                    <a:pt x="3029436" y="9025"/>
                  </a:lnTo>
                  <a:lnTo>
                    <a:pt x="3782785" y="1313991"/>
                  </a:lnTo>
                  <a:lnTo>
                    <a:pt x="2265480" y="1313991"/>
                  </a:lnTo>
                  <a:lnTo>
                    <a:pt x="1512048" y="9025"/>
                  </a:lnTo>
                  <a:lnTo>
                    <a:pt x="1517210" y="0"/>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5" name="Google Shape;715;p45"/>
            <p:cNvSpPr/>
            <p:nvPr/>
          </p:nvSpPr>
          <p:spPr>
            <a:xfrm>
              <a:off x="8208490" y="22550"/>
              <a:ext cx="2271395" cy="1314450"/>
            </a:xfrm>
            <a:custGeom>
              <a:avLst/>
              <a:gdLst/>
              <a:ahLst/>
              <a:cxnLst/>
              <a:rect l="l" t="t" r="r" b="b"/>
              <a:pathLst>
                <a:path w="2271395" h="1314450" extrusionOk="0">
                  <a:moveTo>
                    <a:pt x="2270799" y="1313991"/>
                  </a:moveTo>
                  <a:lnTo>
                    <a:pt x="753589" y="1313991"/>
                  </a:lnTo>
                  <a:lnTo>
                    <a:pt x="146" y="9025"/>
                  </a:lnTo>
                  <a:lnTo>
                    <a:pt x="0" y="0"/>
                  </a:lnTo>
                  <a:lnTo>
                    <a:pt x="1512194" y="0"/>
                  </a:lnTo>
                  <a:lnTo>
                    <a:pt x="1517367" y="9025"/>
                  </a:lnTo>
                  <a:lnTo>
                    <a:pt x="2270799" y="1313991"/>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6" name="Google Shape;716;p45"/>
            <p:cNvSpPr/>
            <p:nvPr/>
          </p:nvSpPr>
          <p:spPr>
            <a:xfrm>
              <a:off x="2144839" y="1336543"/>
              <a:ext cx="3024504" cy="1314450"/>
            </a:xfrm>
            <a:custGeom>
              <a:avLst/>
              <a:gdLst/>
              <a:ahLst/>
              <a:cxnLst/>
              <a:rect l="l" t="t" r="r" b="b"/>
              <a:pathLst>
                <a:path w="3024504" h="1314450" extrusionOk="0">
                  <a:moveTo>
                    <a:pt x="3024106" y="1313980"/>
                  </a:moveTo>
                  <a:lnTo>
                    <a:pt x="0" y="1313980"/>
                  </a:lnTo>
                  <a:lnTo>
                    <a:pt x="753359" y="9109"/>
                  </a:lnTo>
                  <a:lnTo>
                    <a:pt x="758615" y="0"/>
                  </a:lnTo>
                  <a:lnTo>
                    <a:pt x="2265491" y="0"/>
                  </a:lnTo>
                  <a:lnTo>
                    <a:pt x="2270663" y="9015"/>
                  </a:lnTo>
                  <a:lnTo>
                    <a:pt x="3024106" y="1313980"/>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7" name="Google Shape;717;p45"/>
            <p:cNvSpPr/>
            <p:nvPr/>
          </p:nvSpPr>
          <p:spPr>
            <a:xfrm>
              <a:off x="622377" y="3964521"/>
              <a:ext cx="2275840" cy="2628265"/>
            </a:xfrm>
            <a:custGeom>
              <a:avLst/>
              <a:gdLst/>
              <a:ahLst/>
              <a:cxnLst/>
              <a:rect l="l" t="t" r="r" b="b"/>
              <a:pathLst>
                <a:path w="2275840" h="2628265" extrusionOk="0">
                  <a:moveTo>
                    <a:pt x="1522466" y="1313980"/>
                  </a:moveTo>
                  <a:lnTo>
                    <a:pt x="1517210" y="1322996"/>
                  </a:lnTo>
                  <a:lnTo>
                    <a:pt x="763767" y="2627961"/>
                  </a:lnTo>
                  <a:lnTo>
                    <a:pt x="753348" y="2627961"/>
                  </a:lnTo>
                  <a:lnTo>
                    <a:pt x="0" y="1323090"/>
                  </a:lnTo>
                  <a:lnTo>
                    <a:pt x="5162" y="1313980"/>
                  </a:lnTo>
                  <a:lnTo>
                    <a:pt x="758605" y="9015"/>
                  </a:lnTo>
                  <a:lnTo>
                    <a:pt x="763861" y="0"/>
                  </a:lnTo>
                  <a:lnTo>
                    <a:pt x="2270653" y="0"/>
                  </a:lnTo>
                  <a:lnTo>
                    <a:pt x="2275815" y="9015"/>
                  </a:lnTo>
                  <a:lnTo>
                    <a:pt x="1522466" y="1313980"/>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8" name="Google Shape;718;p45"/>
            <p:cNvSpPr/>
            <p:nvPr/>
          </p:nvSpPr>
          <p:spPr>
            <a:xfrm>
              <a:off x="1386234" y="2650527"/>
              <a:ext cx="2270760" cy="1314450"/>
            </a:xfrm>
            <a:custGeom>
              <a:avLst/>
              <a:gdLst/>
              <a:ahLst/>
              <a:cxnLst/>
              <a:rect l="l" t="t" r="r" b="b"/>
              <a:pathLst>
                <a:path w="2270760" h="1314450" extrusionOk="0">
                  <a:moveTo>
                    <a:pt x="2270569" y="9025"/>
                  </a:moveTo>
                  <a:lnTo>
                    <a:pt x="1517220" y="1313991"/>
                  </a:lnTo>
                  <a:lnTo>
                    <a:pt x="0" y="1313991"/>
                  </a:lnTo>
                  <a:lnTo>
                    <a:pt x="758615" y="0"/>
                  </a:lnTo>
                  <a:lnTo>
                    <a:pt x="2265407" y="0"/>
                  </a:lnTo>
                  <a:lnTo>
                    <a:pt x="2270569" y="9025"/>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19" name="Google Shape;719;p45"/>
            <p:cNvSpPr/>
            <p:nvPr/>
          </p:nvSpPr>
          <p:spPr>
            <a:xfrm>
              <a:off x="15794983" y="3964522"/>
              <a:ext cx="763905" cy="1323339"/>
            </a:xfrm>
            <a:custGeom>
              <a:avLst/>
              <a:gdLst/>
              <a:ahLst/>
              <a:cxnLst/>
              <a:rect l="l" t="t" r="r" b="b"/>
              <a:pathLst>
                <a:path w="763905" h="1323339" extrusionOk="0">
                  <a:moveTo>
                    <a:pt x="0" y="1323090"/>
                  </a:moveTo>
                  <a:lnTo>
                    <a:pt x="5256" y="1313980"/>
                  </a:lnTo>
                  <a:lnTo>
                    <a:pt x="758615" y="9109"/>
                  </a:lnTo>
                  <a:lnTo>
                    <a:pt x="763872" y="0"/>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0" name="Google Shape;720;p45"/>
            <p:cNvSpPr/>
            <p:nvPr/>
          </p:nvSpPr>
          <p:spPr>
            <a:xfrm>
              <a:off x="9725941" y="7915590"/>
              <a:ext cx="4552315" cy="3393440"/>
            </a:xfrm>
            <a:custGeom>
              <a:avLst/>
              <a:gdLst/>
              <a:ahLst/>
              <a:cxnLst/>
              <a:rect l="l" t="t" r="r" b="b"/>
              <a:pathLst>
                <a:path w="4552315" h="3393440" extrusionOk="0">
                  <a:moveTo>
                    <a:pt x="441701" y="3392965"/>
                  </a:moveTo>
                  <a:lnTo>
                    <a:pt x="0" y="2627888"/>
                  </a:lnTo>
                  <a:lnTo>
                    <a:pt x="758605" y="1313907"/>
                  </a:lnTo>
                  <a:lnTo>
                    <a:pt x="3793130" y="1313907"/>
                  </a:lnTo>
                  <a:lnTo>
                    <a:pt x="3798386" y="1304871"/>
                  </a:lnTo>
                  <a:lnTo>
                    <a:pt x="4551746" y="0"/>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1" name="Google Shape;721;p45"/>
            <p:cNvSpPr/>
            <p:nvPr/>
          </p:nvSpPr>
          <p:spPr>
            <a:xfrm>
              <a:off x="14277684" y="7906477"/>
              <a:ext cx="1522730" cy="2637154"/>
            </a:xfrm>
            <a:custGeom>
              <a:avLst/>
              <a:gdLst/>
              <a:ahLst/>
              <a:cxnLst/>
              <a:rect l="l" t="t" r="r" b="b"/>
              <a:pathLst>
                <a:path w="1522730" h="2637154" extrusionOk="0">
                  <a:moveTo>
                    <a:pt x="0" y="2636998"/>
                  </a:moveTo>
                  <a:lnTo>
                    <a:pt x="5256" y="2627982"/>
                  </a:lnTo>
                  <a:lnTo>
                    <a:pt x="758605" y="1323101"/>
                  </a:lnTo>
                  <a:lnTo>
                    <a:pt x="763861" y="1313980"/>
                  </a:lnTo>
                  <a:lnTo>
                    <a:pt x="1517294" y="9025"/>
                  </a:lnTo>
                  <a:lnTo>
                    <a:pt x="1522466"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2" name="Google Shape;722;p45"/>
            <p:cNvSpPr/>
            <p:nvPr/>
          </p:nvSpPr>
          <p:spPr>
            <a:xfrm>
              <a:off x="16553600" y="6592485"/>
              <a:ext cx="5715" cy="9525"/>
            </a:xfrm>
            <a:custGeom>
              <a:avLst/>
              <a:gdLst/>
              <a:ahLst/>
              <a:cxnLst/>
              <a:rect l="l" t="t" r="r" b="b"/>
              <a:pathLst>
                <a:path w="5715" h="9525" extrusionOk="0">
                  <a:moveTo>
                    <a:pt x="5256" y="0"/>
                  </a:moveTo>
                  <a:lnTo>
                    <a:pt x="0" y="902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3" name="Google Shape;723;p45"/>
            <p:cNvSpPr/>
            <p:nvPr/>
          </p:nvSpPr>
          <p:spPr>
            <a:xfrm>
              <a:off x="15794905" y="9220463"/>
              <a:ext cx="763905" cy="1323340"/>
            </a:xfrm>
            <a:custGeom>
              <a:avLst/>
              <a:gdLst/>
              <a:ahLst/>
              <a:cxnLst/>
              <a:rect l="l" t="t" r="r" b="b"/>
              <a:pathLst>
                <a:path w="763905" h="1323340" extrusionOk="0">
                  <a:moveTo>
                    <a:pt x="763861" y="0"/>
                  </a:moveTo>
                  <a:lnTo>
                    <a:pt x="758699" y="9025"/>
                  </a:lnTo>
                  <a:lnTo>
                    <a:pt x="5256" y="1313991"/>
                  </a:lnTo>
                  <a:lnTo>
                    <a:pt x="0" y="1323017"/>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4" name="Google Shape;724;p45"/>
            <p:cNvSpPr/>
            <p:nvPr/>
          </p:nvSpPr>
          <p:spPr>
            <a:xfrm>
              <a:off x="17312213" y="3964522"/>
              <a:ext cx="2276475" cy="2628265"/>
            </a:xfrm>
            <a:custGeom>
              <a:avLst/>
              <a:gdLst/>
              <a:ahLst/>
              <a:cxnLst/>
              <a:rect l="l" t="t" r="r" b="b"/>
              <a:pathLst>
                <a:path w="2276475" h="2628265" extrusionOk="0">
                  <a:moveTo>
                    <a:pt x="2275909" y="9015"/>
                  </a:moveTo>
                  <a:lnTo>
                    <a:pt x="1517304" y="1322996"/>
                  </a:lnTo>
                  <a:lnTo>
                    <a:pt x="763861" y="2627961"/>
                  </a:lnTo>
                  <a:lnTo>
                    <a:pt x="753443" y="2627961"/>
                  </a:lnTo>
                  <a:lnTo>
                    <a:pt x="0" y="1323090"/>
                  </a:lnTo>
                  <a:lnTo>
                    <a:pt x="5256" y="1313980"/>
                  </a:lnTo>
                  <a:lnTo>
                    <a:pt x="758699" y="9015"/>
                  </a:lnTo>
                  <a:lnTo>
                    <a:pt x="763861" y="0"/>
                  </a:lnTo>
                  <a:lnTo>
                    <a:pt x="2270653" y="0"/>
                  </a:lnTo>
                  <a:lnTo>
                    <a:pt x="2275909" y="9015"/>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5" name="Google Shape;725;p45"/>
            <p:cNvSpPr/>
            <p:nvPr/>
          </p:nvSpPr>
          <p:spPr>
            <a:xfrm>
              <a:off x="19593381" y="451868"/>
              <a:ext cx="511175" cy="885190"/>
            </a:xfrm>
            <a:custGeom>
              <a:avLst/>
              <a:gdLst/>
              <a:ahLst/>
              <a:cxnLst/>
              <a:rect l="l" t="t" r="r" b="b"/>
              <a:pathLst>
                <a:path w="511175" h="885190" extrusionOk="0">
                  <a:moveTo>
                    <a:pt x="510716" y="884672"/>
                  </a:moveTo>
                  <a:lnTo>
                    <a:pt x="0" y="884672"/>
                  </a:lnTo>
                  <a:lnTo>
                    <a:pt x="510716"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6" name="Google Shape;726;p45"/>
            <p:cNvSpPr/>
            <p:nvPr/>
          </p:nvSpPr>
          <p:spPr>
            <a:xfrm>
              <a:off x="8967330" y="2650524"/>
              <a:ext cx="3798570" cy="6579234"/>
            </a:xfrm>
            <a:custGeom>
              <a:avLst/>
              <a:gdLst/>
              <a:ahLst/>
              <a:cxnLst/>
              <a:rect l="l" t="t" r="r" b="b"/>
              <a:pathLst>
                <a:path w="3798570" h="6579234" extrusionOk="0">
                  <a:moveTo>
                    <a:pt x="3798386" y="0"/>
                  </a:moveTo>
                  <a:lnTo>
                    <a:pt x="3793130" y="9025"/>
                  </a:lnTo>
                  <a:lnTo>
                    <a:pt x="3039781" y="1313991"/>
                  </a:lnTo>
                  <a:lnTo>
                    <a:pt x="3034525" y="1323101"/>
                  </a:lnTo>
                  <a:lnTo>
                    <a:pt x="2281082" y="2627972"/>
                  </a:lnTo>
                  <a:lnTo>
                    <a:pt x="2275920" y="2636998"/>
                  </a:lnTo>
                  <a:lnTo>
                    <a:pt x="1517304" y="3950989"/>
                  </a:lnTo>
                  <a:lnTo>
                    <a:pt x="763861" y="5255955"/>
                  </a:lnTo>
                  <a:lnTo>
                    <a:pt x="758605" y="5265064"/>
                  </a:lnTo>
                  <a:lnTo>
                    <a:pt x="5256" y="6569936"/>
                  </a:lnTo>
                  <a:lnTo>
                    <a:pt x="0" y="6578972"/>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7" name="Google Shape;727;p45"/>
            <p:cNvSpPr/>
            <p:nvPr/>
          </p:nvSpPr>
          <p:spPr>
            <a:xfrm>
              <a:off x="8208631" y="10534456"/>
              <a:ext cx="5715" cy="9525"/>
            </a:xfrm>
            <a:custGeom>
              <a:avLst/>
              <a:gdLst/>
              <a:ahLst/>
              <a:cxnLst/>
              <a:rect l="l" t="t" r="r" b="b"/>
              <a:pathLst>
                <a:path w="5715" h="9525" extrusionOk="0">
                  <a:moveTo>
                    <a:pt x="5256" y="0"/>
                  </a:moveTo>
                  <a:lnTo>
                    <a:pt x="0" y="9109"/>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8" name="Google Shape;728;p45"/>
            <p:cNvSpPr/>
            <p:nvPr/>
          </p:nvSpPr>
          <p:spPr>
            <a:xfrm>
              <a:off x="9725940" y="10534456"/>
              <a:ext cx="5715" cy="9525"/>
            </a:xfrm>
            <a:custGeom>
              <a:avLst/>
              <a:gdLst/>
              <a:ahLst/>
              <a:cxnLst/>
              <a:rect l="l" t="t" r="r" b="b"/>
              <a:pathLst>
                <a:path w="5715" h="9525" extrusionOk="0">
                  <a:moveTo>
                    <a:pt x="5172" y="0"/>
                  </a:moveTo>
                  <a:lnTo>
                    <a:pt x="0" y="901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29" name="Google Shape;729;p45"/>
            <p:cNvSpPr/>
            <p:nvPr/>
          </p:nvSpPr>
          <p:spPr>
            <a:xfrm>
              <a:off x="13519069" y="2650520"/>
              <a:ext cx="763905" cy="1323339"/>
            </a:xfrm>
            <a:custGeom>
              <a:avLst/>
              <a:gdLst/>
              <a:ahLst/>
              <a:cxnLst/>
              <a:rect l="l" t="t" r="r" b="b"/>
              <a:pathLst>
                <a:path w="763905" h="1323339" extrusionOk="0">
                  <a:moveTo>
                    <a:pt x="0" y="1323017"/>
                  </a:moveTo>
                  <a:lnTo>
                    <a:pt x="5256" y="1314001"/>
                  </a:lnTo>
                  <a:lnTo>
                    <a:pt x="758615" y="9036"/>
                  </a:lnTo>
                  <a:lnTo>
                    <a:pt x="763872"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0" name="Google Shape;730;p45"/>
            <p:cNvSpPr/>
            <p:nvPr/>
          </p:nvSpPr>
          <p:spPr>
            <a:xfrm>
              <a:off x="12760462" y="5278502"/>
              <a:ext cx="5715" cy="9525"/>
            </a:xfrm>
            <a:custGeom>
              <a:avLst/>
              <a:gdLst/>
              <a:ahLst/>
              <a:cxnLst/>
              <a:rect l="l" t="t" r="r" b="b"/>
              <a:pathLst>
                <a:path w="5715" h="9525" extrusionOk="0">
                  <a:moveTo>
                    <a:pt x="5172" y="0"/>
                  </a:moveTo>
                  <a:lnTo>
                    <a:pt x="0" y="9109"/>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1" name="Google Shape;731;p45"/>
            <p:cNvSpPr/>
            <p:nvPr/>
          </p:nvSpPr>
          <p:spPr>
            <a:xfrm>
              <a:off x="12760465" y="6592485"/>
              <a:ext cx="763905" cy="1323340"/>
            </a:xfrm>
            <a:custGeom>
              <a:avLst/>
              <a:gdLst/>
              <a:ahLst/>
              <a:cxnLst/>
              <a:rect l="l" t="t" r="r" b="b"/>
              <a:pathLst>
                <a:path w="763905" h="1323340" extrusionOk="0">
                  <a:moveTo>
                    <a:pt x="763777" y="0"/>
                  </a:moveTo>
                  <a:lnTo>
                    <a:pt x="758605" y="9025"/>
                  </a:lnTo>
                  <a:lnTo>
                    <a:pt x="5172" y="1313991"/>
                  </a:lnTo>
                  <a:lnTo>
                    <a:pt x="0" y="1323017"/>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2" name="Google Shape;732;p45"/>
            <p:cNvSpPr/>
            <p:nvPr/>
          </p:nvSpPr>
          <p:spPr>
            <a:xfrm>
              <a:off x="11237897" y="2650528"/>
              <a:ext cx="764540" cy="1323339"/>
            </a:xfrm>
            <a:custGeom>
              <a:avLst/>
              <a:gdLst/>
              <a:ahLst/>
              <a:cxnLst/>
              <a:rect l="l" t="t" r="r" b="b"/>
              <a:pathLst>
                <a:path w="764540" h="1323339" extrusionOk="0">
                  <a:moveTo>
                    <a:pt x="763955" y="1323101"/>
                  </a:moveTo>
                  <a:lnTo>
                    <a:pt x="758699" y="1313991"/>
                  </a:lnTo>
                  <a:lnTo>
                    <a:pt x="5256" y="9025"/>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3" name="Google Shape;733;p45"/>
            <p:cNvSpPr/>
            <p:nvPr/>
          </p:nvSpPr>
          <p:spPr>
            <a:xfrm>
              <a:off x="6696577" y="22546"/>
              <a:ext cx="1511934" cy="0"/>
            </a:xfrm>
            <a:custGeom>
              <a:avLst/>
              <a:gdLst/>
              <a:ahLst/>
              <a:cxnLst/>
              <a:rect l="l" t="t" r="r" b="b"/>
              <a:pathLst>
                <a:path w="1511934" h="120000" extrusionOk="0">
                  <a:moveTo>
                    <a:pt x="1511912" y="0"/>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4" name="Google Shape;734;p45"/>
            <p:cNvSpPr/>
            <p:nvPr/>
          </p:nvSpPr>
          <p:spPr>
            <a:xfrm>
              <a:off x="15353228" y="10543478"/>
              <a:ext cx="883919" cy="765175"/>
            </a:xfrm>
            <a:custGeom>
              <a:avLst/>
              <a:gdLst/>
              <a:ahLst/>
              <a:cxnLst/>
              <a:rect l="l" t="t" r="r" b="b"/>
              <a:pathLst>
                <a:path w="883919" h="765175" extrusionOk="0">
                  <a:moveTo>
                    <a:pt x="0" y="765077"/>
                  </a:moveTo>
                  <a:lnTo>
                    <a:pt x="441674" y="0"/>
                  </a:lnTo>
                  <a:lnTo>
                    <a:pt x="883404" y="765077"/>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5" name="Google Shape;735;p45"/>
            <p:cNvSpPr/>
            <p:nvPr/>
          </p:nvSpPr>
          <p:spPr>
            <a:xfrm>
              <a:off x="14277688" y="7915593"/>
              <a:ext cx="758825" cy="1314450"/>
            </a:xfrm>
            <a:custGeom>
              <a:avLst/>
              <a:gdLst/>
              <a:ahLst/>
              <a:cxnLst/>
              <a:rect l="l" t="t" r="r" b="b"/>
              <a:pathLst>
                <a:path w="758825" h="1314450" extrusionOk="0">
                  <a:moveTo>
                    <a:pt x="758605" y="1313980"/>
                  </a:moveTo>
                  <a:lnTo>
                    <a:pt x="753432" y="1304871"/>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6" name="Google Shape;736;p45"/>
            <p:cNvSpPr/>
            <p:nvPr/>
          </p:nvSpPr>
          <p:spPr>
            <a:xfrm>
              <a:off x="12755207" y="5278497"/>
              <a:ext cx="763905" cy="1323340"/>
            </a:xfrm>
            <a:custGeom>
              <a:avLst/>
              <a:gdLst/>
              <a:ahLst/>
              <a:cxnLst/>
              <a:rect l="l" t="t" r="r" b="b"/>
              <a:pathLst>
                <a:path w="763905" h="1323340" extrusionOk="0">
                  <a:moveTo>
                    <a:pt x="763861" y="1323017"/>
                  </a:moveTo>
                  <a:lnTo>
                    <a:pt x="758605" y="1313991"/>
                  </a:lnTo>
                  <a:lnTo>
                    <a:pt x="5256" y="9120"/>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7" name="Google Shape;737;p45"/>
            <p:cNvSpPr/>
            <p:nvPr/>
          </p:nvSpPr>
          <p:spPr>
            <a:xfrm>
              <a:off x="14272514" y="10534459"/>
              <a:ext cx="447040" cy="774700"/>
            </a:xfrm>
            <a:custGeom>
              <a:avLst/>
              <a:gdLst/>
              <a:ahLst/>
              <a:cxnLst/>
              <a:rect l="l" t="t" r="r" b="b"/>
              <a:pathLst>
                <a:path w="447040" h="774700" extrusionOk="0">
                  <a:moveTo>
                    <a:pt x="446898" y="774096"/>
                  </a:moveTo>
                  <a:lnTo>
                    <a:pt x="5172" y="9015"/>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8" name="Google Shape;738;p45"/>
            <p:cNvSpPr/>
            <p:nvPr/>
          </p:nvSpPr>
          <p:spPr>
            <a:xfrm>
              <a:off x="9720683" y="2650524"/>
              <a:ext cx="3798569" cy="6579234"/>
            </a:xfrm>
            <a:custGeom>
              <a:avLst/>
              <a:gdLst/>
              <a:ahLst/>
              <a:cxnLst/>
              <a:rect l="l" t="t" r="r" b="b"/>
              <a:pathLst>
                <a:path w="3798569" h="6579234" extrusionOk="0">
                  <a:moveTo>
                    <a:pt x="0" y="0"/>
                  </a:moveTo>
                  <a:lnTo>
                    <a:pt x="5256" y="9025"/>
                  </a:lnTo>
                  <a:lnTo>
                    <a:pt x="1517304" y="2627972"/>
                  </a:lnTo>
                  <a:lnTo>
                    <a:pt x="1522560" y="2636998"/>
                  </a:lnTo>
                  <a:lnTo>
                    <a:pt x="3034525" y="5255955"/>
                  </a:lnTo>
                  <a:lnTo>
                    <a:pt x="3039781" y="5264970"/>
                  </a:lnTo>
                  <a:lnTo>
                    <a:pt x="3793224" y="6569936"/>
                  </a:lnTo>
                  <a:lnTo>
                    <a:pt x="3798386" y="6578972"/>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39" name="Google Shape;739;p45"/>
            <p:cNvSpPr/>
            <p:nvPr/>
          </p:nvSpPr>
          <p:spPr>
            <a:xfrm>
              <a:off x="18065650" y="3964522"/>
              <a:ext cx="5715" cy="9525"/>
            </a:xfrm>
            <a:custGeom>
              <a:avLst/>
              <a:gdLst/>
              <a:ahLst/>
              <a:cxnLst/>
              <a:rect l="l" t="t" r="r" b="b"/>
              <a:pathLst>
                <a:path w="5715" h="9525" extrusionOk="0">
                  <a:moveTo>
                    <a:pt x="5256" y="9015"/>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0" name="Google Shape;740;p45"/>
            <p:cNvSpPr/>
            <p:nvPr/>
          </p:nvSpPr>
          <p:spPr>
            <a:xfrm>
              <a:off x="19588125" y="9220468"/>
              <a:ext cx="516255" cy="902970"/>
            </a:xfrm>
            <a:custGeom>
              <a:avLst/>
              <a:gdLst/>
              <a:ahLst/>
              <a:cxnLst/>
              <a:rect l="l" t="t" r="r" b="b"/>
              <a:pathLst>
                <a:path w="516255" h="902970" extrusionOk="0">
                  <a:moveTo>
                    <a:pt x="515973" y="902804"/>
                  </a:moveTo>
                  <a:lnTo>
                    <a:pt x="0" y="9025"/>
                  </a:lnTo>
                  <a:lnTo>
                    <a:pt x="5162" y="0"/>
                  </a:lnTo>
                  <a:lnTo>
                    <a:pt x="515973"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1" name="Google Shape;741;p45"/>
            <p:cNvSpPr/>
            <p:nvPr/>
          </p:nvSpPr>
          <p:spPr>
            <a:xfrm>
              <a:off x="18076067" y="7906482"/>
              <a:ext cx="2028190" cy="1314450"/>
            </a:xfrm>
            <a:custGeom>
              <a:avLst/>
              <a:gdLst/>
              <a:ahLst/>
              <a:cxnLst/>
              <a:rect l="l" t="t" r="r" b="b"/>
              <a:pathLst>
                <a:path w="2028190" h="1314450" extrusionOk="0">
                  <a:moveTo>
                    <a:pt x="2028031" y="1313980"/>
                  </a:moveTo>
                  <a:lnTo>
                    <a:pt x="0" y="1313980"/>
                  </a:lnTo>
                  <a:lnTo>
                    <a:pt x="753453" y="9109"/>
                  </a:lnTo>
                  <a:lnTo>
                    <a:pt x="758699" y="0"/>
                  </a:lnTo>
                  <a:lnTo>
                    <a:pt x="2028031"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2" name="Google Shape;742;p45"/>
            <p:cNvSpPr/>
            <p:nvPr/>
          </p:nvSpPr>
          <p:spPr>
            <a:xfrm>
              <a:off x="18065653" y="6592489"/>
              <a:ext cx="5715" cy="9525"/>
            </a:xfrm>
            <a:custGeom>
              <a:avLst/>
              <a:gdLst/>
              <a:ahLst/>
              <a:cxnLst/>
              <a:rect l="l" t="t" r="r" b="b"/>
              <a:pathLst>
                <a:path w="5715" h="9525" extrusionOk="0">
                  <a:moveTo>
                    <a:pt x="5162" y="9025"/>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3" name="Google Shape;743;p45"/>
            <p:cNvSpPr/>
            <p:nvPr/>
          </p:nvSpPr>
          <p:spPr>
            <a:xfrm>
              <a:off x="16548345" y="3964522"/>
              <a:ext cx="763905" cy="1323339"/>
            </a:xfrm>
            <a:custGeom>
              <a:avLst/>
              <a:gdLst/>
              <a:ahLst/>
              <a:cxnLst/>
              <a:rect l="l" t="t" r="r" b="b"/>
              <a:pathLst>
                <a:path w="763905" h="1323339" extrusionOk="0">
                  <a:moveTo>
                    <a:pt x="763861" y="1323090"/>
                  </a:moveTo>
                  <a:lnTo>
                    <a:pt x="758605" y="1313980"/>
                  </a:lnTo>
                  <a:lnTo>
                    <a:pt x="5256" y="9109"/>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4" name="Google Shape;744;p45"/>
            <p:cNvSpPr/>
            <p:nvPr/>
          </p:nvSpPr>
          <p:spPr>
            <a:xfrm>
              <a:off x="15789730" y="2650527"/>
              <a:ext cx="5715" cy="9525"/>
            </a:xfrm>
            <a:custGeom>
              <a:avLst/>
              <a:gdLst/>
              <a:ahLst/>
              <a:cxnLst/>
              <a:rect l="l" t="t" r="r" b="b"/>
              <a:pathLst>
                <a:path w="5715" h="9525" extrusionOk="0">
                  <a:moveTo>
                    <a:pt x="5172" y="9025"/>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5" name="Google Shape;745;p45"/>
            <p:cNvSpPr/>
            <p:nvPr/>
          </p:nvSpPr>
          <p:spPr>
            <a:xfrm>
              <a:off x="18824258" y="7906480"/>
              <a:ext cx="5715" cy="9525"/>
            </a:xfrm>
            <a:custGeom>
              <a:avLst/>
              <a:gdLst/>
              <a:ahLst/>
              <a:cxnLst/>
              <a:rect l="l" t="t" r="r" b="b"/>
              <a:pathLst>
                <a:path w="5715" h="9525" extrusionOk="0">
                  <a:moveTo>
                    <a:pt x="5256" y="9109"/>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6" name="Google Shape;746;p45"/>
            <p:cNvSpPr/>
            <p:nvPr/>
          </p:nvSpPr>
          <p:spPr>
            <a:xfrm>
              <a:off x="18387781" y="10534459"/>
              <a:ext cx="1716405" cy="774700"/>
            </a:xfrm>
            <a:custGeom>
              <a:avLst/>
              <a:gdLst/>
              <a:ahLst/>
              <a:cxnLst/>
              <a:rect l="l" t="t" r="r" b="b"/>
              <a:pathLst>
                <a:path w="1716405" h="774700" extrusionOk="0">
                  <a:moveTo>
                    <a:pt x="0" y="774096"/>
                  </a:moveTo>
                  <a:lnTo>
                    <a:pt x="441738" y="9015"/>
                  </a:lnTo>
                  <a:lnTo>
                    <a:pt x="446900" y="0"/>
                  </a:lnTo>
                  <a:lnTo>
                    <a:pt x="1716316"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7" name="Google Shape;747;p45"/>
            <p:cNvSpPr/>
            <p:nvPr/>
          </p:nvSpPr>
          <p:spPr>
            <a:xfrm>
              <a:off x="18070905" y="9220465"/>
              <a:ext cx="2033269" cy="1314450"/>
            </a:xfrm>
            <a:custGeom>
              <a:avLst/>
              <a:gdLst/>
              <a:ahLst/>
              <a:cxnLst/>
              <a:rect l="l" t="t" r="r" b="b"/>
              <a:pathLst>
                <a:path w="2033269" h="1314450" extrusionOk="0">
                  <a:moveTo>
                    <a:pt x="2033194" y="1313991"/>
                  </a:moveTo>
                  <a:lnTo>
                    <a:pt x="753359" y="1313991"/>
                  </a:lnTo>
                  <a:lnTo>
                    <a:pt x="0" y="9025"/>
                  </a:lnTo>
                  <a:lnTo>
                    <a:pt x="5162" y="0"/>
                  </a:lnTo>
                  <a:lnTo>
                    <a:pt x="1511964" y="0"/>
                  </a:lnTo>
                  <a:lnTo>
                    <a:pt x="1517220" y="9025"/>
                  </a:lnTo>
                  <a:lnTo>
                    <a:pt x="2033194" y="90280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8" name="Google Shape;748;p45"/>
            <p:cNvSpPr/>
            <p:nvPr/>
          </p:nvSpPr>
          <p:spPr>
            <a:xfrm>
              <a:off x="14272511" y="2650524"/>
              <a:ext cx="3798569" cy="6579234"/>
            </a:xfrm>
            <a:custGeom>
              <a:avLst/>
              <a:gdLst/>
              <a:ahLst/>
              <a:cxnLst/>
              <a:rect l="l" t="t" r="r" b="b"/>
              <a:pathLst>
                <a:path w="3798569" h="6579234" extrusionOk="0">
                  <a:moveTo>
                    <a:pt x="0" y="0"/>
                  </a:moveTo>
                  <a:lnTo>
                    <a:pt x="5172" y="9025"/>
                  </a:lnTo>
                  <a:lnTo>
                    <a:pt x="1517210" y="2627972"/>
                  </a:lnTo>
                  <a:lnTo>
                    <a:pt x="1522466" y="2637092"/>
                  </a:lnTo>
                  <a:lnTo>
                    <a:pt x="2275836" y="3941963"/>
                  </a:lnTo>
                  <a:lnTo>
                    <a:pt x="2281092" y="3950989"/>
                  </a:lnTo>
                  <a:lnTo>
                    <a:pt x="3034525" y="5255955"/>
                  </a:lnTo>
                  <a:lnTo>
                    <a:pt x="3039698" y="5264970"/>
                  </a:lnTo>
                  <a:lnTo>
                    <a:pt x="3793141" y="6569936"/>
                  </a:lnTo>
                  <a:lnTo>
                    <a:pt x="3798397" y="6578972"/>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49" name="Google Shape;749;p45"/>
            <p:cNvSpPr/>
            <p:nvPr/>
          </p:nvSpPr>
          <p:spPr>
            <a:xfrm>
              <a:off x="18824258" y="10534460"/>
              <a:ext cx="5715" cy="9525"/>
            </a:xfrm>
            <a:custGeom>
              <a:avLst/>
              <a:gdLst/>
              <a:ahLst/>
              <a:cxnLst/>
              <a:rect l="l" t="t" r="r" b="b"/>
              <a:pathLst>
                <a:path w="5715" h="9525" extrusionOk="0">
                  <a:moveTo>
                    <a:pt x="5256" y="9015"/>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0" name="Google Shape;750;p45"/>
            <p:cNvSpPr/>
            <p:nvPr/>
          </p:nvSpPr>
          <p:spPr>
            <a:xfrm>
              <a:off x="15031119" y="6592485"/>
              <a:ext cx="763905" cy="1323340"/>
            </a:xfrm>
            <a:custGeom>
              <a:avLst/>
              <a:gdLst/>
              <a:ahLst/>
              <a:cxnLst/>
              <a:rect l="l" t="t" r="r" b="b"/>
              <a:pathLst>
                <a:path w="763905" h="1323340" extrusionOk="0">
                  <a:moveTo>
                    <a:pt x="0" y="0"/>
                  </a:moveTo>
                  <a:lnTo>
                    <a:pt x="5256" y="9025"/>
                  </a:lnTo>
                  <a:lnTo>
                    <a:pt x="758699" y="1313991"/>
                  </a:lnTo>
                  <a:lnTo>
                    <a:pt x="763861" y="1323017"/>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1" name="Google Shape;751;p45"/>
            <p:cNvSpPr/>
            <p:nvPr/>
          </p:nvSpPr>
          <p:spPr>
            <a:xfrm>
              <a:off x="12755298" y="2650527"/>
              <a:ext cx="5715" cy="9525"/>
            </a:xfrm>
            <a:custGeom>
              <a:avLst/>
              <a:gdLst/>
              <a:ahLst/>
              <a:cxnLst/>
              <a:rect l="l" t="t" r="r" b="b"/>
              <a:pathLst>
                <a:path w="5715" h="9525" extrusionOk="0">
                  <a:moveTo>
                    <a:pt x="5162" y="9025"/>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2" name="Google Shape;752;p45"/>
            <p:cNvSpPr/>
            <p:nvPr/>
          </p:nvSpPr>
          <p:spPr>
            <a:xfrm>
              <a:off x="13513905" y="3964518"/>
              <a:ext cx="758825" cy="1314450"/>
            </a:xfrm>
            <a:custGeom>
              <a:avLst/>
              <a:gdLst/>
              <a:ahLst/>
              <a:cxnLst/>
              <a:rect l="l" t="t" r="r" b="b"/>
              <a:pathLst>
                <a:path w="758825" h="1314450" extrusionOk="0">
                  <a:moveTo>
                    <a:pt x="0" y="0"/>
                  </a:moveTo>
                  <a:lnTo>
                    <a:pt x="5162" y="9015"/>
                  </a:lnTo>
                  <a:lnTo>
                    <a:pt x="758605" y="131398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3" name="Google Shape;753;p45"/>
            <p:cNvSpPr/>
            <p:nvPr/>
          </p:nvSpPr>
          <p:spPr>
            <a:xfrm>
              <a:off x="18070811" y="5287523"/>
              <a:ext cx="2033905" cy="2619375"/>
            </a:xfrm>
            <a:custGeom>
              <a:avLst/>
              <a:gdLst/>
              <a:ahLst/>
              <a:cxnLst/>
              <a:rect l="l" t="t" r="r" b="b"/>
              <a:pathLst>
                <a:path w="2033905" h="2619375" extrusionOk="0">
                  <a:moveTo>
                    <a:pt x="2033286" y="2618956"/>
                  </a:moveTo>
                  <a:lnTo>
                    <a:pt x="753443" y="2618956"/>
                  </a:lnTo>
                  <a:lnTo>
                    <a:pt x="0" y="1313991"/>
                  </a:lnTo>
                  <a:lnTo>
                    <a:pt x="5256" y="1304965"/>
                  </a:lnTo>
                  <a:lnTo>
                    <a:pt x="758699" y="0"/>
                  </a:lnTo>
                  <a:lnTo>
                    <a:pt x="1512131" y="1304965"/>
                  </a:lnTo>
                  <a:lnTo>
                    <a:pt x="1517315" y="1313991"/>
                  </a:lnTo>
                  <a:lnTo>
                    <a:pt x="1522571" y="1304965"/>
                  </a:lnTo>
                  <a:lnTo>
                    <a:pt x="2033286" y="130496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4" name="Google Shape;754;p45"/>
            <p:cNvSpPr/>
            <p:nvPr/>
          </p:nvSpPr>
          <p:spPr>
            <a:xfrm>
              <a:off x="18070909" y="22550"/>
              <a:ext cx="2033269" cy="2628265"/>
            </a:xfrm>
            <a:custGeom>
              <a:avLst/>
              <a:gdLst/>
              <a:ahLst/>
              <a:cxnLst/>
              <a:rect l="l" t="t" r="r" b="b"/>
              <a:pathLst>
                <a:path w="2033269" h="2628265" extrusionOk="0">
                  <a:moveTo>
                    <a:pt x="1522466" y="1313991"/>
                  </a:moveTo>
                  <a:lnTo>
                    <a:pt x="1517210" y="1323006"/>
                  </a:lnTo>
                  <a:lnTo>
                    <a:pt x="763767" y="2627972"/>
                  </a:lnTo>
                  <a:lnTo>
                    <a:pt x="753348" y="2627972"/>
                  </a:lnTo>
                  <a:lnTo>
                    <a:pt x="0" y="1323101"/>
                  </a:lnTo>
                  <a:lnTo>
                    <a:pt x="5162" y="1313991"/>
                  </a:lnTo>
                  <a:lnTo>
                    <a:pt x="758605" y="9025"/>
                  </a:lnTo>
                  <a:lnTo>
                    <a:pt x="763767" y="0"/>
                  </a:lnTo>
                  <a:lnTo>
                    <a:pt x="2033188"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5" name="Google Shape;755;p45"/>
            <p:cNvSpPr/>
            <p:nvPr/>
          </p:nvSpPr>
          <p:spPr>
            <a:xfrm>
              <a:off x="19593377" y="451859"/>
              <a:ext cx="511175" cy="885190"/>
            </a:xfrm>
            <a:custGeom>
              <a:avLst/>
              <a:gdLst/>
              <a:ahLst/>
              <a:cxnLst/>
              <a:rect l="l" t="t" r="r" b="b"/>
              <a:pathLst>
                <a:path w="511175" h="885190" extrusionOk="0">
                  <a:moveTo>
                    <a:pt x="510721" y="0"/>
                  </a:moveTo>
                  <a:lnTo>
                    <a:pt x="0" y="884682"/>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6" name="Google Shape;756;p45"/>
            <p:cNvSpPr/>
            <p:nvPr/>
          </p:nvSpPr>
          <p:spPr>
            <a:xfrm>
              <a:off x="19588123" y="3964522"/>
              <a:ext cx="516255" cy="9525"/>
            </a:xfrm>
            <a:custGeom>
              <a:avLst/>
              <a:gdLst/>
              <a:ahLst/>
              <a:cxnLst/>
              <a:rect l="l" t="t" r="r" b="b"/>
              <a:pathLst>
                <a:path w="516255" h="9525" extrusionOk="0">
                  <a:moveTo>
                    <a:pt x="0" y="9015"/>
                  </a:moveTo>
                  <a:lnTo>
                    <a:pt x="5162" y="0"/>
                  </a:lnTo>
                  <a:lnTo>
                    <a:pt x="515975"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7" name="Google Shape;757;p45"/>
            <p:cNvSpPr/>
            <p:nvPr/>
          </p:nvSpPr>
          <p:spPr>
            <a:xfrm>
              <a:off x="11238079" y="22546"/>
              <a:ext cx="1527809" cy="0"/>
            </a:xfrm>
            <a:custGeom>
              <a:avLst/>
              <a:gdLst/>
              <a:ahLst/>
              <a:cxnLst/>
              <a:rect l="l" t="t" r="r" b="b"/>
              <a:pathLst>
                <a:path w="1527809" h="120000" extrusionOk="0">
                  <a:moveTo>
                    <a:pt x="1527555" y="0"/>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8" name="Google Shape;758;p45"/>
            <p:cNvSpPr/>
            <p:nvPr/>
          </p:nvSpPr>
          <p:spPr>
            <a:xfrm>
              <a:off x="11243241" y="22546"/>
              <a:ext cx="3034665" cy="1314450"/>
            </a:xfrm>
            <a:custGeom>
              <a:avLst/>
              <a:gdLst/>
              <a:ahLst/>
              <a:cxnLst/>
              <a:rect l="l" t="t" r="r" b="b"/>
              <a:pathLst>
                <a:path w="3034665" h="1314450" extrusionOk="0">
                  <a:moveTo>
                    <a:pt x="1522393" y="0"/>
                  </a:moveTo>
                  <a:lnTo>
                    <a:pt x="5172" y="0"/>
                  </a:lnTo>
                  <a:lnTo>
                    <a:pt x="0" y="9025"/>
                  </a:lnTo>
                  <a:lnTo>
                    <a:pt x="753359" y="1313991"/>
                  </a:lnTo>
                  <a:lnTo>
                    <a:pt x="763788" y="1313991"/>
                  </a:lnTo>
                  <a:lnTo>
                    <a:pt x="2270569" y="1313991"/>
                  </a:lnTo>
                  <a:lnTo>
                    <a:pt x="2281082" y="1313991"/>
                  </a:lnTo>
                  <a:lnTo>
                    <a:pt x="3034441" y="9109"/>
                  </a:lnTo>
                  <a:lnTo>
                    <a:pt x="3029185"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59" name="Google Shape;759;p45"/>
            <p:cNvSpPr/>
            <p:nvPr/>
          </p:nvSpPr>
          <p:spPr>
            <a:xfrm>
              <a:off x="12765713" y="31660"/>
              <a:ext cx="2270759" cy="2619375"/>
            </a:xfrm>
            <a:custGeom>
              <a:avLst/>
              <a:gdLst/>
              <a:ahLst/>
              <a:cxnLst/>
              <a:rect l="l" t="t" r="r" b="b"/>
              <a:pathLst>
                <a:path w="2270759" h="2619375" extrusionOk="0">
                  <a:moveTo>
                    <a:pt x="2270580" y="1313991"/>
                  </a:moveTo>
                  <a:lnTo>
                    <a:pt x="1517231" y="2618862"/>
                  </a:lnTo>
                  <a:lnTo>
                    <a:pt x="0" y="2618862"/>
                  </a:lnTo>
                  <a:lnTo>
                    <a:pt x="753359" y="1313991"/>
                  </a:lnTo>
                  <a:lnTo>
                    <a:pt x="758615" y="1304881"/>
                  </a:lnTo>
                  <a:lnTo>
                    <a:pt x="1511974" y="0"/>
                  </a:lnTo>
                  <a:lnTo>
                    <a:pt x="2265407" y="1304881"/>
                  </a:lnTo>
                  <a:lnTo>
                    <a:pt x="2270580" y="1313991"/>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0" name="Google Shape;760;p45"/>
            <p:cNvSpPr/>
            <p:nvPr/>
          </p:nvSpPr>
          <p:spPr>
            <a:xfrm>
              <a:off x="14272431" y="22546"/>
              <a:ext cx="2276475" cy="1314450"/>
            </a:xfrm>
            <a:custGeom>
              <a:avLst/>
              <a:gdLst/>
              <a:ahLst/>
              <a:cxnLst/>
              <a:rect l="l" t="t" r="r" b="b"/>
              <a:pathLst>
                <a:path w="2276475" h="1314450" extrusionOk="0">
                  <a:moveTo>
                    <a:pt x="1517388" y="0"/>
                  </a:moveTo>
                  <a:lnTo>
                    <a:pt x="1522550" y="9025"/>
                  </a:lnTo>
                  <a:lnTo>
                    <a:pt x="2275993" y="1313991"/>
                  </a:lnTo>
                  <a:lnTo>
                    <a:pt x="758688" y="1313991"/>
                  </a:lnTo>
                  <a:lnTo>
                    <a:pt x="5256" y="9109"/>
                  </a:lnTo>
                  <a:lnTo>
                    <a:pt x="10512" y="0"/>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1" name="Google Shape;761;p45"/>
            <p:cNvSpPr/>
            <p:nvPr/>
          </p:nvSpPr>
          <p:spPr>
            <a:xfrm>
              <a:off x="18834684" y="1336544"/>
              <a:ext cx="1270000" cy="1314450"/>
            </a:xfrm>
            <a:custGeom>
              <a:avLst/>
              <a:gdLst/>
              <a:ahLst/>
              <a:cxnLst/>
              <a:rect l="l" t="t" r="r" b="b"/>
              <a:pathLst>
                <a:path w="1270000" h="1314450" extrusionOk="0">
                  <a:moveTo>
                    <a:pt x="1269414" y="1313980"/>
                  </a:moveTo>
                  <a:lnTo>
                    <a:pt x="0" y="1313980"/>
                  </a:lnTo>
                  <a:lnTo>
                    <a:pt x="758699" y="0"/>
                  </a:lnTo>
                  <a:lnTo>
                    <a:pt x="1269414"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2" name="Google Shape;762;p45"/>
            <p:cNvSpPr/>
            <p:nvPr/>
          </p:nvSpPr>
          <p:spPr>
            <a:xfrm>
              <a:off x="18076067" y="2650526"/>
              <a:ext cx="2028190" cy="1314450"/>
            </a:xfrm>
            <a:custGeom>
              <a:avLst/>
              <a:gdLst/>
              <a:ahLst/>
              <a:cxnLst/>
              <a:rect l="l" t="t" r="r" b="b"/>
              <a:pathLst>
                <a:path w="2028190" h="1314450" extrusionOk="0">
                  <a:moveTo>
                    <a:pt x="2028031" y="1313991"/>
                  </a:moveTo>
                  <a:lnTo>
                    <a:pt x="0" y="1313991"/>
                  </a:lnTo>
                  <a:lnTo>
                    <a:pt x="753453" y="9025"/>
                  </a:lnTo>
                  <a:lnTo>
                    <a:pt x="758615" y="0"/>
                  </a:lnTo>
                  <a:lnTo>
                    <a:pt x="2028031"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3" name="Google Shape;763;p45"/>
            <p:cNvSpPr/>
            <p:nvPr/>
          </p:nvSpPr>
          <p:spPr>
            <a:xfrm>
              <a:off x="622369" y="10534453"/>
              <a:ext cx="1958975" cy="774700"/>
            </a:xfrm>
            <a:custGeom>
              <a:avLst/>
              <a:gdLst/>
              <a:ahLst/>
              <a:cxnLst/>
              <a:rect l="l" t="t" r="r" b="b"/>
              <a:pathLst>
                <a:path w="1958975" h="774700" extrusionOk="0">
                  <a:moveTo>
                    <a:pt x="441723" y="774103"/>
                  </a:moveTo>
                  <a:lnTo>
                    <a:pt x="0" y="9025"/>
                  </a:lnTo>
                  <a:lnTo>
                    <a:pt x="5256" y="0"/>
                  </a:lnTo>
                  <a:lnTo>
                    <a:pt x="1512048" y="0"/>
                  </a:lnTo>
                  <a:lnTo>
                    <a:pt x="1517220" y="9025"/>
                  </a:lnTo>
                  <a:lnTo>
                    <a:pt x="1958950" y="774103"/>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4" name="Google Shape;764;p45"/>
            <p:cNvSpPr/>
            <p:nvPr/>
          </p:nvSpPr>
          <p:spPr>
            <a:xfrm>
              <a:off x="1380977" y="7915501"/>
              <a:ext cx="3034665" cy="2619375"/>
            </a:xfrm>
            <a:custGeom>
              <a:avLst/>
              <a:gdLst/>
              <a:ahLst/>
              <a:cxnLst/>
              <a:rect l="l" t="t" r="r" b="b"/>
              <a:pathLst>
                <a:path w="3034665" h="2619375" extrusionOk="0">
                  <a:moveTo>
                    <a:pt x="3034525" y="1313991"/>
                  </a:moveTo>
                  <a:lnTo>
                    <a:pt x="2281082" y="2618956"/>
                  </a:lnTo>
                  <a:lnTo>
                    <a:pt x="753432" y="2618956"/>
                  </a:lnTo>
                  <a:lnTo>
                    <a:pt x="0" y="1313991"/>
                  </a:lnTo>
                  <a:lnTo>
                    <a:pt x="5256" y="1304965"/>
                  </a:lnTo>
                  <a:lnTo>
                    <a:pt x="1522477" y="1304965"/>
                  </a:lnTo>
                  <a:lnTo>
                    <a:pt x="2275920" y="0"/>
                  </a:lnTo>
                  <a:lnTo>
                    <a:pt x="3029352" y="1304965"/>
                  </a:lnTo>
                  <a:lnTo>
                    <a:pt x="3034525" y="1313991"/>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5" name="Google Shape;765;p45"/>
            <p:cNvSpPr/>
            <p:nvPr/>
          </p:nvSpPr>
          <p:spPr>
            <a:xfrm>
              <a:off x="0" y="5287611"/>
              <a:ext cx="1381125" cy="2619375"/>
            </a:xfrm>
            <a:custGeom>
              <a:avLst/>
              <a:gdLst/>
              <a:ahLst/>
              <a:cxnLst/>
              <a:rect l="l" t="t" r="r" b="b"/>
              <a:pathLst>
                <a:path w="1381125" h="2619375" extrusionOk="0">
                  <a:moveTo>
                    <a:pt x="0" y="1549903"/>
                  </a:moveTo>
                  <a:lnTo>
                    <a:pt x="617118" y="2618873"/>
                  </a:lnTo>
                  <a:lnTo>
                    <a:pt x="627536" y="2618873"/>
                  </a:lnTo>
                  <a:lnTo>
                    <a:pt x="1380979" y="1313907"/>
                  </a:lnTo>
                  <a:lnTo>
                    <a:pt x="1375723" y="1304871"/>
                  </a:lnTo>
                  <a:lnTo>
                    <a:pt x="622374"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6" name="Google Shape;766;p45"/>
            <p:cNvSpPr/>
            <p:nvPr/>
          </p:nvSpPr>
          <p:spPr>
            <a:xfrm>
              <a:off x="0" y="6837516"/>
              <a:ext cx="1376045" cy="2383154"/>
            </a:xfrm>
            <a:custGeom>
              <a:avLst/>
              <a:gdLst/>
              <a:ahLst/>
              <a:cxnLst/>
              <a:rect l="l" t="t" r="r" b="b"/>
              <a:pathLst>
                <a:path w="1376045" h="2383154" extrusionOk="0">
                  <a:moveTo>
                    <a:pt x="0" y="0"/>
                  </a:moveTo>
                  <a:lnTo>
                    <a:pt x="617115" y="1068964"/>
                  </a:lnTo>
                  <a:lnTo>
                    <a:pt x="622371" y="1077979"/>
                  </a:lnTo>
                  <a:lnTo>
                    <a:pt x="1375804" y="2382945"/>
                  </a:lnTo>
                  <a:lnTo>
                    <a:pt x="0" y="238294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7" name="Google Shape;767;p45"/>
            <p:cNvSpPr/>
            <p:nvPr/>
          </p:nvSpPr>
          <p:spPr>
            <a:xfrm>
              <a:off x="0" y="9465464"/>
              <a:ext cx="622935" cy="1843404"/>
            </a:xfrm>
            <a:custGeom>
              <a:avLst/>
              <a:gdLst/>
              <a:ahLst/>
              <a:cxnLst/>
              <a:rect l="l" t="t" r="r" b="b"/>
              <a:pathLst>
                <a:path w="622935" h="1843404" extrusionOk="0">
                  <a:moveTo>
                    <a:pt x="0" y="0"/>
                  </a:moveTo>
                  <a:lnTo>
                    <a:pt x="617199" y="1068990"/>
                  </a:lnTo>
                  <a:lnTo>
                    <a:pt x="622371" y="1078016"/>
                  </a:lnTo>
                  <a:lnTo>
                    <a:pt x="180639" y="1843091"/>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8" name="Google Shape;768;p45"/>
            <p:cNvSpPr/>
            <p:nvPr/>
          </p:nvSpPr>
          <p:spPr>
            <a:xfrm>
              <a:off x="180642" y="10543481"/>
              <a:ext cx="883919" cy="765175"/>
            </a:xfrm>
            <a:custGeom>
              <a:avLst/>
              <a:gdLst/>
              <a:ahLst/>
              <a:cxnLst/>
              <a:rect l="l" t="t" r="r" b="b"/>
              <a:pathLst>
                <a:path w="883919" h="765175" extrusionOk="0">
                  <a:moveTo>
                    <a:pt x="0" y="765075"/>
                  </a:moveTo>
                  <a:lnTo>
                    <a:pt x="441732" y="0"/>
                  </a:lnTo>
                  <a:lnTo>
                    <a:pt x="883432" y="76507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69" name="Google Shape;769;p45"/>
            <p:cNvSpPr/>
            <p:nvPr/>
          </p:nvSpPr>
          <p:spPr>
            <a:xfrm>
              <a:off x="622369" y="6601517"/>
              <a:ext cx="3034665" cy="2619375"/>
            </a:xfrm>
            <a:custGeom>
              <a:avLst/>
              <a:gdLst/>
              <a:ahLst/>
              <a:cxnLst/>
              <a:rect l="l" t="t" r="r" b="b"/>
              <a:pathLst>
                <a:path w="3034665" h="2619375" extrusionOk="0">
                  <a:moveTo>
                    <a:pt x="3034525" y="1313980"/>
                  </a:moveTo>
                  <a:lnTo>
                    <a:pt x="2281082" y="2618946"/>
                  </a:lnTo>
                  <a:lnTo>
                    <a:pt x="753432" y="2618946"/>
                  </a:lnTo>
                  <a:lnTo>
                    <a:pt x="0" y="1313980"/>
                  </a:lnTo>
                  <a:lnTo>
                    <a:pt x="5172" y="1304965"/>
                  </a:lnTo>
                  <a:lnTo>
                    <a:pt x="758615" y="0"/>
                  </a:lnTo>
                  <a:lnTo>
                    <a:pt x="1511964" y="1304965"/>
                  </a:lnTo>
                  <a:lnTo>
                    <a:pt x="3029352" y="1304965"/>
                  </a:lnTo>
                  <a:lnTo>
                    <a:pt x="3034525" y="1313980"/>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0" name="Google Shape;770;p45"/>
            <p:cNvSpPr/>
            <p:nvPr/>
          </p:nvSpPr>
          <p:spPr>
            <a:xfrm>
              <a:off x="8203375" y="10534458"/>
              <a:ext cx="5715" cy="9525"/>
            </a:xfrm>
            <a:custGeom>
              <a:avLst/>
              <a:gdLst/>
              <a:ahLst/>
              <a:cxnLst/>
              <a:rect l="l" t="t" r="r" b="b"/>
              <a:pathLst>
                <a:path w="5715" h="9525" extrusionOk="0">
                  <a:moveTo>
                    <a:pt x="5256" y="9109"/>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1" name="Google Shape;771;p45"/>
            <p:cNvSpPr/>
            <p:nvPr/>
          </p:nvSpPr>
          <p:spPr>
            <a:xfrm>
              <a:off x="5168856" y="5278497"/>
              <a:ext cx="763904" cy="1323340"/>
            </a:xfrm>
            <a:custGeom>
              <a:avLst/>
              <a:gdLst/>
              <a:ahLst/>
              <a:cxnLst/>
              <a:rect l="l" t="t" r="r" b="b"/>
              <a:pathLst>
                <a:path w="763904" h="1323340" extrusionOk="0">
                  <a:moveTo>
                    <a:pt x="763861" y="1323017"/>
                  </a:moveTo>
                  <a:lnTo>
                    <a:pt x="758699" y="1313991"/>
                  </a:lnTo>
                  <a:lnTo>
                    <a:pt x="5256" y="9120"/>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2" name="Google Shape;772;p45"/>
            <p:cNvSpPr/>
            <p:nvPr/>
          </p:nvSpPr>
          <p:spPr>
            <a:xfrm>
              <a:off x="622378" y="22546"/>
              <a:ext cx="3034665" cy="1314450"/>
            </a:xfrm>
            <a:custGeom>
              <a:avLst/>
              <a:gdLst/>
              <a:ahLst/>
              <a:cxnLst/>
              <a:rect l="l" t="t" r="r" b="b"/>
              <a:pathLst>
                <a:path w="3034665" h="1314450" extrusionOk="0">
                  <a:moveTo>
                    <a:pt x="1511953" y="0"/>
                  </a:moveTo>
                  <a:lnTo>
                    <a:pt x="3029342" y="0"/>
                  </a:lnTo>
                  <a:lnTo>
                    <a:pt x="3034514" y="9025"/>
                  </a:lnTo>
                  <a:lnTo>
                    <a:pt x="2281071" y="1313991"/>
                  </a:lnTo>
                  <a:lnTo>
                    <a:pt x="753348" y="1313991"/>
                  </a:lnTo>
                  <a:lnTo>
                    <a:pt x="0" y="902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3" name="Google Shape;773;p45"/>
            <p:cNvSpPr/>
            <p:nvPr/>
          </p:nvSpPr>
          <p:spPr>
            <a:xfrm>
              <a:off x="622377" y="1336543"/>
              <a:ext cx="2275840" cy="2628265"/>
            </a:xfrm>
            <a:custGeom>
              <a:avLst/>
              <a:gdLst/>
              <a:ahLst/>
              <a:cxnLst/>
              <a:rect l="l" t="t" r="r" b="b"/>
              <a:pathLst>
                <a:path w="2275840" h="2628265" extrusionOk="0">
                  <a:moveTo>
                    <a:pt x="1522466" y="1313980"/>
                  </a:moveTo>
                  <a:lnTo>
                    <a:pt x="763861" y="2627972"/>
                  </a:lnTo>
                  <a:lnTo>
                    <a:pt x="753432" y="2627972"/>
                  </a:lnTo>
                  <a:lnTo>
                    <a:pt x="0" y="1323006"/>
                  </a:lnTo>
                  <a:lnTo>
                    <a:pt x="5256" y="1313980"/>
                  </a:lnTo>
                  <a:lnTo>
                    <a:pt x="758605" y="9109"/>
                  </a:lnTo>
                  <a:lnTo>
                    <a:pt x="763861" y="0"/>
                  </a:lnTo>
                  <a:lnTo>
                    <a:pt x="2270653" y="0"/>
                  </a:lnTo>
                  <a:lnTo>
                    <a:pt x="2275815" y="9109"/>
                  </a:lnTo>
                  <a:lnTo>
                    <a:pt x="1522466" y="1313980"/>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4" name="Google Shape;774;p45"/>
            <p:cNvSpPr/>
            <p:nvPr/>
          </p:nvSpPr>
          <p:spPr>
            <a:xfrm>
              <a:off x="2898292" y="6592488"/>
              <a:ext cx="2270760" cy="1314450"/>
            </a:xfrm>
            <a:custGeom>
              <a:avLst/>
              <a:gdLst/>
              <a:ahLst/>
              <a:cxnLst/>
              <a:rect l="l" t="t" r="r" b="b"/>
              <a:pathLst>
                <a:path w="2270760" h="1314450" extrusionOk="0">
                  <a:moveTo>
                    <a:pt x="2270653" y="1313991"/>
                  </a:moveTo>
                  <a:lnTo>
                    <a:pt x="753432" y="1313991"/>
                  </a:lnTo>
                  <a:lnTo>
                    <a:pt x="0" y="9025"/>
                  </a:lnTo>
                  <a:lnTo>
                    <a:pt x="5162" y="0"/>
                  </a:lnTo>
                  <a:lnTo>
                    <a:pt x="1511953" y="0"/>
                  </a:lnTo>
                  <a:lnTo>
                    <a:pt x="1517210" y="9025"/>
                  </a:lnTo>
                  <a:lnTo>
                    <a:pt x="2270653" y="1313991"/>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5" name="Google Shape;775;p45"/>
            <p:cNvSpPr/>
            <p:nvPr/>
          </p:nvSpPr>
          <p:spPr>
            <a:xfrm>
              <a:off x="6686160" y="10534460"/>
              <a:ext cx="5715" cy="9525"/>
            </a:xfrm>
            <a:custGeom>
              <a:avLst/>
              <a:gdLst/>
              <a:ahLst/>
              <a:cxnLst/>
              <a:rect l="l" t="t" r="r" b="b"/>
              <a:pathLst>
                <a:path w="5715" h="9525" extrusionOk="0">
                  <a:moveTo>
                    <a:pt x="5256" y="9015"/>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6" name="Google Shape;776;p45"/>
            <p:cNvSpPr/>
            <p:nvPr/>
          </p:nvSpPr>
          <p:spPr>
            <a:xfrm>
              <a:off x="2139593" y="3973539"/>
              <a:ext cx="2270760" cy="2619375"/>
            </a:xfrm>
            <a:custGeom>
              <a:avLst/>
              <a:gdLst/>
              <a:ahLst/>
              <a:cxnLst/>
              <a:rect l="l" t="t" r="r" b="b"/>
              <a:pathLst>
                <a:path w="2270760" h="2619375" extrusionOk="0">
                  <a:moveTo>
                    <a:pt x="2270653" y="2618946"/>
                  </a:moveTo>
                  <a:lnTo>
                    <a:pt x="753443" y="2618946"/>
                  </a:lnTo>
                  <a:lnTo>
                    <a:pt x="0" y="1313980"/>
                  </a:lnTo>
                  <a:lnTo>
                    <a:pt x="758605" y="0"/>
                  </a:lnTo>
                  <a:lnTo>
                    <a:pt x="1512048" y="1304965"/>
                  </a:lnTo>
                  <a:lnTo>
                    <a:pt x="1517304" y="1314075"/>
                  </a:lnTo>
                  <a:lnTo>
                    <a:pt x="2270653" y="2618946"/>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7" name="Google Shape;777;p45"/>
            <p:cNvSpPr/>
            <p:nvPr/>
          </p:nvSpPr>
          <p:spPr>
            <a:xfrm>
              <a:off x="7766981" y="10543571"/>
              <a:ext cx="883920" cy="765175"/>
            </a:xfrm>
            <a:custGeom>
              <a:avLst/>
              <a:gdLst/>
              <a:ahLst/>
              <a:cxnLst/>
              <a:rect l="l" t="t" r="r" b="b"/>
              <a:pathLst>
                <a:path w="883920" h="765175" extrusionOk="0">
                  <a:moveTo>
                    <a:pt x="0" y="764985"/>
                  </a:moveTo>
                  <a:lnTo>
                    <a:pt x="441653" y="0"/>
                  </a:lnTo>
                  <a:lnTo>
                    <a:pt x="883361" y="764985"/>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8" name="Google Shape;778;p45"/>
            <p:cNvSpPr/>
            <p:nvPr/>
          </p:nvSpPr>
          <p:spPr>
            <a:xfrm>
              <a:off x="4415505" y="9229494"/>
              <a:ext cx="1200785" cy="2079625"/>
            </a:xfrm>
            <a:custGeom>
              <a:avLst/>
              <a:gdLst/>
              <a:ahLst/>
              <a:cxnLst/>
              <a:rect l="l" t="t" r="r" b="b"/>
              <a:pathLst>
                <a:path w="1200785" h="2079625" extrusionOk="0">
                  <a:moveTo>
                    <a:pt x="1200376" y="2079062"/>
                  </a:moveTo>
                  <a:lnTo>
                    <a:pt x="758699" y="1313980"/>
                  </a:lnTo>
                  <a:lnTo>
                    <a:pt x="753443" y="1304965"/>
                  </a:lnTo>
                  <a:lnTo>
                    <a:pt x="0" y="0"/>
                  </a:lnTo>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79" name="Google Shape;779;p45"/>
            <p:cNvSpPr/>
            <p:nvPr/>
          </p:nvSpPr>
          <p:spPr>
            <a:xfrm>
              <a:off x="1380984" y="5287522"/>
              <a:ext cx="2270760" cy="2619375"/>
            </a:xfrm>
            <a:custGeom>
              <a:avLst/>
              <a:gdLst/>
              <a:ahLst/>
              <a:cxnLst/>
              <a:rect l="l" t="t" r="r" b="b"/>
              <a:pathLst>
                <a:path w="2270760" h="2619375" extrusionOk="0">
                  <a:moveTo>
                    <a:pt x="2270737" y="2618956"/>
                  </a:moveTo>
                  <a:lnTo>
                    <a:pt x="735830" y="2618956"/>
                  </a:lnTo>
                  <a:lnTo>
                    <a:pt x="0" y="1313991"/>
                  </a:lnTo>
                  <a:lnTo>
                    <a:pt x="5162" y="1304965"/>
                  </a:lnTo>
                  <a:lnTo>
                    <a:pt x="758605" y="0"/>
                  </a:lnTo>
                  <a:lnTo>
                    <a:pt x="1512048" y="1304965"/>
                  </a:lnTo>
                  <a:lnTo>
                    <a:pt x="1517304" y="1313991"/>
                  </a:lnTo>
                  <a:lnTo>
                    <a:pt x="2270737" y="2618956"/>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0" name="Google Shape;780;p45"/>
            <p:cNvSpPr/>
            <p:nvPr/>
          </p:nvSpPr>
          <p:spPr>
            <a:xfrm>
              <a:off x="0" y="1581535"/>
              <a:ext cx="1376045" cy="2383154"/>
            </a:xfrm>
            <a:custGeom>
              <a:avLst/>
              <a:gdLst/>
              <a:ahLst/>
              <a:cxnLst/>
              <a:rect l="l" t="t" r="r" b="b"/>
              <a:pathLst>
                <a:path w="1376045" h="2383154" extrusionOk="0">
                  <a:moveTo>
                    <a:pt x="0" y="0"/>
                  </a:moveTo>
                  <a:lnTo>
                    <a:pt x="617199" y="1068990"/>
                  </a:lnTo>
                  <a:lnTo>
                    <a:pt x="622371" y="1078016"/>
                  </a:lnTo>
                  <a:lnTo>
                    <a:pt x="1375804" y="2382981"/>
                  </a:lnTo>
                  <a:lnTo>
                    <a:pt x="0" y="2382981"/>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1" name="Google Shape;781;p45"/>
            <p:cNvSpPr/>
            <p:nvPr/>
          </p:nvSpPr>
          <p:spPr>
            <a:xfrm>
              <a:off x="0" y="3964518"/>
              <a:ext cx="1381125" cy="9525"/>
            </a:xfrm>
            <a:custGeom>
              <a:avLst/>
              <a:gdLst/>
              <a:ahLst/>
              <a:cxnLst/>
              <a:rect l="l" t="t" r="r" b="b"/>
              <a:pathLst>
                <a:path w="1381125" h="9525" extrusionOk="0">
                  <a:moveTo>
                    <a:pt x="-4382" y="4507"/>
                  </a:moveTo>
                  <a:lnTo>
                    <a:pt x="1385358" y="4507"/>
                  </a:lnTo>
                </a:path>
              </a:pathLst>
            </a:custGeom>
            <a:noFill/>
            <a:ln w="177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2" name="Google Shape;782;p45"/>
            <p:cNvSpPr/>
            <p:nvPr/>
          </p:nvSpPr>
          <p:spPr>
            <a:xfrm>
              <a:off x="0" y="9465457"/>
              <a:ext cx="2134870" cy="1069340"/>
            </a:xfrm>
            <a:custGeom>
              <a:avLst/>
              <a:gdLst/>
              <a:ahLst/>
              <a:cxnLst/>
              <a:rect l="l" t="t" r="r" b="b"/>
              <a:pathLst>
                <a:path w="2134870" h="1069340" extrusionOk="0">
                  <a:moveTo>
                    <a:pt x="2134414" y="1068999"/>
                  </a:moveTo>
                  <a:lnTo>
                    <a:pt x="617204" y="1068999"/>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3" name="Google Shape;783;p45"/>
            <p:cNvSpPr/>
            <p:nvPr/>
          </p:nvSpPr>
          <p:spPr>
            <a:xfrm>
              <a:off x="0" y="9220465"/>
              <a:ext cx="2134870" cy="1314450"/>
            </a:xfrm>
            <a:custGeom>
              <a:avLst/>
              <a:gdLst/>
              <a:ahLst/>
              <a:cxnLst/>
              <a:rect l="l" t="t" r="r" b="b"/>
              <a:pathLst>
                <a:path w="2134870" h="1314450" extrusionOk="0">
                  <a:moveTo>
                    <a:pt x="0" y="0"/>
                  </a:moveTo>
                  <a:lnTo>
                    <a:pt x="1375809" y="0"/>
                  </a:lnTo>
                  <a:lnTo>
                    <a:pt x="1380982" y="9025"/>
                  </a:lnTo>
                  <a:lnTo>
                    <a:pt x="2134414" y="1313991"/>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4" name="Google Shape;784;p45"/>
            <p:cNvSpPr/>
            <p:nvPr/>
          </p:nvSpPr>
          <p:spPr>
            <a:xfrm>
              <a:off x="2139593" y="10534459"/>
              <a:ext cx="1958975" cy="774700"/>
            </a:xfrm>
            <a:custGeom>
              <a:avLst/>
              <a:gdLst/>
              <a:ahLst/>
              <a:cxnLst/>
              <a:rect l="l" t="t" r="r" b="b"/>
              <a:pathLst>
                <a:path w="1958975" h="774700" extrusionOk="0">
                  <a:moveTo>
                    <a:pt x="441732" y="774096"/>
                  </a:moveTo>
                  <a:lnTo>
                    <a:pt x="0" y="9015"/>
                  </a:lnTo>
                  <a:lnTo>
                    <a:pt x="5245" y="0"/>
                  </a:lnTo>
                  <a:lnTo>
                    <a:pt x="1512048" y="0"/>
                  </a:lnTo>
                  <a:lnTo>
                    <a:pt x="1517210" y="9015"/>
                  </a:lnTo>
                  <a:lnTo>
                    <a:pt x="1958942" y="774096"/>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5" name="Google Shape;785;p45"/>
            <p:cNvSpPr/>
            <p:nvPr/>
          </p:nvSpPr>
          <p:spPr>
            <a:xfrm>
              <a:off x="5179287" y="22546"/>
              <a:ext cx="1517650" cy="0"/>
            </a:xfrm>
            <a:custGeom>
              <a:avLst/>
              <a:gdLst/>
              <a:ahLst/>
              <a:cxnLst/>
              <a:rect l="l" t="t" r="r" b="b"/>
              <a:pathLst>
                <a:path w="1517650" h="120000" extrusionOk="0">
                  <a:moveTo>
                    <a:pt x="1517294" y="0"/>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6" name="Google Shape;786;p45"/>
            <p:cNvSpPr/>
            <p:nvPr/>
          </p:nvSpPr>
          <p:spPr>
            <a:xfrm>
              <a:off x="12755298" y="10534460"/>
              <a:ext cx="5715" cy="9525"/>
            </a:xfrm>
            <a:custGeom>
              <a:avLst/>
              <a:gdLst/>
              <a:ahLst/>
              <a:cxnLst/>
              <a:rect l="l" t="t" r="r" b="b"/>
              <a:pathLst>
                <a:path w="5715" h="9525" extrusionOk="0">
                  <a:moveTo>
                    <a:pt x="5162" y="9015"/>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7" name="Google Shape;787;p45"/>
            <p:cNvSpPr/>
            <p:nvPr/>
          </p:nvSpPr>
          <p:spPr>
            <a:xfrm>
              <a:off x="8962077" y="3964513"/>
              <a:ext cx="763904" cy="1323339"/>
            </a:xfrm>
            <a:custGeom>
              <a:avLst/>
              <a:gdLst/>
              <a:ahLst/>
              <a:cxnLst/>
              <a:rect l="l" t="t" r="r" b="b"/>
              <a:pathLst>
                <a:path w="763904" h="1323339" extrusionOk="0">
                  <a:moveTo>
                    <a:pt x="763861" y="1323006"/>
                  </a:moveTo>
                  <a:lnTo>
                    <a:pt x="758699" y="1313991"/>
                  </a:lnTo>
                  <a:lnTo>
                    <a:pt x="5256" y="9025"/>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8" name="Google Shape;788;p45"/>
            <p:cNvSpPr/>
            <p:nvPr/>
          </p:nvSpPr>
          <p:spPr>
            <a:xfrm>
              <a:off x="6686160" y="2650527"/>
              <a:ext cx="5715" cy="9525"/>
            </a:xfrm>
            <a:custGeom>
              <a:avLst/>
              <a:gdLst/>
              <a:ahLst/>
              <a:cxnLst/>
              <a:rect l="l" t="t" r="r" b="b"/>
              <a:pathLst>
                <a:path w="5715" h="9525" extrusionOk="0">
                  <a:moveTo>
                    <a:pt x="5256" y="9025"/>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89" name="Google Shape;789;p45"/>
            <p:cNvSpPr/>
            <p:nvPr/>
          </p:nvSpPr>
          <p:spPr>
            <a:xfrm>
              <a:off x="7444768" y="3964521"/>
              <a:ext cx="763904" cy="1323339"/>
            </a:xfrm>
            <a:custGeom>
              <a:avLst/>
              <a:gdLst/>
              <a:ahLst/>
              <a:cxnLst/>
              <a:rect l="l" t="t" r="r" b="b"/>
              <a:pathLst>
                <a:path w="763904" h="1323339" extrusionOk="0">
                  <a:moveTo>
                    <a:pt x="758699" y="1313980"/>
                  </a:moveTo>
                  <a:lnTo>
                    <a:pt x="763861" y="1323090"/>
                  </a:lnTo>
                  <a:lnTo>
                    <a:pt x="5256" y="9015"/>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0" name="Google Shape;790;p45"/>
            <p:cNvSpPr/>
            <p:nvPr/>
          </p:nvSpPr>
          <p:spPr>
            <a:xfrm>
              <a:off x="8962080" y="6592482"/>
              <a:ext cx="2276475" cy="3942079"/>
            </a:xfrm>
            <a:custGeom>
              <a:avLst/>
              <a:gdLst/>
              <a:ahLst/>
              <a:cxnLst/>
              <a:rect l="l" t="t" r="r" b="b"/>
              <a:pathLst>
                <a:path w="2276475" h="3942079" extrusionOk="0">
                  <a:moveTo>
                    <a:pt x="2275909" y="3941974"/>
                  </a:moveTo>
                  <a:lnTo>
                    <a:pt x="1522466" y="2637008"/>
                  </a:lnTo>
                  <a:lnTo>
                    <a:pt x="1517210" y="2627982"/>
                  </a:lnTo>
                  <a:lnTo>
                    <a:pt x="763861" y="1323111"/>
                  </a:lnTo>
                  <a:lnTo>
                    <a:pt x="758605" y="1314001"/>
                  </a:lnTo>
                  <a:lnTo>
                    <a:pt x="5162" y="9036"/>
                  </a:ln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1" name="Google Shape;791;p45"/>
            <p:cNvSpPr/>
            <p:nvPr/>
          </p:nvSpPr>
          <p:spPr>
            <a:xfrm>
              <a:off x="2898198" y="2650528"/>
              <a:ext cx="2276475" cy="2628265"/>
            </a:xfrm>
            <a:custGeom>
              <a:avLst/>
              <a:gdLst/>
              <a:ahLst/>
              <a:cxnLst/>
              <a:rect l="l" t="t" r="r" b="b"/>
              <a:pathLst>
                <a:path w="2276475" h="2628265" extrusionOk="0">
                  <a:moveTo>
                    <a:pt x="1517304" y="1323101"/>
                  </a:moveTo>
                  <a:lnTo>
                    <a:pt x="2270653" y="2627972"/>
                  </a:lnTo>
                  <a:lnTo>
                    <a:pt x="753443" y="2627972"/>
                  </a:lnTo>
                  <a:lnTo>
                    <a:pt x="0" y="1323006"/>
                  </a:lnTo>
                  <a:lnTo>
                    <a:pt x="5256" y="1313991"/>
                  </a:lnTo>
                  <a:lnTo>
                    <a:pt x="758605" y="9109"/>
                  </a:lnTo>
                  <a:lnTo>
                    <a:pt x="763861" y="0"/>
                  </a:lnTo>
                  <a:lnTo>
                    <a:pt x="2270747" y="0"/>
                  </a:lnTo>
                  <a:lnTo>
                    <a:pt x="2276003" y="9025"/>
                  </a:lnTo>
                  <a:lnTo>
                    <a:pt x="1522560" y="1313991"/>
                  </a:lnTo>
                  <a:lnTo>
                    <a:pt x="1517304" y="1323101"/>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2" name="Google Shape;792;p45"/>
            <p:cNvSpPr/>
            <p:nvPr/>
          </p:nvSpPr>
          <p:spPr>
            <a:xfrm>
              <a:off x="2144844" y="22546"/>
              <a:ext cx="3029585" cy="1314450"/>
            </a:xfrm>
            <a:custGeom>
              <a:avLst/>
              <a:gdLst/>
              <a:ahLst/>
              <a:cxnLst/>
              <a:rect l="l" t="t" r="r" b="b"/>
              <a:pathLst>
                <a:path w="3029585" h="1314450" extrusionOk="0">
                  <a:moveTo>
                    <a:pt x="0" y="0"/>
                  </a:moveTo>
                  <a:lnTo>
                    <a:pt x="1506875" y="0"/>
                  </a:lnTo>
                  <a:lnTo>
                    <a:pt x="1517210" y="0"/>
                  </a:lnTo>
                  <a:lnTo>
                    <a:pt x="1512048" y="9025"/>
                  </a:lnTo>
                  <a:lnTo>
                    <a:pt x="758605" y="1313991"/>
                  </a:lnTo>
                  <a:lnTo>
                    <a:pt x="2265480" y="1313991"/>
                  </a:lnTo>
                  <a:lnTo>
                    <a:pt x="2275825" y="1313991"/>
                  </a:lnTo>
                  <a:lnTo>
                    <a:pt x="3029269" y="9025"/>
                  </a:lnTo>
                  <a:lnTo>
                    <a:pt x="3024106"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3" name="Google Shape;793;p45"/>
            <p:cNvSpPr/>
            <p:nvPr/>
          </p:nvSpPr>
          <p:spPr>
            <a:xfrm>
              <a:off x="5174207" y="2659555"/>
              <a:ext cx="1512570" cy="2619375"/>
            </a:xfrm>
            <a:custGeom>
              <a:avLst/>
              <a:gdLst/>
              <a:ahLst/>
              <a:cxnLst/>
              <a:rect l="l" t="t" r="r" b="b"/>
              <a:pathLst>
                <a:path w="1512570" h="2619375" extrusionOk="0">
                  <a:moveTo>
                    <a:pt x="1511953" y="2618946"/>
                  </a:moveTo>
                  <a:lnTo>
                    <a:pt x="0"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4" name="Google Shape;794;p45"/>
            <p:cNvSpPr/>
            <p:nvPr/>
          </p:nvSpPr>
          <p:spPr>
            <a:xfrm>
              <a:off x="7444861" y="6592485"/>
              <a:ext cx="2722879" cy="4716145"/>
            </a:xfrm>
            <a:custGeom>
              <a:avLst/>
              <a:gdLst/>
              <a:ahLst/>
              <a:cxnLst/>
              <a:rect l="l" t="t" r="r" b="b"/>
              <a:pathLst>
                <a:path w="2722879" h="4716145" extrusionOk="0">
                  <a:moveTo>
                    <a:pt x="0" y="0"/>
                  </a:moveTo>
                  <a:lnTo>
                    <a:pt x="5162" y="9025"/>
                  </a:lnTo>
                  <a:lnTo>
                    <a:pt x="758605" y="1313991"/>
                  </a:lnTo>
                  <a:lnTo>
                    <a:pt x="1517210" y="2627972"/>
                  </a:lnTo>
                  <a:lnTo>
                    <a:pt x="1522466" y="2637008"/>
                  </a:lnTo>
                  <a:lnTo>
                    <a:pt x="2275825" y="3941974"/>
                  </a:lnTo>
                  <a:lnTo>
                    <a:pt x="2281082" y="3950989"/>
                  </a:lnTo>
                  <a:lnTo>
                    <a:pt x="2722813" y="471607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5" name="Google Shape;795;p45"/>
            <p:cNvSpPr/>
            <p:nvPr/>
          </p:nvSpPr>
          <p:spPr>
            <a:xfrm>
              <a:off x="7450029" y="31578"/>
              <a:ext cx="2270759" cy="2619375"/>
            </a:xfrm>
            <a:custGeom>
              <a:avLst/>
              <a:gdLst/>
              <a:ahLst/>
              <a:cxnLst/>
              <a:rect l="l" t="t" r="r" b="b"/>
              <a:pathLst>
                <a:path w="2270759" h="2619375" extrusionOk="0">
                  <a:moveTo>
                    <a:pt x="2270653" y="2618946"/>
                  </a:moveTo>
                  <a:lnTo>
                    <a:pt x="753443" y="2618946"/>
                  </a:lnTo>
                  <a:lnTo>
                    <a:pt x="0" y="1313980"/>
                  </a:lnTo>
                  <a:lnTo>
                    <a:pt x="5245" y="1304965"/>
                  </a:lnTo>
                  <a:lnTo>
                    <a:pt x="758605" y="0"/>
                  </a:lnTo>
                  <a:lnTo>
                    <a:pt x="1512048" y="1304965"/>
                  </a:lnTo>
                  <a:lnTo>
                    <a:pt x="1517210" y="1313980"/>
                  </a:lnTo>
                  <a:lnTo>
                    <a:pt x="2270653" y="2618946"/>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6" name="Google Shape;796;p45"/>
            <p:cNvSpPr/>
            <p:nvPr/>
          </p:nvSpPr>
          <p:spPr>
            <a:xfrm>
              <a:off x="5174106" y="22550"/>
              <a:ext cx="3034665" cy="1314450"/>
            </a:xfrm>
            <a:custGeom>
              <a:avLst/>
              <a:gdLst/>
              <a:ahLst/>
              <a:cxnLst/>
              <a:rect l="l" t="t" r="r" b="b"/>
              <a:pathLst>
                <a:path w="3034665" h="1314450" extrusionOk="0">
                  <a:moveTo>
                    <a:pt x="3034525" y="9025"/>
                  </a:moveTo>
                  <a:lnTo>
                    <a:pt x="2281176" y="1313991"/>
                  </a:lnTo>
                  <a:lnTo>
                    <a:pt x="753443" y="1313991"/>
                  </a:lnTo>
                  <a:lnTo>
                    <a:pt x="0" y="9025"/>
                  </a:lnTo>
                  <a:lnTo>
                    <a:pt x="5172" y="0"/>
                  </a:lnTo>
                  <a:lnTo>
                    <a:pt x="3034378" y="0"/>
                  </a:lnTo>
                  <a:lnTo>
                    <a:pt x="3034525" y="9025"/>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7" name="Google Shape;797;p45"/>
            <p:cNvSpPr/>
            <p:nvPr/>
          </p:nvSpPr>
          <p:spPr>
            <a:xfrm>
              <a:off x="16553605" y="1336536"/>
              <a:ext cx="2276475" cy="2628265"/>
            </a:xfrm>
            <a:custGeom>
              <a:avLst/>
              <a:gdLst/>
              <a:ahLst/>
              <a:cxnLst/>
              <a:rect l="l" t="t" r="r" b="b"/>
              <a:pathLst>
                <a:path w="2276475" h="2628265" extrusionOk="0">
                  <a:moveTo>
                    <a:pt x="2275909" y="1323017"/>
                  </a:moveTo>
                  <a:lnTo>
                    <a:pt x="1522466" y="2627982"/>
                  </a:lnTo>
                  <a:lnTo>
                    <a:pt x="1512048" y="2627982"/>
                  </a:lnTo>
                  <a:lnTo>
                    <a:pt x="758688" y="1323101"/>
                  </a:lnTo>
                  <a:lnTo>
                    <a:pt x="753432" y="1313991"/>
                  </a:lnTo>
                  <a:lnTo>
                    <a:pt x="0" y="9025"/>
                  </a:lnTo>
                  <a:lnTo>
                    <a:pt x="5162" y="0"/>
                  </a:lnTo>
                  <a:lnTo>
                    <a:pt x="1512048" y="0"/>
                  </a:lnTo>
                  <a:lnTo>
                    <a:pt x="1517304" y="9120"/>
                  </a:lnTo>
                  <a:lnTo>
                    <a:pt x="2270653" y="1313991"/>
                  </a:lnTo>
                  <a:lnTo>
                    <a:pt x="2275909" y="1323017"/>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8" name="Google Shape;798;p45"/>
            <p:cNvSpPr/>
            <p:nvPr/>
          </p:nvSpPr>
          <p:spPr>
            <a:xfrm>
              <a:off x="14282938" y="1336536"/>
              <a:ext cx="3029584" cy="2628265"/>
            </a:xfrm>
            <a:custGeom>
              <a:avLst/>
              <a:gdLst/>
              <a:ahLst/>
              <a:cxnLst/>
              <a:rect l="l" t="t" r="r" b="b"/>
              <a:pathLst>
                <a:path w="3029584" h="2628265" extrusionOk="0">
                  <a:moveTo>
                    <a:pt x="3029352" y="1323017"/>
                  </a:moveTo>
                  <a:lnTo>
                    <a:pt x="2275920" y="2627982"/>
                  </a:lnTo>
                  <a:lnTo>
                    <a:pt x="2265407" y="2627982"/>
                  </a:lnTo>
                  <a:lnTo>
                    <a:pt x="1511964" y="1323017"/>
                  </a:lnTo>
                  <a:lnTo>
                    <a:pt x="1506791" y="1313991"/>
                  </a:lnTo>
                  <a:lnTo>
                    <a:pt x="0" y="1313991"/>
                  </a:lnTo>
                  <a:lnTo>
                    <a:pt x="753359" y="9120"/>
                  </a:lnTo>
                  <a:lnTo>
                    <a:pt x="758615" y="0"/>
                  </a:lnTo>
                  <a:lnTo>
                    <a:pt x="2265491" y="0"/>
                  </a:lnTo>
                  <a:lnTo>
                    <a:pt x="2270663" y="9025"/>
                  </a:lnTo>
                  <a:lnTo>
                    <a:pt x="3029352" y="1323017"/>
                  </a:lnTo>
                  <a:close/>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799" name="Google Shape;799;p45"/>
            <p:cNvSpPr/>
            <p:nvPr/>
          </p:nvSpPr>
          <p:spPr>
            <a:xfrm>
              <a:off x="0" y="31576"/>
              <a:ext cx="1381125" cy="2619375"/>
            </a:xfrm>
            <a:custGeom>
              <a:avLst/>
              <a:gdLst/>
              <a:ahLst/>
              <a:cxnLst/>
              <a:rect l="l" t="t" r="r" b="b"/>
              <a:pathLst>
                <a:path w="1381125" h="2619375" extrusionOk="0">
                  <a:moveTo>
                    <a:pt x="622373" y="0"/>
                  </a:moveTo>
                  <a:lnTo>
                    <a:pt x="1375722" y="1304965"/>
                  </a:lnTo>
                  <a:lnTo>
                    <a:pt x="1380978" y="1314075"/>
                  </a:lnTo>
                  <a:lnTo>
                    <a:pt x="627630" y="2618946"/>
                  </a:lnTo>
                  <a:lnTo>
                    <a:pt x="617201" y="2618946"/>
                  </a:lnTo>
                  <a:lnTo>
                    <a:pt x="0" y="1549952"/>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0" name="Google Shape;800;p45"/>
            <p:cNvSpPr/>
            <p:nvPr/>
          </p:nvSpPr>
          <p:spPr>
            <a:xfrm>
              <a:off x="9725939" y="9229494"/>
              <a:ext cx="758825" cy="1314450"/>
            </a:xfrm>
            <a:custGeom>
              <a:avLst/>
              <a:gdLst/>
              <a:ahLst/>
              <a:cxnLst/>
              <a:rect l="l" t="t" r="r" b="b"/>
              <a:pathLst>
                <a:path w="758825" h="1314450" extrusionOk="0">
                  <a:moveTo>
                    <a:pt x="0" y="1313980"/>
                  </a:moveTo>
                  <a:lnTo>
                    <a:pt x="758605" y="0"/>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1" name="Google Shape;801;p45"/>
            <p:cNvSpPr/>
            <p:nvPr/>
          </p:nvSpPr>
          <p:spPr>
            <a:xfrm>
              <a:off x="18070906" y="9229492"/>
              <a:ext cx="763905" cy="2079625"/>
            </a:xfrm>
            <a:custGeom>
              <a:avLst/>
              <a:gdLst/>
              <a:ahLst/>
              <a:cxnLst/>
              <a:rect l="l" t="t" r="r" b="b"/>
              <a:pathLst>
                <a:path w="763905" h="2079625" extrusionOk="0">
                  <a:moveTo>
                    <a:pt x="0" y="0"/>
                  </a:moveTo>
                  <a:lnTo>
                    <a:pt x="763767" y="1304965"/>
                  </a:lnTo>
                  <a:lnTo>
                    <a:pt x="316883" y="2079063"/>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2" name="Google Shape;802;p45"/>
            <p:cNvSpPr/>
            <p:nvPr/>
          </p:nvSpPr>
          <p:spPr>
            <a:xfrm>
              <a:off x="2903455" y="22546"/>
              <a:ext cx="2265679" cy="1314450"/>
            </a:xfrm>
            <a:custGeom>
              <a:avLst/>
              <a:gdLst/>
              <a:ahLst/>
              <a:cxnLst/>
              <a:rect l="l" t="t" r="r" b="b"/>
              <a:pathLst>
                <a:path w="2265679" h="1314450" extrusionOk="0">
                  <a:moveTo>
                    <a:pt x="2265491" y="0"/>
                  </a:moveTo>
                  <a:lnTo>
                    <a:pt x="1517210" y="1313991"/>
                  </a:lnTo>
                  <a:lnTo>
                    <a:pt x="0" y="1313991"/>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3" name="Google Shape;803;p45"/>
            <p:cNvSpPr/>
            <p:nvPr/>
          </p:nvSpPr>
          <p:spPr>
            <a:xfrm>
              <a:off x="0" y="1581547"/>
              <a:ext cx="1381125" cy="2392045"/>
            </a:xfrm>
            <a:custGeom>
              <a:avLst/>
              <a:gdLst/>
              <a:ahLst/>
              <a:cxnLst/>
              <a:rect l="l" t="t" r="r" b="b"/>
              <a:pathLst>
                <a:path w="1381125" h="2392045" extrusionOk="0">
                  <a:moveTo>
                    <a:pt x="0" y="0"/>
                  </a:moveTo>
                  <a:lnTo>
                    <a:pt x="1380976" y="2391984"/>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4" name="Google Shape;804;p45"/>
            <p:cNvSpPr/>
            <p:nvPr/>
          </p:nvSpPr>
          <p:spPr>
            <a:xfrm>
              <a:off x="8937790" y="31662"/>
              <a:ext cx="5340350" cy="1314450"/>
            </a:xfrm>
            <a:custGeom>
              <a:avLst/>
              <a:gdLst/>
              <a:ahLst/>
              <a:cxnLst/>
              <a:rect l="l" t="t" r="r" b="b"/>
              <a:pathLst>
                <a:path w="5340350" h="1314450" extrusionOk="0">
                  <a:moveTo>
                    <a:pt x="0" y="1313897"/>
                  </a:moveTo>
                  <a:lnTo>
                    <a:pt x="4586530" y="1304881"/>
                  </a:lnTo>
                  <a:lnTo>
                    <a:pt x="5339900" y="0"/>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5" name="Google Shape;805;p45"/>
            <p:cNvSpPr/>
            <p:nvPr/>
          </p:nvSpPr>
          <p:spPr>
            <a:xfrm>
              <a:off x="622375" y="3973537"/>
              <a:ext cx="1510664" cy="3935729"/>
            </a:xfrm>
            <a:custGeom>
              <a:avLst/>
              <a:gdLst/>
              <a:ahLst/>
              <a:cxnLst/>
              <a:rect l="l" t="t" r="r" b="b"/>
              <a:pathLst>
                <a:path w="1510664" h="3935729" extrusionOk="0">
                  <a:moveTo>
                    <a:pt x="758605" y="0"/>
                  </a:moveTo>
                  <a:lnTo>
                    <a:pt x="0" y="1314075"/>
                  </a:lnTo>
                  <a:lnTo>
                    <a:pt x="1510477" y="3935649"/>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6" name="Google Shape;806;p45"/>
            <p:cNvSpPr/>
            <p:nvPr/>
          </p:nvSpPr>
          <p:spPr>
            <a:xfrm>
              <a:off x="11243243" y="2650790"/>
              <a:ext cx="8350250" cy="3942079"/>
            </a:xfrm>
            <a:custGeom>
              <a:avLst/>
              <a:gdLst/>
              <a:ahLst/>
              <a:cxnLst/>
              <a:rect l="l" t="t" r="r" b="b"/>
              <a:pathLst>
                <a:path w="8350250" h="3942079" extrusionOk="0">
                  <a:moveTo>
                    <a:pt x="3034441" y="0"/>
                  </a:moveTo>
                  <a:lnTo>
                    <a:pt x="2275825" y="1313980"/>
                  </a:lnTo>
                  <a:lnTo>
                    <a:pt x="763861" y="1304965"/>
                  </a:lnTo>
                  <a:lnTo>
                    <a:pt x="0" y="2628056"/>
                  </a:lnTo>
                  <a:lnTo>
                    <a:pt x="4551735" y="2628056"/>
                  </a:lnTo>
                  <a:lnTo>
                    <a:pt x="5310351" y="3941963"/>
                  </a:lnTo>
                  <a:lnTo>
                    <a:pt x="6827572" y="3941963"/>
                  </a:lnTo>
                  <a:lnTo>
                    <a:pt x="8350038" y="1304965"/>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7" name="Google Shape;807;p45"/>
            <p:cNvSpPr/>
            <p:nvPr/>
          </p:nvSpPr>
          <p:spPr>
            <a:xfrm>
              <a:off x="16548344" y="2650790"/>
              <a:ext cx="764540" cy="1305560"/>
            </a:xfrm>
            <a:custGeom>
              <a:avLst/>
              <a:gdLst/>
              <a:ahLst/>
              <a:cxnLst/>
              <a:rect l="l" t="t" r="r" b="b"/>
              <a:pathLst>
                <a:path w="764540" h="1305560" extrusionOk="0">
                  <a:moveTo>
                    <a:pt x="763945" y="0"/>
                  </a:moveTo>
                  <a:lnTo>
                    <a:pt x="0" y="1304965"/>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8" name="Google Shape;808;p45"/>
            <p:cNvSpPr/>
            <p:nvPr/>
          </p:nvSpPr>
          <p:spPr>
            <a:xfrm>
              <a:off x="13405961" y="1231296"/>
              <a:ext cx="243000" cy="210600"/>
            </a:xfrm>
            <a:prstGeom prst="rect">
              <a:avLst/>
            </a:prstGeom>
            <a:blipFill rotWithShape="1">
              <a:blip r:embed="rId3">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09" name="Google Shape;809;p45"/>
            <p:cNvSpPr/>
            <p:nvPr/>
          </p:nvSpPr>
          <p:spPr>
            <a:xfrm>
              <a:off x="13405961" y="1231296"/>
              <a:ext cx="243205" cy="210819"/>
            </a:xfrm>
            <a:custGeom>
              <a:avLst/>
              <a:gdLst/>
              <a:ahLst/>
              <a:cxnLst/>
              <a:rect l="l" t="t" r="r" b="b"/>
              <a:pathLst>
                <a:path w="243205" h="210819" extrusionOk="0">
                  <a:moveTo>
                    <a:pt x="60762" y="210475"/>
                  </a:moveTo>
                  <a:lnTo>
                    <a:pt x="0" y="105242"/>
                  </a:lnTo>
                  <a:lnTo>
                    <a:pt x="60762" y="0"/>
                  </a:lnTo>
                  <a:lnTo>
                    <a:pt x="182266" y="0"/>
                  </a:lnTo>
                  <a:lnTo>
                    <a:pt x="243029" y="105242"/>
                  </a:lnTo>
                  <a:lnTo>
                    <a:pt x="182266" y="210475"/>
                  </a:lnTo>
                  <a:lnTo>
                    <a:pt x="60762" y="210475"/>
                  </a:lnTo>
                  <a:close/>
                </a:path>
              </a:pathLst>
            </a:custGeom>
            <a:noFill/>
            <a:ln w="31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0" name="Google Shape;810;p45"/>
            <p:cNvSpPr/>
            <p:nvPr/>
          </p:nvSpPr>
          <p:spPr>
            <a:xfrm>
              <a:off x="12119331" y="5164299"/>
              <a:ext cx="243000" cy="210600"/>
            </a:xfrm>
            <a:prstGeom prst="rect">
              <a:avLst/>
            </a:prstGeom>
            <a:blipFill rotWithShape="1">
              <a:blip r:embed="rId4">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1" name="Google Shape;811;p45"/>
            <p:cNvSpPr/>
            <p:nvPr/>
          </p:nvSpPr>
          <p:spPr>
            <a:xfrm>
              <a:off x="8806320" y="1213201"/>
              <a:ext cx="304165" cy="263525"/>
            </a:xfrm>
            <a:custGeom>
              <a:avLst/>
              <a:gdLst/>
              <a:ahLst/>
              <a:cxnLst/>
              <a:rect l="l" t="t" r="r" b="b"/>
              <a:pathLst>
                <a:path w="304165" h="263525" extrusionOk="0">
                  <a:moveTo>
                    <a:pt x="227846" y="0"/>
                  </a:moveTo>
                  <a:lnTo>
                    <a:pt x="75945" y="0"/>
                  </a:lnTo>
                  <a:lnTo>
                    <a:pt x="0" y="131535"/>
                  </a:lnTo>
                  <a:lnTo>
                    <a:pt x="75945" y="263080"/>
                  </a:lnTo>
                  <a:lnTo>
                    <a:pt x="227846" y="263080"/>
                  </a:lnTo>
                  <a:lnTo>
                    <a:pt x="303791" y="131535"/>
                  </a:lnTo>
                  <a:lnTo>
                    <a:pt x="227846"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2" name="Google Shape;812;p45"/>
            <p:cNvSpPr/>
            <p:nvPr/>
          </p:nvSpPr>
          <p:spPr>
            <a:xfrm>
              <a:off x="8806320" y="1213201"/>
              <a:ext cx="304165" cy="263525"/>
            </a:xfrm>
            <a:custGeom>
              <a:avLst/>
              <a:gdLst/>
              <a:ahLst/>
              <a:cxnLst/>
              <a:rect l="l" t="t" r="r" b="b"/>
              <a:pathLst>
                <a:path w="304165" h="263525" extrusionOk="0">
                  <a:moveTo>
                    <a:pt x="75945" y="263080"/>
                  </a:moveTo>
                  <a:lnTo>
                    <a:pt x="0" y="131535"/>
                  </a:lnTo>
                  <a:lnTo>
                    <a:pt x="75945" y="0"/>
                  </a:lnTo>
                  <a:lnTo>
                    <a:pt x="227846" y="0"/>
                  </a:lnTo>
                  <a:lnTo>
                    <a:pt x="303791" y="131535"/>
                  </a:lnTo>
                  <a:lnTo>
                    <a:pt x="227846" y="263080"/>
                  </a:lnTo>
                  <a:lnTo>
                    <a:pt x="75945" y="263080"/>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3" name="Google Shape;813;p45"/>
            <p:cNvSpPr/>
            <p:nvPr/>
          </p:nvSpPr>
          <p:spPr>
            <a:xfrm>
              <a:off x="14120591" y="7791033"/>
              <a:ext cx="304165" cy="263525"/>
            </a:xfrm>
            <a:custGeom>
              <a:avLst/>
              <a:gdLst/>
              <a:ahLst/>
              <a:cxnLst/>
              <a:rect l="l" t="t" r="r" b="b"/>
              <a:pathLst>
                <a:path w="304165" h="263525" extrusionOk="0">
                  <a:moveTo>
                    <a:pt x="227835" y="0"/>
                  </a:moveTo>
                  <a:lnTo>
                    <a:pt x="75945" y="0"/>
                  </a:lnTo>
                  <a:lnTo>
                    <a:pt x="0" y="131545"/>
                  </a:lnTo>
                  <a:lnTo>
                    <a:pt x="75945" y="263091"/>
                  </a:lnTo>
                  <a:lnTo>
                    <a:pt x="227835" y="263091"/>
                  </a:lnTo>
                  <a:lnTo>
                    <a:pt x="303781" y="131545"/>
                  </a:lnTo>
                  <a:lnTo>
                    <a:pt x="227835"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4" name="Google Shape;814;p45"/>
            <p:cNvSpPr/>
            <p:nvPr/>
          </p:nvSpPr>
          <p:spPr>
            <a:xfrm>
              <a:off x="14120591" y="7791033"/>
              <a:ext cx="304165" cy="263525"/>
            </a:xfrm>
            <a:custGeom>
              <a:avLst/>
              <a:gdLst/>
              <a:ahLst/>
              <a:cxnLst/>
              <a:rect l="l" t="t" r="r" b="b"/>
              <a:pathLst>
                <a:path w="304165" h="263525" extrusionOk="0">
                  <a:moveTo>
                    <a:pt x="75945" y="263091"/>
                  </a:moveTo>
                  <a:lnTo>
                    <a:pt x="0" y="131545"/>
                  </a:lnTo>
                  <a:lnTo>
                    <a:pt x="75945" y="0"/>
                  </a:lnTo>
                  <a:lnTo>
                    <a:pt x="227835" y="0"/>
                  </a:lnTo>
                  <a:lnTo>
                    <a:pt x="303781" y="131545"/>
                  </a:lnTo>
                  <a:lnTo>
                    <a:pt x="227835" y="263091"/>
                  </a:lnTo>
                  <a:lnTo>
                    <a:pt x="75945" y="263091"/>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5" name="Google Shape;815;p45"/>
            <p:cNvSpPr/>
            <p:nvPr/>
          </p:nvSpPr>
          <p:spPr>
            <a:xfrm>
              <a:off x="9629458" y="10475891"/>
              <a:ext cx="243000" cy="210600"/>
            </a:xfrm>
            <a:prstGeom prst="rect">
              <a:avLst/>
            </a:prstGeom>
            <a:blipFill rotWithShape="1">
              <a:blip r:embed="rId3">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6" name="Google Shape;816;p45"/>
            <p:cNvSpPr/>
            <p:nvPr/>
          </p:nvSpPr>
          <p:spPr>
            <a:xfrm>
              <a:off x="9629458" y="10475891"/>
              <a:ext cx="243204" cy="210820"/>
            </a:xfrm>
            <a:custGeom>
              <a:avLst/>
              <a:gdLst/>
              <a:ahLst/>
              <a:cxnLst/>
              <a:rect l="l" t="t" r="r" b="b"/>
              <a:pathLst>
                <a:path w="243204" h="210820" extrusionOk="0">
                  <a:moveTo>
                    <a:pt x="60762" y="210475"/>
                  </a:moveTo>
                  <a:lnTo>
                    <a:pt x="0" y="105232"/>
                  </a:lnTo>
                  <a:lnTo>
                    <a:pt x="60762" y="0"/>
                  </a:lnTo>
                  <a:lnTo>
                    <a:pt x="182277" y="0"/>
                  </a:lnTo>
                  <a:lnTo>
                    <a:pt x="243029" y="105232"/>
                  </a:lnTo>
                  <a:lnTo>
                    <a:pt x="182277" y="210475"/>
                  </a:lnTo>
                  <a:lnTo>
                    <a:pt x="60762" y="210475"/>
                  </a:lnTo>
                  <a:close/>
                </a:path>
              </a:pathLst>
            </a:custGeom>
            <a:noFill/>
            <a:ln w="31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7" name="Google Shape;817;p45"/>
            <p:cNvSpPr/>
            <p:nvPr/>
          </p:nvSpPr>
          <p:spPr>
            <a:xfrm>
              <a:off x="19440331" y="3828039"/>
              <a:ext cx="304165" cy="263525"/>
            </a:xfrm>
            <a:custGeom>
              <a:avLst/>
              <a:gdLst/>
              <a:ahLst/>
              <a:cxnLst/>
              <a:rect l="l" t="t" r="r" b="b"/>
              <a:pathLst>
                <a:path w="304165" h="263525" extrusionOk="0">
                  <a:moveTo>
                    <a:pt x="227846" y="0"/>
                  </a:moveTo>
                  <a:lnTo>
                    <a:pt x="75945" y="0"/>
                  </a:lnTo>
                  <a:lnTo>
                    <a:pt x="0" y="131535"/>
                  </a:lnTo>
                  <a:lnTo>
                    <a:pt x="75945" y="263080"/>
                  </a:lnTo>
                  <a:lnTo>
                    <a:pt x="227846" y="263080"/>
                  </a:lnTo>
                  <a:lnTo>
                    <a:pt x="303791" y="131535"/>
                  </a:lnTo>
                  <a:lnTo>
                    <a:pt x="227846"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8" name="Google Shape;818;p45"/>
            <p:cNvSpPr/>
            <p:nvPr/>
          </p:nvSpPr>
          <p:spPr>
            <a:xfrm>
              <a:off x="19440331" y="3828039"/>
              <a:ext cx="304165" cy="263525"/>
            </a:xfrm>
            <a:custGeom>
              <a:avLst/>
              <a:gdLst/>
              <a:ahLst/>
              <a:cxnLst/>
              <a:rect l="l" t="t" r="r" b="b"/>
              <a:pathLst>
                <a:path w="304165" h="263525" extrusionOk="0">
                  <a:moveTo>
                    <a:pt x="75945" y="263080"/>
                  </a:moveTo>
                  <a:lnTo>
                    <a:pt x="0" y="131535"/>
                  </a:lnTo>
                  <a:lnTo>
                    <a:pt x="75945" y="0"/>
                  </a:lnTo>
                  <a:lnTo>
                    <a:pt x="227846" y="0"/>
                  </a:lnTo>
                  <a:lnTo>
                    <a:pt x="303791" y="131535"/>
                  </a:lnTo>
                  <a:lnTo>
                    <a:pt x="227846" y="263080"/>
                  </a:lnTo>
                  <a:lnTo>
                    <a:pt x="75945" y="263080"/>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19" name="Google Shape;819;p45"/>
            <p:cNvSpPr/>
            <p:nvPr/>
          </p:nvSpPr>
          <p:spPr>
            <a:xfrm>
              <a:off x="1611051" y="7089460"/>
              <a:ext cx="243000" cy="210600"/>
            </a:xfrm>
            <a:prstGeom prst="rect">
              <a:avLst/>
            </a:prstGeom>
            <a:blipFill rotWithShape="1">
              <a:blip r:embed="rId4">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0" name="Google Shape;820;p45"/>
            <p:cNvSpPr/>
            <p:nvPr/>
          </p:nvSpPr>
          <p:spPr>
            <a:xfrm>
              <a:off x="17944130" y="9128807"/>
              <a:ext cx="243000" cy="210600"/>
            </a:xfrm>
            <a:prstGeom prst="rect">
              <a:avLst/>
            </a:prstGeom>
            <a:blipFill rotWithShape="1">
              <a:blip r:embed="rId5">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1" name="Google Shape;821;p45"/>
            <p:cNvSpPr/>
            <p:nvPr/>
          </p:nvSpPr>
          <p:spPr>
            <a:xfrm>
              <a:off x="17944130" y="9128807"/>
              <a:ext cx="243205" cy="210820"/>
            </a:xfrm>
            <a:custGeom>
              <a:avLst/>
              <a:gdLst/>
              <a:ahLst/>
              <a:cxnLst/>
              <a:rect l="l" t="t" r="r" b="b"/>
              <a:pathLst>
                <a:path w="243205" h="210820" extrusionOk="0">
                  <a:moveTo>
                    <a:pt x="60762" y="210475"/>
                  </a:moveTo>
                  <a:lnTo>
                    <a:pt x="0" y="105232"/>
                  </a:lnTo>
                  <a:lnTo>
                    <a:pt x="60762" y="0"/>
                  </a:lnTo>
                  <a:lnTo>
                    <a:pt x="182266" y="0"/>
                  </a:lnTo>
                  <a:lnTo>
                    <a:pt x="243029" y="105232"/>
                  </a:lnTo>
                  <a:lnTo>
                    <a:pt x="182266" y="210475"/>
                  </a:lnTo>
                  <a:lnTo>
                    <a:pt x="60762" y="210475"/>
                  </a:lnTo>
                  <a:close/>
                </a:path>
              </a:pathLst>
            </a:custGeom>
            <a:noFill/>
            <a:ln w="31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2" name="Google Shape;822;p45"/>
            <p:cNvSpPr/>
            <p:nvPr/>
          </p:nvSpPr>
          <p:spPr>
            <a:xfrm>
              <a:off x="13902520" y="328775"/>
              <a:ext cx="243000" cy="210600"/>
            </a:xfrm>
            <a:prstGeom prst="rect">
              <a:avLst/>
            </a:prstGeom>
            <a:blipFill rotWithShape="1">
              <a:blip r:embed="rId4">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3" name="Google Shape;823;p45"/>
            <p:cNvSpPr/>
            <p:nvPr/>
          </p:nvSpPr>
          <p:spPr>
            <a:xfrm>
              <a:off x="11526111" y="9124104"/>
              <a:ext cx="243000" cy="210600"/>
            </a:xfrm>
            <a:prstGeom prst="rect">
              <a:avLst/>
            </a:prstGeom>
            <a:blipFill rotWithShape="1">
              <a:blip r:embed="rId6">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4" name="Google Shape;824;p45"/>
            <p:cNvSpPr/>
            <p:nvPr/>
          </p:nvSpPr>
          <p:spPr>
            <a:xfrm>
              <a:off x="15626405" y="5152004"/>
              <a:ext cx="292100" cy="252729"/>
            </a:xfrm>
            <a:custGeom>
              <a:avLst/>
              <a:gdLst/>
              <a:ahLst/>
              <a:cxnLst/>
              <a:rect l="l" t="t" r="r" b="b"/>
              <a:pathLst>
                <a:path w="292100" h="252729" extrusionOk="0">
                  <a:moveTo>
                    <a:pt x="218726" y="0"/>
                  </a:moveTo>
                  <a:lnTo>
                    <a:pt x="72908" y="0"/>
                  </a:lnTo>
                  <a:lnTo>
                    <a:pt x="0" y="126268"/>
                  </a:lnTo>
                  <a:lnTo>
                    <a:pt x="72908" y="252557"/>
                  </a:lnTo>
                  <a:lnTo>
                    <a:pt x="218726" y="252557"/>
                  </a:lnTo>
                  <a:lnTo>
                    <a:pt x="291635" y="126268"/>
                  </a:lnTo>
                  <a:lnTo>
                    <a:pt x="218726"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5" name="Google Shape;825;p45"/>
            <p:cNvSpPr/>
            <p:nvPr/>
          </p:nvSpPr>
          <p:spPr>
            <a:xfrm>
              <a:off x="15626405" y="5152004"/>
              <a:ext cx="292100" cy="252729"/>
            </a:xfrm>
            <a:custGeom>
              <a:avLst/>
              <a:gdLst/>
              <a:ahLst/>
              <a:cxnLst/>
              <a:rect l="l" t="t" r="r" b="b"/>
              <a:pathLst>
                <a:path w="292100" h="252729" extrusionOk="0">
                  <a:moveTo>
                    <a:pt x="72908" y="252557"/>
                  </a:moveTo>
                  <a:lnTo>
                    <a:pt x="0" y="126268"/>
                  </a:lnTo>
                  <a:lnTo>
                    <a:pt x="72908" y="0"/>
                  </a:lnTo>
                  <a:lnTo>
                    <a:pt x="218726" y="0"/>
                  </a:lnTo>
                  <a:lnTo>
                    <a:pt x="291635" y="126268"/>
                  </a:lnTo>
                  <a:lnTo>
                    <a:pt x="218726" y="252557"/>
                  </a:lnTo>
                  <a:lnTo>
                    <a:pt x="72908" y="252557"/>
                  </a:lnTo>
                  <a:close/>
                </a:path>
              </a:pathLst>
            </a:custGeom>
            <a:noFill/>
            <a:ln w="378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6" name="Google Shape;826;p45"/>
            <p:cNvSpPr/>
            <p:nvPr/>
          </p:nvSpPr>
          <p:spPr>
            <a:xfrm>
              <a:off x="10988161" y="5078742"/>
              <a:ext cx="455929" cy="394970"/>
            </a:xfrm>
            <a:custGeom>
              <a:avLst/>
              <a:gdLst/>
              <a:ahLst/>
              <a:cxnLst/>
              <a:rect l="l" t="t" r="r" b="b"/>
              <a:pathLst>
                <a:path w="455929" h="394970" extrusionOk="0">
                  <a:moveTo>
                    <a:pt x="341759" y="0"/>
                  </a:moveTo>
                  <a:lnTo>
                    <a:pt x="113923" y="0"/>
                  </a:lnTo>
                  <a:lnTo>
                    <a:pt x="0" y="197313"/>
                  </a:lnTo>
                  <a:lnTo>
                    <a:pt x="113923" y="394626"/>
                  </a:lnTo>
                  <a:lnTo>
                    <a:pt x="341759" y="394626"/>
                  </a:lnTo>
                  <a:lnTo>
                    <a:pt x="455682" y="197313"/>
                  </a:lnTo>
                  <a:lnTo>
                    <a:pt x="341759"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7" name="Google Shape;827;p45"/>
            <p:cNvSpPr/>
            <p:nvPr/>
          </p:nvSpPr>
          <p:spPr>
            <a:xfrm>
              <a:off x="10988161" y="5078742"/>
              <a:ext cx="455929" cy="394970"/>
            </a:xfrm>
            <a:custGeom>
              <a:avLst/>
              <a:gdLst/>
              <a:ahLst/>
              <a:cxnLst/>
              <a:rect l="l" t="t" r="r" b="b"/>
              <a:pathLst>
                <a:path w="455929" h="394970" extrusionOk="0">
                  <a:moveTo>
                    <a:pt x="113923" y="394626"/>
                  </a:moveTo>
                  <a:lnTo>
                    <a:pt x="0" y="197313"/>
                  </a:lnTo>
                  <a:lnTo>
                    <a:pt x="113923" y="0"/>
                  </a:lnTo>
                  <a:lnTo>
                    <a:pt x="341759" y="0"/>
                  </a:lnTo>
                  <a:lnTo>
                    <a:pt x="455682" y="197313"/>
                  </a:lnTo>
                  <a:lnTo>
                    <a:pt x="341759" y="394626"/>
                  </a:lnTo>
                  <a:lnTo>
                    <a:pt x="113923" y="394626"/>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8" name="Google Shape;828;p45"/>
            <p:cNvSpPr/>
            <p:nvPr/>
          </p:nvSpPr>
          <p:spPr>
            <a:xfrm>
              <a:off x="18283677" y="5921159"/>
              <a:ext cx="243000" cy="210600"/>
            </a:xfrm>
            <a:prstGeom prst="rect">
              <a:avLst/>
            </a:prstGeom>
            <a:blipFill rotWithShape="1">
              <a:blip r:embed="rId4">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29" name="Google Shape;829;p45"/>
            <p:cNvSpPr/>
            <p:nvPr/>
          </p:nvSpPr>
          <p:spPr>
            <a:xfrm>
              <a:off x="14124731" y="2531254"/>
              <a:ext cx="304165" cy="263525"/>
            </a:xfrm>
            <a:custGeom>
              <a:avLst/>
              <a:gdLst/>
              <a:ahLst/>
              <a:cxnLst/>
              <a:rect l="l" t="t" r="r" b="b"/>
              <a:pathLst>
                <a:path w="304165" h="263525" extrusionOk="0">
                  <a:moveTo>
                    <a:pt x="227846" y="0"/>
                  </a:moveTo>
                  <a:lnTo>
                    <a:pt x="75955" y="0"/>
                  </a:lnTo>
                  <a:lnTo>
                    <a:pt x="0" y="131545"/>
                  </a:lnTo>
                  <a:lnTo>
                    <a:pt x="75955" y="263091"/>
                  </a:lnTo>
                  <a:lnTo>
                    <a:pt x="227846" y="263091"/>
                  </a:lnTo>
                  <a:lnTo>
                    <a:pt x="303791" y="131545"/>
                  </a:lnTo>
                  <a:lnTo>
                    <a:pt x="227846"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0" name="Google Shape;830;p45"/>
            <p:cNvSpPr/>
            <p:nvPr/>
          </p:nvSpPr>
          <p:spPr>
            <a:xfrm>
              <a:off x="14124731" y="2531254"/>
              <a:ext cx="304165" cy="263525"/>
            </a:xfrm>
            <a:custGeom>
              <a:avLst/>
              <a:gdLst/>
              <a:ahLst/>
              <a:cxnLst/>
              <a:rect l="l" t="t" r="r" b="b"/>
              <a:pathLst>
                <a:path w="304165" h="263525" extrusionOk="0">
                  <a:moveTo>
                    <a:pt x="75955" y="263091"/>
                  </a:moveTo>
                  <a:lnTo>
                    <a:pt x="0" y="131545"/>
                  </a:lnTo>
                  <a:lnTo>
                    <a:pt x="75955" y="0"/>
                  </a:lnTo>
                  <a:lnTo>
                    <a:pt x="227846" y="0"/>
                  </a:lnTo>
                  <a:lnTo>
                    <a:pt x="303791" y="131545"/>
                  </a:lnTo>
                  <a:lnTo>
                    <a:pt x="227846" y="263091"/>
                  </a:lnTo>
                  <a:lnTo>
                    <a:pt x="75955" y="263091"/>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1" name="Google Shape;831;p45"/>
            <p:cNvSpPr/>
            <p:nvPr/>
          </p:nvSpPr>
          <p:spPr>
            <a:xfrm>
              <a:off x="18503748" y="10800059"/>
              <a:ext cx="243000" cy="210600"/>
            </a:xfrm>
            <a:prstGeom prst="rect">
              <a:avLst/>
            </a:prstGeom>
            <a:blipFill rotWithShape="1">
              <a:blip r:embed="rId4">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2" name="Google Shape;832;p45"/>
            <p:cNvSpPr/>
            <p:nvPr/>
          </p:nvSpPr>
          <p:spPr>
            <a:xfrm>
              <a:off x="1430460" y="1340794"/>
              <a:ext cx="1477010" cy="2541904"/>
            </a:xfrm>
            <a:custGeom>
              <a:avLst/>
              <a:gdLst/>
              <a:ahLst/>
              <a:cxnLst/>
              <a:rect l="l" t="t" r="r" b="b"/>
              <a:pathLst>
                <a:path w="1477010" h="2541904" extrusionOk="0">
                  <a:moveTo>
                    <a:pt x="1476457" y="0"/>
                  </a:moveTo>
                  <a:lnTo>
                    <a:pt x="0" y="2541378"/>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3" name="Google Shape;833;p45"/>
            <p:cNvSpPr/>
            <p:nvPr/>
          </p:nvSpPr>
          <p:spPr>
            <a:xfrm>
              <a:off x="3753584" y="1240671"/>
              <a:ext cx="224100" cy="194100"/>
            </a:xfrm>
            <a:prstGeom prst="rect">
              <a:avLst/>
            </a:prstGeom>
            <a:blipFill rotWithShape="1">
              <a:blip r:embed="rId7">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4" name="Google Shape;834;p45"/>
            <p:cNvSpPr/>
            <p:nvPr/>
          </p:nvSpPr>
          <p:spPr>
            <a:xfrm>
              <a:off x="16556578" y="0"/>
              <a:ext cx="2291715" cy="2667635"/>
            </a:xfrm>
            <a:custGeom>
              <a:avLst/>
              <a:gdLst/>
              <a:ahLst/>
              <a:cxnLst/>
              <a:rect l="l" t="t" r="r" b="b"/>
              <a:pathLst>
                <a:path w="2291715" h="2667635" extrusionOk="0">
                  <a:moveTo>
                    <a:pt x="764730" y="2667416"/>
                  </a:moveTo>
                  <a:lnTo>
                    <a:pt x="0" y="1336818"/>
                  </a:lnTo>
                  <a:lnTo>
                    <a:pt x="1509074" y="1336818"/>
                  </a:lnTo>
                  <a:lnTo>
                    <a:pt x="2291615" y="0"/>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5" name="Google Shape;835;p45"/>
            <p:cNvSpPr/>
            <p:nvPr/>
          </p:nvSpPr>
          <p:spPr>
            <a:xfrm>
              <a:off x="16810063" y="1896861"/>
              <a:ext cx="243000" cy="210600"/>
            </a:xfrm>
            <a:prstGeom prst="rect">
              <a:avLst/>
            </a:prstGeom>
            <a:blipFill rotWithShape="1">
              <a:blip r:embed="rId4">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6" name="Google Shape;836;p45"/>
            <p:cNvSpPr/>
            <p:nvPr/>
          </p:nvSpPr>
          <p:spPr>
            <a:xfrm>
              <a:off x="622373" y="7915498"/>
              <a:ext cx="1517650" cy="3393440"/>
            </a:xfrm>
            <a:custGeom>
              <a:avLst/>
              <a:gdLst/>
              <a:ahLst/>
              <a:cxnLst/>
              <a:rect l="l" t="t" r="r" b="b"/>
              <a:pathLst>
                <a:path w="1517650" h="3393440" extrusionOk="0">
                  <a:moveTo>
                    <a:pt x="0" y="0"/>
                  </a:moveTo>
                  <a:lnTo>
                    <a:pt x="1517210" y="2627972"/>
                  </a:lnTo>
                  <a:lnTo>
                    <a:pt x="25308" y="2627972"/>
                  </a:lnTo>
                  <a:lnTo>
                    <a:pt x="448762" y="3393058"/>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7" name="Google Shape;837;p45"/>
            <p:cNvSpPr/>
            <p:nvPr/>
          </p:nvSpPr>
          <p:spPr>
            <a:xfrm>
              <a:off x="1185658" y="3827490"/>
              <a:ext cx="367665" cy="318770"/>
            </a:xfrm>
            <a:custGeom>
              <a:avLst/>
              <a:gdLst/>
              <a:ahLst/>
              <a:cxnLst/>
              <a:rect l="l" t="t" r="r" b="b"/>
              <a:pathLst>
                <a:path w="367665" h="318770" extrusionOk="0">
                  <a:moveTo>
                    <a:pt x="275687" y="0"/>
                  </a:moveTo>
                  <a:lnTo>
                    <a:pt x="91892" y="0"/>
                  </a:lnTo>
                  <a:lnTo>
                    <a:pt x="0" y="159167"/>
                  </a:lnTo>
                  <a:lnTo>
                    <a:pt x="91892" y="318335"/>
                  </a:lnTo>
                  <a:lnTo>
                    <a:pt x="275687" y="318335"/>
                  </a:lnTo>
                  <a:lnTo>
                    <a:pt x="367580" y="159167"/>
                  </a:lnTo>
                  <a:lnTo>
                    <a:pt x="275687"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8" name="Google Shape;838;p45"/>
            <p:cNvSpPr/>
            <p:nvPr/>
          </p:nvSpPr>
          <p:spPr>
            <a:xfrm>
              <a:off x="1185658" y="3827490"/>
              <a:ext cx="367665" cy="318770"/>
            </a:xfrm>
            <a:custGeom>
              <a:avLst/>
              <a:gdLst/>
              <a:ahLst/>
              <a:cxnLst/>
              <a:rect l="l" t="t" r="r" b="b"/>
              <a:pathLst>
                <a:path w="367665" h="318770" extrusionOk="0">
                  <a:moveTo>
                    <a:pt x="91892" y="318335"/>
                  </a:moveTo>
                  <a:lnTo>
                    <a:pt x="0" y="159167"/>
                  </a:lnTo>
                  <a:lnTo>
                    <a:pt x="91892" y="0"/>
                  </a:lnTo>
                  <a:lnTo>
                    <a:pt x="275687" y="0"/>
                  </a:lnTo>
                  <a:lnTo>
                    <a:pt x="367580" y="159167"/>
                  </a:lnTo>
                  <a:lnTo>
                    <a:pt x="275687" y="318335"/>
                  </a:lnTo>
                  <a:lnTo>
                    <a:pt x="91892" y="318335"/>
                  </a:lnTo>
                  <a:close/>
                </a:path>
              </a:pathLst>
            </a:custGeom>
            <a:noFill/>
            <a:ln w="31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39" name="Google Shape;839;p45"/>
            <p:cNvSpPr/>
            <p:nvPr/>
          </p:nvSpPr>
          <p:spPr>
            <a:xfrm>
              <a:off x="1080272" y="10436841"/>
              <a:ext cx="226500" cy="195900"/>
            </a:xfrm>
            <a:prstGeom prst="rect">
              <a:avLst/>
            </a:prstGeom>
            <a:blipFill rotWithShape="1">
              <a:blip r:embed="rId8">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0" name="Google Shape;840;p45"/>
            <p:cNvSpPr/>
            <p:nvPr/>
          </p:nvSpPr>
          <p:spPr>
            <a:xfrm>
              <a:off x="2134332" y="7906479"/>
              <a:ext cx="3045460" cy="0"/>
            </a:xfrm>
            <a:custGeom>
              <a:avLst/>
              <a:gdLst/>
              <a:ahLst/>
              <a:cxnLst/>
              <a:rect l="l" t="t" r="r" b="b"/>
              <a:pathLst>
                <a:path w="3045460" h="120000" extrusionOk="0">
                  <a:moveTo>
                    <a:pt x="0" y="0"/>
                  </a:moveTo>
                  <a:lnTo>
                    <a:pt x="3044954" y="0"/>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1" name="Google Shape;841;p45"/>
            <p:cNvSpPr/>
            <p:nvPr/>
          </p:nvSpPr>
          <p:spPr>
            <a:xfrm>
              <a:off x="5016964" y="7774939"/>
              <a:ext cx="304164" cy="263525"/>
            </a:xfrm>
            <a:custGeom>
              <a:avLst/>
              <a:gdLst/>
              <a:ahLst/>
              <a:cxnLst/>
              <a:rect l="l" t="t" r="r" b="b"/>
              <a:pathLst>
                <a:path w="304164" h="263525" extrusionOk="0">
                  <a:moveTo>
                    <a:pt x="227835" y="0"/>
                  </a:moveTo>
                  <a:lnTo>
                    <a:pt x="75945" y="0"/>
                  </a:lnTo>
                  <a:lnTo>
                    <a:pt x="0" y="131535"/>
                  </a:lnTo>
                  <a:lnTo>
                    <a:pt x="75945" y="263080"/>
                  </a:lnTo>
                  <a:lnTo>
                    <a:pt x="227835" y="263080"/>
                  </a:lnTo>
                  <a:lnTo>
                    <a:pt x="303781" y="131535"/>
                  </a:lnTo>
                  <a:lnTo>
                    <a:pt x="227835"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2" name="Google Shape;842;p45"/>
            <p:cNvSpPr/>
            <p:nvPr/>
          </p:nvSpPr>
          <p:spPr>
            <a:xfrm>
              <a:off x="5016964" y="7774939"/>
              <a:ext cx="304164" cy="263525"/>
            </a:xfrm>
            <a:custGeom>
              <a:avLst/>
              <a:gdLst/>
              <a:ahLst/>
              <a:cxnLst/>
              <a:rect l="l" t="t" r="r" b="b"/>
              <a:pathLst>
                <a:path w="304164" h="263525" extrusionOk="0">
                  <a:moveTo>
                    <a:pt x="75945" y="263080"/>
                  </a:moveTo>
                  <a:lnTo>
                    <a:pt x="0" y="131535"/>
                  </a:lnTo>
                  <a:lnTo>
                    <a:pt x="75945" y="0"/>
                  </a:lnTo>
                  <a:lnTo>
                    <a:pt x="227835" y="0"/>
                  </a:lnTo>
                  <a:lnTo>
                    <a:pt x="303781" y="131535"/>
                  </a:lnTo>
                  <a:lnTo>
                    <a:pt x="227835" y="263080"/>
                  </a:lnTo>
                  <a:lnTo>
                    <a:pt x="75945" y="263080"/>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3" name="Google Shape;843;p45"/>
            <p:cNvSpPr/>
            <p:nvPr/>
          </p:nvSpPr>
          <p:spPr>
            <a:xfrm>
              <a:off x="469767" y="7699730"/>
              <a:ext cx="304165" cy="263525"/>
            </a:xfrm>
            <a:custGeom>
              <a:avLst/>
              <a:gdLst/>
              <a:ahLst/>
              <a:cxnLst/>
              <a:rect l="l" t="t" r="r" b="b"/>
              <a:pathLst>
                <a:path w="304165" h="263525" extrusionOk="0">
                  <a:moveTo>
                    <a:pt x="227835" y="0"/>
                  </a:moveTo>
                  <a:lnTo>
                    <a:pt x="75945" y="0"/>
                  </a:lnTo>
                  <a:lnTo>
                    <a:pt x="0" y="131545"/>
                  </a:lnTo>
                  <a:lnTo>
                    <a:pt x="75945" y="263091"/>
                  </a:lnTo>
                  <a:lnTo>
                    <a:pt x="227835" y="263091"/>
                  </a:lnTo>
                  <a:lnTo>
                    <a:pt x="303781" y="131545"/>
                  </a:lnTo>
                  <a:lnTo>
                    <a:pt x="227835"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4" name="Google Shape;844;p45"/>
            <p:cNvSpPr/>
            <p:nvPr/>
          </p:nvSpPr>
          <p:spPr>
            <a:xfrm>
              <a:off x="469767" y="7699730"/>
              <a:ext cx="304165" cy="263525"/>
            </a:xfrm>
            <a:custGeom>
              <a:avLst/>
              <a:gdLst/>
              <a:ahLst/>
              <a:cxnLst/>
              <a:rect l="l" t="t" r="r" b="b"/>
              <a:pathLst>
                <a:path w="304165" h="263525" extrusionOk="0">
                  <a:moveTo>
                    <a:pt x="75945" y="263091"/>
                  </a:moveTo>
                  <a:lnTo>
                    <a:pt x="0" y="131545"/>
                  </a:lnTo>
                  <a:lnTo>
                    <a:pt x="75945" y="0"/>
                  </a:lnTo>
                  <a:lnTo>
                    <a:pt x="227835" y="0"/>
                  </a:lnTo>
                  <a:lnTo>
                    <a:pt x="303781" y="131545"/>
                  </a:lnTo>
                  <a:lnTo>
                    <a:pt x="227835" y="263091"/>
                  </a:lnTo>
                  <a:lnTo>
                    <a:pt x="75945" y="263091"/>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5" name="Google Shape;845;p45"/>
            <p:cNvSpPr/>
            <p:nvPr/>
          </p:nvSpPr>
          <p:spPr>
            <a:xfrm>
              <a:off x="18386044" y="466634"/>
              <a:ext cx="243000" cy="210600"/>
            </a:xfrm>
            <a:prstGeom prst="rect">
              <a:avLst/>
            </a:prstGeom>
            <a:blipFill rotWithShape="1">
              <a:blip r:embed="rId6">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6" name="Google Shape;846;p45"/>
            <p:cNvSpPr/>
            <p:nvPr/>
          </p:nvSpPr>
          <p:spPr>
            <a:xfrm>
              <a:off x="10484546" y="7906475"/>
              <a:ext cx="763904" cy="1323340"/>
            </a:xfrm>
            <a:custGeom>
              <a:avLst/>
              <a:gdLst/>
              <a:ahLst/>
              <a:cxnLst/>
              <a:rect l="l" t="t" r="r" b="b"/>
              <a:pathLst>
                <a:path w="763904" h="1323340" extrusionOk="0">
                  <a:moveTo>
                    <a:pt x="0" y="1323017"/>
                  </a:moveTo>
                  <a:lnTo>
                    <a:pt x="5256" y="1313991"/>
                  </a:lnTo>
                  <a:lnTo>
                    <a:pt x="758699" y="9025"/>
                  </a:lnTo>
                  <a:lnTo>
                    <a:pt x="763861" y="0"/>
                  </a:lnTo>
                </a:path>
              </a:pathLst>
            </a:custGeom>
            <a:no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7" name="Google Shape;847;p45"/>
            <p:cNvSpPr/>
            <p:nvPr/>
          </p:nvSpPr>
          <p:spPr>
            <a:xfrm>
              <a:off x="10484640" y="6601517"/>
              <a:ext cx="758825" cy="1314450"/>
            </a:xfrm>
            <a:custGeom>
              <a:avLst/>
              <a:gdLst/>
              <a:ahLst/>
              <a:cxnLst/>
              <a:rect l="l" t="t" r="r" b="b"/>
              <a:pathLst>
                <a:path w="758825" h="1314450" extrusionOk="0">
                  <a:moveTo>
                    <a:pt x="758605" y="1313980"/>
                  </a:moveTo>
                  <a:lnTo>
                    <a:pt x="753348" y="1304965"/>
                  </a:lnTo>
                  <a:lnTo>
                    <a:pt x="0" y="0"/>
                  </a:lnTo>
                </a:path>
              </a:pathLst>
            </a:custGeom>
            <a:noFill/>
            <a:ln w="175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8" name="Google Shape;848;p45"/>
            <p:cNvSpPr/>
            <p:nvPr/>
          </p:nvSpPr>
          <p:spPr>
            <a:xfrm>
              <a:off x="2761295" y="1200266"/>
              <a:ext cx="304164" cy="263525"/>
            </a:xfrm>
            <a:custGeom>
              <a:avLst/>
              <a:gdLst/>
              <a:ahLst/>
              <a:cxnLst/>
              <a:rect l="l" t="t" r="r" b="b"/>
              <a:pathLst>
                <a:path w="304164" h="263525" extrusionOk="0">
                  <a:moveTo>
                    <a:pt x="227846" y="0"/>
                  </a:moveTo>
                  <a:lnTo>
                    <a:pt x="75945" y="0"/>
                  </a:lnTo>
                  <a:lnTo>
                    <a:pt x="0" y="131535"/>
                  </a:lnTo>
                  <a:lnTo>
                    <a:pt x="75945" y="263080"/>
                  </a:lnTo>
                  <a:lnTo>
                    <a:pt x="227846" y="263080"/>
                  </a:lnTo>
                  <a:lnTo>
                    <a:pt x="303791" y="131535"/>
                  </a:lnTo>
                  <a:lnTo>
                    <a:pt x="227846"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49" name="Google Shape;849;p45"/>
            <p:cNvSpPr/>
            <p:nvPr/>
          </p:nvSpPr>
          <p:spPr>
            <a:xfrm>
              <a:off x="2761295" y="1200266"/>
              <a:ext cx="304164" cy="263525"/>
            </a:xfrm>
            <a:custGeom>
              <a:avLst/>
              <a:gdLst/>
              <a:ahLst/>
              <a:cxnLst/>
              <a:rect l="l" t="t" r="r" b="b"/>
              <a:pathLst>
                <a:path w="304164" h="263525" extrusionOk="0">
                  <a:moveTo>
                    <a:pt x="75945" y="263080"/>
                  </a:moveTo>
                  <a:lnTo>
                    <a:pt x="0" y="131535"/>
                  </a:lnTo>
                  <a:lnTo>
                    <a:pt x="75945" y="0"/>
                  </a:lnTo>
                  <a:lnTo>
                    <a:pt x="227846" y="0"/>
                  </a:lnTo>
                  <a:lnTo>
                    <a:pt x="303791" y="131535"/>
                  </a:lnTo>
                  <a:lnTo>
                    <a:pt x="227846" y="263080"/>
                  </a:lnTo>
                  <a:lnTo>
                    <a:pt x="75945" y="263080"/>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0" name="Google Shape;850;p45"/>
            <p:cNvSpPr/>
            <p:nvPr/>
          </p:nvSpPr>
          <p:spPr>
            <a:xfrm>
              <a:off x="4603089" y="9430249"/>
              <a:ext cx="1080770" cy="1878329"/>
            </a:xfrm>
            <a:custGeom>
              <a:avLst/>
              <a:gdLst/>
              <a:ahLst/>
              <a:cxnLst/>
              <a:rect l="l" t="t" r="r" b="b"/>
              <a:pathLst>
                <a:path w="1080770" h="1878329" extrusionOk="0">
                  <a:moveTo>
                    <a:pt x="0" y="0"/>
                  </a:moveTo>
                  <a:lnTo>
                    <a:pt x="1080718" y="1878307"/>
                  </a:lnTo>
                </a:path>
              </a:pathLst>
            </a:custGeom>
            <a:noFill/>
            <a:ln w="360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1" name="Google Shape;851;p45"/>
            <p:cNvSpPr/>
            <p:nvPr/>
          </p:nvSpPr>
          <p:spPr>
            <a:xfrm>
              <a:off x="6236796" y="8086693"/>
              <a:ext cx="709929" cy="1343659"/>
            </a:xfrm>
            <a:custGeom>
              <a:avLst/>
              <a:gdLst/>
              <a:ahLst/>
              <a:cxnLst/>
              <a:rect l="l" t="t" r="r" b="b"/>
              <a:pathLst>
                <a:path w="709929" h="1343659" extrusionOk="0">
                  <a:moveTo>
                    <a:pt x="709653" y="0"/>
                  </a:moveTo>
                  <a:lnTo>
                    <a:pt x="0" y="1343550"/>
                  </a:lnTo>
                </a:path>
              </a:pathLst>
            </a:custGeom>
            <a:noFill/>
            <a:ln w="2705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2" name="Google Shape;852;p45"/>
            <p:cNvSpPr/>
            <p:nvPr/>
          </p:nvSpPr>
          <p:spPr>
            <a:xfrm>
              <a:off x="4603092" y="9430249"/>
              <a:ext cx="3147695" cy="0"/>
            </a:xfrm>
            <a:custGeom>
              <a:avLst/>
              <a:gdLst/>
              <a:ahLst/>
              <a:cxnLst/>
              <a:rect l="l" t="t" r="r" b="b"/>
              <a:pathLst>
                <a:path w="3147695" h="120000" extrusionOk="0">
                  <a:moveTo>
                    <a:pt x="3147223" y="0"/>
                  </a:moveTo>
                  <a:lnTo>
                    <a:pt x="0" y="0"/>
                  </a:lnTo>
                </a:path>
              </a:pathLst>
            </a:custGeom>
            <a:noFill/>
            <a:ln w="360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3" name="Google Shape;853;p45"/>
            <p:cNvSpPr/>
            <p:nvPr/>
          </p:nvSpPr>
          <p:spPr>
            <a:xfrm>
              <a:off x="5036021" y="10291809"/>
              <a:ext cx="250200" cy="216600"/>
            </a:xfrm>
            <a:prstGeom prst="rect">
              <a:avLst/>
            </a:prstGeom>
            <a:blipFill rotWithShape="1">
              <a:blip r:embed="rId9">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4" name="Google Shape;854;p45"/>
            <p:cNvSpPr/>
            <p:nvPr/>
          </p:nvSpPr>
          <p:spPr>
            <a:xfrm>
              <a:off x="6858427" y="7910755"/>
              <a:ext cx="875029" cy="1519554"/>
            </a:xfrm>
            <a:custGeom>
              <a:avLst/>
              <a:gdLst/>
              <a:ahLst/>
              <a:cxnLst/>
              <a:rect l="l" t="t" r="r" b="b"/>
              <a:pathLst>
                <a:path w="875029" h="1519554" extrusionOk="0">
                  <a:moveTo>
                    <a:pt x="874444" y="1519493"/>
                  </a:moveTo>
                  <a:lnTo>
                    <a:pt x="0" y="0"/>
                  </a:lnTo>
                </a:path>
              </a:pathLst>
            </a:custGeom>
            <a:noFill/>
            <a:ln w="360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5" name="Google Shape;855;p45"/>
            <p:cNvSpPr/>
            <p:nvPr/>
          </p:nvSpPr>
          <p:spPr>
            <a:xfrm>
              <a:off x="3491728" y="4013202"/>
              <a:ext cx="570229" cy="408939"/>
            </a:xfrm>
            <a:custGeom>
              <a:avLst/>
              <a:gdLst/>
              <a:ahLst/>
              <a:cxnLst/>
              <a:rect l="l" t="t" r="r" b="b"/>
              <a:pathLst>
                <a:path w="570229" h="408939" extrusionOk="0">
                  <a:moveTo>
                    <a:pt x="159953" y="71495"/>
                  </a:moveTo>
                  <a:lnTo>
                    <a:pt x="125414" y="78643"/>
                  </a:lnTo>
                  <a:lnTo>
                    <a:pt x="97410" y="98046"/>
                  </a:lnTo>
                  <a:lnTo>
                    <a:pt x="78634" y="126642"/>
                  </a:lnTo>
                  <a:lnTo>
                    <a:pt x="71777" y="161366"/>
                  </a:lnTo>
                  <a:lnTo>
                    <a:pt x="71777" y="167502"/>
                  </a:lnTo>
                  <a:lnTo>
                    <a:pt x="73830" y="171586"/>
                  </a:lnTo>
                  <a:lnTo>
                    <a:pt x="44125" y="190865"/>
                  </a:lnTo>
                  <a:lnTo>
                    <a:pt x="20765" y="217037"/>
                  </a:lnTo>
                  <a:lnTo>
                    <a:pt x="5479" y="248569"/>
                  </a:lnTo>
                  <a:lnTo>
                    <a:pt x="0" y="283928"/>
                  </a:lnTo>
                  <a:lnTo>
                    <a:pt x="9742" y="332700"/>
                  </a:lnTo>
                  <a:lnTo>
                    <a:pt x="36404" y="372280"/>
                  </a:lnTo>
                  <a:lnTo>
                    <a:pt x="76138" y="398838"/>
                  </a:lnTo>
                  <a:lnTo>
                    <a:pt x="125095" y="408542"/>
                  </a:lnTo>
                  <a:lnTo>
                    <a:pt x="447033" y="408542"/>
                  </a:lnTo>
                  <a:lnTo>
                    <a:pt x="494802" y="398838"/>
                  </a:lnTo>
                  <a:lnTo>
                    <a:pt x="531669" y="373810"/>
                  </a:lnTo>
                  <a:lnTo>
                    <a:pt x="125095" y="373810"/>
                  </a:lnTo>
                  <a:lnTo>
                    <a:pt x="90556" y="366662"/>
                  </a:lnTo>
                  <a:lnTo>
                    <a:pt x="62553" y="347257"/>
                  </a:lnTo>
                  <a:lnTo>
                    <a:pt x="43777" y="318659"/>
                  </a:lnTo>
                  <a:lnTo>
                    <a:pt x="36920" y="283928"/>
                  </a:lnTo>
                  <a:lnTo>
                    <a:pt x="40604" y="259705"/>
                  </a:lnTo>
                  <a:lnTo>
                    <a:pt x="51015" y="237206"/>
                  </a:lnTo>
                  <a:lnTo>
                    <a:pt x="67192" y="218151"/>
                  </a:lnTo>
                  <a:lnTo>
                    <a:pt x="88175" y="204266"/>
                  </a:lnTo>
                  <a:lnTo>
                    <a:pt x="110740" y="194046"/>
                  </a:lnTo>
                  <a:lnTo>
                    <a:pt x="108687" y="167502"/>
                  </a:lnTo>
                  <a:lnTo>
                    <a:pt x="108687" y="163408"/>
                  </a:lnTo>
                  <a:lnTo>
                    <a:pt x="106635" y="161366"/>
                  </a:lnTo>
                  <a:lnTo>
                    <a:pt x="110930" y="139825"/>
                  </a:lnTo>
                  <a:lnTo>
                    <a:pt x="122531" y="122307"/>
                  </a:lnTo>
                  <a:lnTo>
                    <a:pt x="139514" y="110534"/>
                  </a:lnTo>
                  <a:lnTo>
                    <a:pt x="159953" y="106227"/>
                  </a:lnTo>
                  <a:lnTo>
                    <a:pt x="227337" y="106227"/>
                  </a:lnTo>
                  <a:lnTo>
                    <a:pt x="231720" y="98038"/>
                  </a:lnTo>
                  <a:lnTo>
                    <a:pt x="244391" y="81704"/>
                  </a:lnTo>
                  <a:lnTo>
                    <a:pt x="200967" y="81704"/>
                  </a:lnTo>
                  <a:lnTo>
                    <a:pt x="191383" y="77524"/>
                  </a:lnTo>
                  <a:lnTo>
                    <a:pt x="181226" y="74302"/>
                  </a:lnTo>
                  <a:lnTo>
                    <a:pt x="170686" y="72228"/>
                  </a:lnTo>
                  <a:lnTo>
                    <a:pt x="159953" y="71495"/>
                  </a:lnTo>
                  <a:close/>
                </a:path>
                <a:path w="570229" h="408939" extrusionOk="0">
                  <a:moveTo>
                    <a:pt x="439879" y="36773"/>
                  </a:moveTo>
                  <a:lnTo>
                    <a:pt x="338345" y="36773"/>
                  </a:lnTo>
                  <a:lnTo>
                    <a:pt x="387305" y="46442"/>
                  </a:lnTo>
                  <a:lnTo>
                    <a:pt x="427035" y="72770"/>
                  </a:lnTo>
                  <a:lnTo>
                    <a:pt x="453691" y="111737"/>
                  </a:lnTo>
                  <a:lnTo>
                    <a:pt x="463430" y="159324"/>
                  </a:lnTo>
                  <a:lnTo>
                    <a:pt x="463430" y="169534"/>
                  </a:lnTo>
                  <a:lnTo>
                    <a:pt x="461389" y="194046"/>
                  </a:lnTo>
                  <a:lnTo>
                    <a:pt x="483932" y="204266"/>
                  </a:lnTo>
                  <a:lnTo>
                    <a:pt x="504923" y="218151"/>
                  </a:lnTo>
                  <a:lnTo>
                    <a:pt x="521107" y="237206"/>
                  </a:lnTo>
                  <a:lnTo>
                    <a:pt x="531523" y="259705"/>
                  </a:lnTo>
                  <a:lnTo>
                    <a:pt x="535208" y="283928"/>
                  </a:lnTo>
                  <a:lnTo>
                    <a:pt x="528352" y="318659"/>
                  </a:lnTo>
                  <a:lnTo>
                    <a:pt x="509576" y="347257"/>
                  </a:lnTo>
                  <a:lnTo>
                    <a:pt x="481572" y="366662"/>
                  </a:lnTo>
                  <a:lnTo>
                    <a:pt x="447033" y="373810"/>
                  </a:lnTo>
                  <a:lnTo>
                    <a:pt x="531669" y="373810"/>
                  </a:lnTo>
                  <a:lnTo>
                    <a:pt x="533923" y="372280"/>
                  </a:lnTo>
                  <a:lnTo>
                    <a:pt x="560357" y="332700"/>
                  </a:lnTo>
                  <a:lnTo>
                    <a:pt x="570066" y="283928"/>
                  </a:lnTo>
                  <a:lnTo>
                    <a:pt x="564907" y="248569"/>
                  </a:lnTo>
                  <a:lnTo>
                    <a:pt x="550327" y="217037"/>
                  </a:lnTo>
                  <a:lnTo>
                    <a:pt x="527672" y="190865"/>
                  </a:lnTo>
                  <a:lnTo>
                    <a:pt x="498288" y="171586"/>
                  </a:lnTo>
                  <a:lnTo>
                    <a:pt x="498288" y="167502"/>
                  </a:lnTo>
                  <a:lnTo>
                    <a:pt x="500351" y="165460"/>
                  </a:lnTo>
                  <a:lnTo>
                    <a:pt x="500351" y="161366"/>
                  </a:lnTo>
                  <a:lnTo>
                    <a:pt x="494616" y="118208"/>
                  </a:lnTo>
                  <a:lnTo>
                    <a:pt x="478400" y="79588"/>
                  </a:lnTo>
                  <a:lnTo>
                    <a:pt x="453183" y="46981"/>
                  </a:lnTo>
                  <a:lnTo>
                    <a:pt x="439879" y="36773"/>
                  </a:lnTo>
                  <a:close/>
                </a:path>
                <a:path w="570229" h="408939" extrusionOk="0">
                  <a:moveTo>
                    <a:pt x="227337" y="106227"/>
                  </a:moveTo>
                  <a:lnTo>
                    <a:pt x="168151" y="106227"/>
                  </a:lnTo>
                  <a:lnTo>
                    <a:pt x="176350" y="108258"/>
                  </a:lnTo>
                  <a:lnTo>
                    <a:pt x="184549" y="112342"/>
                  </a:lnTo>
                  <a:lnTo>
                    <a:pt x="215312" y="128687"/>
                  </a:lnTo>
                  <a:lnTo>
                    <a:pt x="227337" y="106227"/>
                  </a:lnTo>
                  <a:close/>
                </a:path>
                <a:path w="570229" h="408939" extrusionOk="0">
                  <a:moveTo>
                    <a:pt x="338345" y="0"/>
                  </a:moveTo>
                  <a:lnTo>
                    <a:pt x="295542" y="5872"/>
                  </a:lnTo>
                  <a:lnTo>
                    <a:pt x="257354" y="22467"/>
                  </a:lnTo>
                  <a:lnTo>
                    <a:pt x="225317" y="48255"/>
                  </a:lnTo>
                  <a:lnTo>
                    <a:pt x="200967" y="81704"/>
                  </a:lnTo>
                  <a:lnTo>
                    <a:pt x="244391" y="81704"/>
                  </a:lnTo>
                  <a:lnTo>
                    <a:pt x="251845" y="72095"/>
                  </a:lnTo>
                  <a:lnTo>
                    <a:pt x="277348" y="52854"/>
                  </a:lnTo>
                  <a:lnTo>
                    <a:pt x="306694" y="40889"/>
                  </a:lnTo>
                  <a:lnTo>
                    <a:pt x="338345" y="36773"/>
                  </a:lnTo>
                  <a:lnTo>
                    <a:pt x="439879" y="36773"/>
                  </a:lnTo>
                  <a:lnTo>
                    <a:pt x="420448" y="21864"/>
                  </a:lnTo>
                  <a:lnTo>
                    <a:pt x="381675" y="5712"/>
                  </a:lnTo>
                  <a:lnTo>
                    <a:pt x="338345" y="0"/>
                  </a:lnTo>
                  <a:close/>
                </a:path>
              </a:pathLst>
            </a:custGeom>
            <a:solidFill>
              <a:srgbClr val="BBBBBB"/>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6" name="Google Shape;856;p45"/>
            <p:cNvSpPr/>
            <p:nvPr/>
          </p:nvSpPr>
          <p:spPr>
            <a:xfrm>
              <a:off x="9576954" y="2475746"/>
              <a:ext cx="360679" cy="260985"/>
            </a:xfrm>
            <a:custGeom>
              <a:avLst/>
              <a:gdLst/>
              <a:ahLst/>
              <a:cxnLst/>
              <a:rect l="l" t="t" r="r" b="b"/>
              <a:pathLst>
                <a:path w="360679" h="260985" extrusionOk="0">
                  <a:moveTo>
                    <a:pt x="360093" y="260515"/>
                  </a:moveTo>
                  <a:lnTo>
                    <a:pt x="0" y="260515"/>
                  </a:lnTo>
                  <a:lnTo>
                    <a:pt x="0" y="0"/>
                  </a:lnTo>
                  <a:lnTo>
                    <a:pt x="360093" y="0"/>
                  </a:lnTo>
                  <a:lnTo>
                    <a:pt x="360093" y="260515"/>
                  </a:lnTo>
                  <a:close/>
                </a:path>
              </a:pathLst>
            </a:custGeom>
            <a:solidFill>
              <a:srgbClr val="C8C8C8"/>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7" name="Google Shape;857;p45"/>
            <p:cNvSpPr/>
            <p:nvPr/>
          </p:nvSpPr>
          <p:spPr>
            <a:xfrm>
              <a:off x="9558609" y="2266569"/>
              <a:ext cx="391159" cy="483235"/>
            </a:xfrm>
            <a:custGeom>
              <a:avLst/>
              <a:gdLst/>
              <a:ahLst/>
              <a:cxnLst/>
              <a:rect l="l" t="t" r="r" b="b"/>
              <a:pathLst>
                <a:path w="391159" h="483235" extrusionOk="0">
                  <a:moveTo>
                    <a:pt x="390637" y="186161"/>
                  </a:moveTo>
                  <a:lnTo>
                    <a:pt x="0" y="186161"/>
                  </a:lnTo>
                  <a:lnTo>
                    <a:pt x="0" y="482959"/>
                  </a:lnTo>
                  <a:lnTo>
                    <a:pt x="390637" y="482959"/>
                  </a:lnTo>
                  <a:lnTo>
                    <a:pt x="390637" y="456300"/>
                  </a:lnTo>
                  <a:lnTo>
                    <a:pt x="26512" y="456300"/>
                  </a:lnTo>
                  <a:lnTo>
                    <a:pt x="26512" y="209176"/>
                  </a:lnTo>
                  <a:lnTo>
                    <a:pt x="390637" y="209176"/>
                  </a:lnTo>
                  <a:lnTo>
                    <a:pt x="390637" y="186161"/>
                  </a:lnTo>
                  <a:close/>
                </a:path>
                <a:path w="391159" h="483235" extrusionOk="0">
                  <a:moveTo>
                    <a:pt x="390637" y="209176"/>
                  </a:moveTo>
                  <a:lnTo>
                    <a:pt x="364104" y="209176"/>
                  </a:lnTo>
                  <a:lnTo>
                    <a:pt x="364104" y="456300"/>
                  </a:lnTo>
                  <a:lnTo>
                    <a:pt x="390637" y="456300"/>
                  </a:lnTo>
                  <a:lnTo>
                    <a:pt x="390637" y="209176"/>
                  </a:lnTo>
                  <a:close/>
                </a:path>
                <a:path w="391159" h="483235" extrusionOk="0">
                  <a:moveTo>
                    <a:pt x="193491" y="0"/>
                  </a:moveTo>
                  <a:lnTo>
                    <a:pt x="150815" y="8950"/>
                  </a:lnTo>
                  <a:lnTo>
                    <a:pt x="115927" y="33344"/>
                  </a:lnTo>
                  <a:lnTo>
                    <a:pt x="92384" y="69494"/>
                  </a:lnTo>
                  <a:lnTo>
                    <a:pt x="83746" y="113713"/>
                  </a:lnTo>
                  <a:lnTo>
                    <a:pt x="83746" y="186161"/>
                  </a:lnTo>
                  <a:lnTo>
                    <a:pt x="106625" y="186161"/>
                  </a:lnTo>
                  <a:lnTo>
                    <a:pt x="106625" y="113713"/>
                  </a:lnTo>
                  <a:lnTo>
                    <a:pt x="113461" y="79863"/>
                  </a:lnTo>
                  <a:lnTo>
                    <a:pt x="132094" y="52192"/>
                  </a:lnTo>
                  <a:lnTo>
                    <a:pt x="159708" y="33520"/>
                  </a:lnTo>
                  <a:lnTo>
                    <a:pt x="193491" y="26669"/>
                  </a:lnTo>
                  <a:lnTo>
                    <a:pt x="262879" y="26669"/>
                  </a:lnTo>
                  <a:lnTo>
                    <a:pt x="237144" y="9100"/>
                  </a:lnTo>
                  <a:lnTo>
                    <a:pt x="193491" y="0"/>
                  </a:lnTo>
                  <a:close/>
                </a:path>
                <a:path w="391159" h="483235" extrusionOk="0">
                  <a:moveTo>
                    <a:pt x="262879" y="26669"/>
                  </a:moveTo>
                  <a:lnTo>
                    <a:pt x="193491" y="26669"/>
                  </a:lnTo>
                  <a:lnTo>
                    <a:pt x="227274" y="33520"/>
                  </a:lnTo>
                  <a:lnTo>
                    <a:pt x="254888" y="52192"/>
                  </a:lnTo>
                  <a:lnTo>
                    <a:pt x="273521" y="79863"/>
                  </a:lnTo>
                  <a:lnTo>
                    <a:pt x="280357" y="113713"/>
                  </a:lnTo>
                  <a:lnTo>
                    <a:pt x="280357" y="186161"/>
                  </a:lnTo>
                  <a:lnTo>
                    <a:pt x="306891" y="186161"/>
                  </a:lnTo>
                  <a:lnTo>
                    <a:pt x="306891" y="113713"/>
                  </a:lnTo>
                  <a:lnTo>
                    <a:pt x="297817" y="69945"/>
                  </a:lnTo>
                  <a:lnTo>
                    <a:pt x="273244" y="33745"/>
                  </a:lnTo>
                  <a:lnTo>
                    <a:pt x="262879" y="26669"/>
                  </a:lnTo>
                  <a:close/>
                </a:path>
              </a:pathLst>
            </a:custGeom>
            <a:solidFill>
              <a:srgbClr val="C8C8C8"/>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8" name="Google Shape;858;p45"/>
            <p:cNvSpPr/>
            <p:nvPr/>
          </p:nvSpPr>
          <p:spPr>
            <a:xfrm>
              <a:off x="17155581" y="7710058"/>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BBBBBB"/>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59" name="Google Shape;859;p45"/>
            <p:cNvSpPr/>
            <p:nvPr/>
          </p:nvSpPr>
          <p:spPr>
            <a:xfrm>
              <a:off x="17137238" y="7500860"/>
              <a:ext cx="391159" cy="483234"/>
            </a:xfrm>
            <a:custGeom>
              <a:avLst/>
              <a:gdLst/>
              <a:ahLst/>
              <a:cxnLst/>
              <a:rect l="l" t="t" r="r" b="b"/>
              <a:pathLst>
                <a:path w="391159" h="483234" extrusionOk="0">
                  <a:moveTo>
                    <a:pt x="390647" y="186182"/>
                  </a:moveTo>
                  <a:lnTo>
                    <a:pt x="0" y="186182"/>
                  </a:lnTo>
                  <a:lnTo>
                    <a:pt x="0" y="482969"/>
                  </a:lnTo>
                  <a:lnTo>
                    <a:pt x="390647" y="482969"/>
                  </a:lnTo>
                  <a:lnTo>
                    <a:pt x="390647" y="456310"/>
                  </a:lnTo>
                  <a:lnTo>
                    <a:pt x="26533" y="456310"/>
                  </a:lnTo>
                  <a:lnTo>
                    <a:pt x="26533" y="209197"/>
                  </a:lnTo>
                  <a:lnTo>
                    <a:pt x="390647" y="209197"/>
                  </a:lnTo>
                  <a:lnTo>
                    <a:pt x="390647" y="186182"/>
                  </a:lnTo>
                  <a:close/>
                </a:path>
                <a:path w="391159" h="483234" extrusionOk="0">
                  <a:moveTo>
                    <a:pt x="390647" y="209197"/>
                  </a:moveTo>
                  <a:lnTo>
                    <a:pt x="364125" y="209197"/>
                  </a:lnTo>
                  <a:lnTo>
                    <a:pt x="364125" y="456310"/>
                  </a:lnTo>
                  <a:lnTo>
                    <a:pt x="390647" y="456310"/>
                  </a:lnTo>
                  <a:lnTo>
                    <a:pt x="390647" y="209197"/>
                  </a:lnTo>
                  <a:close/>
                </a:path>
                <a:path w="391159" h="483234" extrusionOk="0">
                  <a:moveTo>
                    <a:pt x="193501" y="0"/>
                  </a:moveTo>
                  <a:lnTo>
                    <a:pt x="150820" y="8952"/>
                  </a:lnTo>
                  <a:lnTo>
                    <a:pt x="115928" y="33349"/>
                  </a:lnTo>
                  <a:lnTo>
                    <a:pt x="92384" y="69503"/>
                  </a:lnTo>
                  <a:lnTo>
                    <a:pt x="83746" y="113724"/>
                  </a:lnTo>
                  <a:lnTo>
                    <a:pt x="83746" y="186182"/>
                  </a:lnTo>
                  <a:lnTo>
                    <a:pt x="106635" y="186182"/>
                  </a:lnTo>
                  <a:lnTo>
                    <a:pt x="106635" y="113724"/>
                  </a:lnTo>
                  <a:lnTo>
                    <a:pt x="113473" y="79872"/>
                  </a:lnTo>
                  <a:lnTo>
                    <a:pt x="132108" y="52197"/>
                  </a:lnTo>
                  <a:lnTo>
                    <a:pt x="159723" y="33521"/>
                  </a:lnTo>
                  <a:lnTo>
                    <a:pt x="193501" y="26669"/>
                  </a:lnTo>
                  <a:lnTo>
                    <a:pt x="262888" y="26669"/>
                  </a:lnTo>
                  <a:lnTo>
                    <a:pt x="237155" y="9100"/>
                  </a:lnTo>
                  <a:lnTo>
                    <a:pt x="193501" y="0"/>
                  </a:lnTo>
                  <a:close/>
                </a:path>
                <a:path w="391159" h="483234" extrusionOk="0">
                  <a:moveTo>
                    <a:pt x="262888" y="26669"/>
                  </a:moveTo>
                  <a:lnTo>
                    <a:pt x="193501" y="26669"/>
                  </a:lnTo>
                  <a:lnTo>
                    <a:pt x="227286" y="33521"/>
                  </a:lnTo>
                  <a:lnTo>
                    <a:pt x="254904" y="52197"/>
                  </a:lnTo>
                  <a:lnTo>
                    <a:pt x="273540" y="79872"/>
                  </a:lnTo>
                  <a:lnTo>
                    <a:pt x="280378" y="113724"/>
                  </a:lnTo>
                  <a:lnTo>
                    <a:pt x="280378" y="186182"/>
                  </a:lnTo>
                  <a:lnTo>
                    <a:pt x="306901" y="186182"/>
                  </a:lnTo>
                  <a:lnTo>
                    <a:pt x="306901" y="113724"/>
                  </a:lnTo>
                  <a:lnTo>
                    <a:pt x="297827" y="69949"/>
                  </a:lnTo>
                  <a:lnTo>
                    <a:pt x="273254" y="33746"/>
                  </a:lnTo>
                  <a:lnTo>
                    <a:pt x="262888" y="26669"/>
                  </a:lnTo>
                  <a:close/>
                </a:path>
              </a:pathLst>
            </a:custGeom>
            <a:solidFill>
              <a:srgbClr val="BBBBBB"/>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0" name="Google Shape;860;p45"/>
            <p:cNvSpPr/>
            <p:nvPr/>
          </p:nvSpPr>
          <p:spPr>
            <a:xfrm>
              <a:off x="18932295" y="3025124"/>
              <a:ext cx="570230" cy="408939"/>
            </a:xfrm>
            <a:custGeom>
              <a:avLst/>
              <a:gdLst/>
              <a:ahLst/>
              <a:cxnLst/>
              <a:rect l="l" t="t" r="r" b="b"/>
              <a:pathLst>
                <a:path w="570230" h="408939" extrusionOk="0">
                  <a:moveTo>
                    <a:pt x="159942" y="71495"/>
                  </a:moveTo>
                  <a:lnTo>
                    <a:pt x="125403" y="78643"/>
                  </a:lnTo>
                  <a:lnTo>
                    <a:pt x="97399" y="98049"/>
                  </a:lnTo>
                  <a:lnTo>
                    <a:pt x="78624" y="126646"/>
                  </a:lnTo>
                  <a:lnTo>
                    <a:pt x="71767" y="161377"/>
                  </a:lnTo>
                  <a:lnTo>
                    <a:pt x="71767" y="167502"/>
                  </a:lnTo>
                  <a:lnTo>
                    <a:pt x="73819" y="171596"/>
                  </a:lnTo>
                  <a:lnTo>
                    <a:pt x="44116" y="190870"/>
                  </a:lnTo>
                  <a:lnTo>
                    <a:pt x="20759" y="217040"/>
                  </a:lnTo>
                  <a:lnTo>
                    <a:pt x="5478" y="248574"/>
                  </a:lnTo>
                  <a:lnTo>
                    <a:pt x="0" y="283938"/>
                  </a:lnTo>
                  <a:lnTo>
                    <a:pt x="9740" y="332708"/>
                  </a:lnTo>
                  <a:lnTo>
                    <a:pt x="36399" y="372285"/>
                  </a:lnTo>
                  <a:lnTo>
                    <a:pt x="76129" y="398840"/>
                  </a:lnTo>
                  <a:lnTo>
                    <a:pt x="125085" y="408542"/>
                  </a:lnTo>
                  <a:lnTo>
                    <a:pt x="447023" y="408542"/>
                  </a:lnTo>
                  <a:lnTo>
                    <a:pt x="494792" y="398840"/>
                  </a:lnTo>
                  <a:lnTo>
                    <a:pt x="531666" y="373810"/>
                  </a:lnTo>
                  <a:lnTo>
                    <a:pt x="125085" y="373810"/>
                  </a:lnTo>
                  <a:lnTo>
                    <a:pt x="90545" y="366662"/>
                  </a:lnTo>
                  <a:lnTo>
                    <a:pt x="62542" y="347259"/>
                  </a:lnTo>
                  <a:lnTo>
                    <a:pt x="43766" y="318663"/>
                  </a:lnTo>
                  <a:lnTo>
                    <a:pt x="36909" y="283938"/>
                  </a:lnTo>
                  <a:lnTo>
                    <a:pt x="40593" y="259714"/>
                  </a:lnTo>
                  <a:lnTo>
                    <a:pt x="51004" y="237212"/>
                  </a:lnTo>
                  <a:lnTo>
                    <a:pt x="67182" y="218157"/>
                  </a:lnTo>
                  <a:lnTo>
                    <a:pt x="88164" y="204276"/>
                  </a:lnTo>
                  <a:lnTo>
                    <a:pt x="110729" y="194056"/>
                  </a:lnTo>
                  <a:lnTo>
                    <a:pt x="108677" y="167502"/>
                  </a:lnTo>
                  <a:lnTo>
                    <a:pt x="108677" y="163419"/>
                  </a:lnTo>
                  <a:lnTo>
                    <a:pt x="106625" y="161377"/>
                  </a:lnTo>
                  <a:lnTo>
                    <a:pt x="110919" y="139830"/>
                  </a:lnTo>
                  <a:lnTo>
                    <a:pt x="122521" y="122309"/>
                  </a:lnTo>
                  <a:lnTo>
                    <a:pt x="139503" y="110534"/>
                  </a:lnTo>
                  <a:lnTo>
                    <a:pt x="159942" y="106227"/>
                  </a:lnTo>
                  <a:lnTo>
                    <a:pt x="227332" y="106227"/>
                  </a:lnTo>
                  <a:lnTo>
                    <a:pt x="231711" y="98048"/>
                  </a:lnTo>
                  <a:lnTo>
                    <a:pt x="244380" y="81714"/>
                  </a:lnTo>
                  <a:lnTo>
                    <a:pt x="200957" y="81714"/>
                  </a:lnTo>
                  <a:lnTo>
                    <a:pt x="191377" y="77533"/>
                  </a:lnTo>
                  <a:lnTo>
                    <a:pt x="181219" y="74307"/>
                  </a:lnTo>
                  <a:lnTo>
                    <a:pt x="170677" y="72230"/>
                  </a:lnTo>
                  <a:lnTo>
                    <a:pt x="159942" y="71495"/>
                  </a:lnTo>
                  <a:close/>
                </a:path>
                <a:path w="570230" h="408939" extrusionOk="0">
                  <a:moveTo>
                    <a:pt x="439870" y="36773"/>
                  </a:moveTo>
                  <a:lnTo>
                    <a:pt x="338345" y="36773"/>
                  </a:lnTo>
                  <a:lnTo>
                    <a:pt x="387299" y="46444"/>
                  </a:lnTo>
                  <a:lnTo>
                    <a:pt x="427026" y="72775"/>
                  </a:lnTo>
                  <a:lnTo>
                    <a:pt x="453681" y="111745"/>
                  </a:lnTo>
                  <a:lnTo>
                    <a:pt x="463420" y="159335"/>
                  </a:lnTo>
                  <a:lnTo>
                    <a:pt x="463420" y="169544"/>
                  </a:lnTo>
                  <a:lnTo>
                    <a:pt x="461378" y="194056"/>
                  </a:lnTo>
                  <a:lnTo>
                    <a:pt x="483922" y="204276"/>
                  </a:lnTo>
                  <a:lnTo>
                    <a:pt x="504912" y="218157"/>
                  </a:lnTo>
                  <a:lnTo>
                    <a:pt x="521096" y="237212"/>
                  </a:lnTo>
                  <a:lnTo>
                    <a:pt x="531512" y="259714"/>
                  </a:lnTo>
                  <a:lnTo>
                    <a:pt x="535198" y="283938"/>
                  </a:lnTo>
                  <a:lnTo>
                    <a:pt x="528341" y="318663"/>
                  </a:lnTo>
                  <a:lnTo>
                    <a:pt x="509565" y="347259"/>
                  </a:lnTo>
                  <a:lnTo>
                    <a:pt x="481562" y="366662"/>
                  </a:lnTo>
                  <a:lnTo>
                    <a:pt x="447023" y="373810"/>
                  </a:lnTo>
                  <a:lnTo>
                    <a:pt x="531666" y="373810"/>
                  </a:lnTo>
                  <a:lnTo>
                    <a:pt x="533913" y="372285"/>
                  </a:lnTo>
                  <a:lnTo>
                    <a:pt x="560347" y="332708"/>
                  </a:lnTo>
                  <a:lnTo>
                    <a:pt x="570055" y="283938"/>
                  </a:lnTo>
                  <a:lnTo>
                    <a:pt x="564896" y="248574"/>
                  </a:lnTo>
                  <a:lnTo>
                    <a:pt x="550317" y="217040"/>
                  </a:lnTo>
                  <a:lnTo>
                    <a:pt x="527662" y="190870"/>
                  </a:lnTo>
                  <a:lnTo>
                    <a:pt x="498278" y="171596"/>
                  </a:lnTo>
                  <a:lnTo>
                    <a:pt x="498278" y="167502"/>
                  </a:lnTo>
                  <a:lnTo>
                    <a:pt x="500340" y="165460"/>
                  </a:lnTo>
                  <a:lnTo>
                    <a:pt x="500340" y="161377"/>
                  </a:lnTo>
                  <a:lnTo>
                    <a:pt x="494606" y="118214"/>
                  </a:lnTo>
                  <a:lnTo>
                    <a:pt x="478390" y="79591"/>
                  </a:lnTo>
                  <a:lnTo>
                    <a:pt x="453174" y="46982"/>
                  </a:lnTo>
                  <a:lnTo>
                    <a:pt x="439870" y="36773"/>
                  </a:lnTo>
                  <a:close/>
                </a:path>
                <a:path w="570230" h="408939" extrusionOk="0">
                  <a:moveTo>
                    <a:pt x="227332" y="106227"/>
                  </a:moveTo>
                  <a:lnTo>
                    <a:pt x="168141" y="106227"/>
                  </a:lnTo>
                  <a:lnTo>
                    <a:pt x="176340" y="108268"/>
                  </a:lnTo>
                  <a:lnTo>
                    <a:pt x="184549" y="112342"/>
                  </a:lnTo>
                  <a:lnTo>
                    <a:pt x="215302" y="128697"/>
                  </a:lnTo>
                  <a:lnTo>
                    <a:pt x="227332" y="106227"/>
                  </a:lnTo>
                  <a:close/>
                </a:path>
                <a:path w="570230" h="408939" extrusionOk="0">
                  <a:moveTo>
                    <a:pt x="338345" y="0"/>
                  </a:moveTo>
                  <a:lnTo>
                    <a:pt x="295536" y="5873"/>
                  </a:lnTo>
                  <a:lnTo>
                    <a:pt x="257345" y="22473"/>
                  </a:lnTo>
                  <a:lnTo>
                    <a:pt x="225307" y="48264"/>
                  </a:lnTo>
                  <a:lnTo>
                    <a:pt x="200957" y="81714"/>
                  </a:lnTo>
                  <a:lnTo>
                    <a:pt x="244380" y="81714"/>
                  </a:lnTo>
                  <a:lnTo>
                    <a:pt x="251835" y="72104"/>
                  </a:lnTo>
                  <a:lnTo>
                    <a:pt x="277339" y="52859"/>
                  </a:lnTo>
                  <a:lnTo>
                    <a:pt x="306688" y="40891"/>
                  </a:lnTo>
                  <a:lnTo>
                    <a:pt x="338345" y="36773"/>
                  </a:lnTo>
                  <a:lnTo>
                    <a:pt x="439870" y="36773"/>
                  </a:lnTo>
                  <a:lnTo>
                    <a:pt x="420440" y="21864"/>
                  </a:lnTo>
                  <a:lnTo>
                    <a:pt x="381670" y="5712"/>
                  </a:lnTo>
                  <a:lnTo>
                    <a:pt x="338345" y="0"/>
                  </a:lnTo>
                  <a:close/>
                </a:path>
              </a:pathLst>
            </a:custGeom>
            <a:solidFill>
              <a:srgbClr val="7D7D7D"/>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1" name="Google Shape;861;p45"/>
            <p:cNvSpPr/>
            <p:nvPr/>
          </p:nvSpPr>
          <p:spPr>
            <a:xfrm>
              <a:off x="14923388" y="9943537"/>
              <a:ext cx="570230" cy="408940"/>
            </a:xfrm>
            <a:custGeom>
              <a:avLst/>
              <a:gdLst/>
              <a:ahLst/>
              <a:cxnLst/>
              <a:rect l="l" t="t" r="r" b="b"/>
              <a:pathLst>
                <a:path w="570230" h="408940" extrusionOk="0">
                  <a:moveTo>
                    <a:pt x="159953" y="71495"/>
                  </a:moveTo>
                  <a:lnTo>
                    <a:pt x="125414" y="78643"/>
                  </a:lnTo>
                  <a:lnTo>
                    <a:pt x="97408" y="98049"/>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6"/>
                  </a:lnTo>
                  <a:lnTo>
                    <a:pt x="51010" y="237207"/>
                  </a:lnTo>
                  <a:lnTo>
                    <a:pt x="67191" y="218156"/>
                  </a:lnTo>
                  <a:lnTo>
                    <a:pt x="88175" y="204276"/>
                  </a:lnTo>
                  <a:lnTo>
                    <a:pt x="110740" y="194056"/>
                  </a:lnTo>
                  <a:lnTo>
                    <a:pt x="108677" y="167502"/>
                  </a:lnTo>
                  <a:lnTo>
                    <a:pt x="108677" y="163408"/>
                  </a:lnTo>
                  <a:lnTo>
                    <a:pt x="106635" y="161366"/>
                  </a:lnTo>
                  <a:lnTo>
                    <a:pt x="110928" y="139825"/>
                  </a:lnTo>
                  <a:lnTo>
                    <a:pt x="122527" y="122307"/>
                  </a:lnTo>
                  <a:lnTo>
                    <a:pt x="139509" y="110534"/>
                  </a:lnTo>
                  <a:lnTo>
                    <a:pt x="159953" y="106227"/>
                  </a:lnTo>
                  <a:lnTo>
                    <a:pt x="227333" y="106227"/>
                  </a:lnTo>
                  <a:lnTo>
                    <a:pt x="231712" y="98046"/>
                  </a:lnTo>
                  <a:lnTo>
                    <a:pt x="244379" y="81714"/>
                  </a:lnTo>
                  <a:lnTo>
                    <a:pt x="200957" y="81714"/>
                  </a:lnTo>
                  <a:lnTo>
                    <a:pt x="191377" y="77529"/>
                  </a:lnTo>
                  <a:lnTo>
                    <a:pt x="181220" y="74304"/>
                  </a:lnTo>
                  <a:lnTo>
                    <a:pt x="170681" y="72229"/>
                  </a:lnTo>
                  <a:lnTo>
                    <a:pt x="159953" y="71495"/>
                  </a:lnTo>
                  <a:close/>
                </a:path>
                <a:path w="570230" h="408940" extrusionOk="0">
                  <a:moveTo>
                    <a:pt x="439875" y="36773"/>
                  </a:moveTo>
                  <a:lnTo>
                    <a:pt x="338345" y="36773"/>
                  </a:lnTo>
                  <a:lnTo>
                    <a:pt x="387301" y="46442"/>
                  </a:lnTo>
                  <a:lnTo>
                    <a:pt x="427031" y="72771"/>
                  </a:lnTo>
                  <a:lnTo>
                    <a:pt x="453690" y="111741"/>
                  </a:lnTo>
                  <a:lnTo>
                    <a:pt x="463430" y="159335"/>
                  </a:lnTo>
                  <a:lnTo>
                    <a:pt x="463430" y="169544"/>
                  </a:lnTo>
                  <a:lnTo>
                    <a:pt x="461378" y="194056"/>
                  </a:lnTo>
                  <a:lnTo>
                    <a:pt x="483932" y="204276"/>
                  </a:lnTo>
                  <a:lnTo>
                    <a:pt x="504921" y="218156"/>
                  </a:lnTo>
                  <a:lnTo>
                    <a:pt x="521101" y="237207"/>
                  </a:lnTo>
                  <a:lnTo>
                    <a:pt x="531514" y="259706"/>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40" extrusionOk="0">
                  <a:moveTo>
                    <a:pt x="227333" y="106227"/>
                  </a:moveTo>
                  <a:lnTo>
                    <a:pt x="168151" y="106227"/>
                  </a:lnTo>
                  <a:lnTo>
                    <a:pt x="176350" y="108268"/>
                  </a:lnTo>
                  <a:lnTo>
                    <a:pt x="184549" y="112342"/>
                  </a:lnTo>
                  <a:lnTo>
                    <a:pt x="215312" y="128687"/>
                  </a:lnTo>
                  <a:lnTo>
                    <a:pt x="227333" y="106227"/>
                  </a:lnTo>
                  <a:close/>
                </a:path>
                <a:path w="570230" h="408940" extrusionOk="0">
                  <a:moveTo>
                    <a:pt x="338345" y="0"/>
                  </a:moveTo>
                  <a:lnTo>
                    <a:pt x="295541" y="5872"/>
                  </a:lnTo>
                  <a:lnTo>
                    <a:pt x="257349" y="22469"/>
                  </a:lnTo>
                  <a:lnTo>
                    <a:pt x="225308" y="48260"/>
                  </a:lnTo>
                  <a:lnTo>
                    <a:pt x="200957" y="81714"/>
                  </a:lnTo>
                  <a:lnTo>
                    <a:pt x="244379" y="81714"/>
                  </a:lnTo>
                  <a:lnTo>
                    <a:pt x="251836" y="72099"/>
                  </a:lnTo>
                  <a:lnTo>
                    <a:pt x="277343" y="52855"/>
                  </a:lnTo>
                  <a:lnTo>
                    <a:pt x="306692" y="40889"/>
                  </a:lnTo>
                  <a:lnTo>
                    <a:pt x="338345" y="36773"/>
                  </a:lnTo>
                  <a:lnTo>
                    <a:pt x="439875" y="36773"/>
                  </a:lnTo>
                  <a:lnTo>
                    <a:pt x="420445" y="21864"/>
                  </a:lnTo>
                  <a:lnTo>
                    <a:pt x="381674" y="5712"/>
                  </a:lnTo>
                  <a:lnTo>
                    <a:pt x="338345" y="0"/>
                  </a:lnTo>
                  <a:close/>
                </a:path>
              </a:pathLst>
            </a:custGeom>
            <a:solidFill>
              <a:srgbClr val="7D7D7D"/>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2" name="Google Shape;862;p45"/>
            <p:cNvSpPr/>
            <p:nvPr/>
          </p:nvSpPr>
          <p:spPr>
            <a:xfrm>
              <a:off x="2739927" y="9068425"/>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3" name="Google Shape;863;p45"/>
            <p:cNvSpPr/>
            <p:nvPr/>
          </p:nvSpPr>
          <p:spPr>
            <a:xfrm>
              <a:off x="2721582" y="8859238"/>
              <a:ext cx="391160" cy="483234"/>
            </a:xfrm>
            <a:custGeom>
              <a:avLst/>
              <a:gdLst/>
              <a:ahLst/>
              <a:cxnLst/>
              <a:rect l="l" t="t" r="r" b="b"/>
              <a:pathLst>
                <a:path w="391160" h="483234" extrusionOk="0">
                  <a:moveTo>
                    <a:pt x="390647" y="186172"/>
                  </a:moveTo>
                  <a:lnTo>
                    <a:pt x="0" y="186172"/>
                  </a:lnTo>
                  <a:lnTo>
                    <a:pt x="0" y="482969"/>
                  </a:lnTo>
                  <a:lnTo>
                    <a:pt x="390647" y="482969"/>
                  </a:lnTo>
                  <a:lnTo>
                    <a:pt x="390647" y="456300"/>
                  </a:lnTo>
                  <a:lnTo>
                    <a:pt x="26522" y="456300"/>
                  </a:lnTo>
                  <a:lnTo>
                    <a:pt x="26522" y="209187"/>
                  </a:lnTo>
                  <a:lnTo>
                    <a:pt x="390647" y="209187"/>
                  </a:lnTo>
                  <a:lnTo>
                    <a:pt x="390647" y="186172"/>
                  </a:lnTo>
                  <a:close/>
                </a:path>
                <a:path w="391160" h="483234" extrusionOk="0">
                  <a:moveTo>
                    <a:pt x="390647" y="209187"/>
                  </a:moveTo>
                  <a:lnTo>
                    <a:pt x="364114" y="209187"/>
                  </a:lnTo>
                  <a:lnTo>
                    <a:pt x="364114" y="456300"/>
                  </a:lnTo>
                  <a:lnTo>
                    <a:pt x="390647" y="456300"/>
                  </a:lnTo>
                  <a:lnTo>
                    <a:pt x="390647" y="209187"/>
                  </a:lnTo>
                  <a:close/>
                </a:path>
                <a:path w="391160" h="483234" extrusionOk="0">
                  <a:moveTo>
                    <a:pt x="193491" y="0"/>
                  </a:moveTo>
                  <a:lnTo>
                    <a:pt x="150815" y="8950"/>
                  </a:lnTo>
                  <a:lnTo>
                    <a:pt x="115927" y="33344"/>
                  </a:lnTo>
                  <a:lnTo>
                    <a:pt x="92384" y="69494"/>
                  </a:lnTo>
                  <a:lnTo>
                    <a:pt x="83746" y="113713"/>
                  </a:lnTo>
                  <a:lnTo>
                    <a:pt x="83746" y="186172"/>
                  </a:lnTo>
                  <a:lnTo>
                    <a:pt x="106635" y="186172"/>
                  </a:lnTo>
                  <a:lnTo>
                    <a:pt x="106635" y="113713"/>
                  </a:lnTo>
                  <a:lnTo>
                    <a:pt x="113471" y="79863"/>
                  </a:lnTo>
                  <a:lnTo>
                    <a:pt x="132103" y="52192"/>
                  </a:lnTo>
                  <a:lnTo>
                    <a:pt x="159715" y="33520"/>
                  </a:lnTo>
                  <a:lnTo>
                    <a:pt x="193491" y="26669"/>
                  </a:lnTo>
                  <a:lnTo>
                    <a:pt x="262887" y="26669"/>
                  </a:lnTo>
                  <a:lnTo>
                    <a:pt x="237150" y="9100"/>
                  </a:lnTo>
                  <a:lnTo>
                    <a:pt x="193491" y="0"/>
                  </a:lnTo>
                  <a:close/>
                </a:path>
                <a:path w="391160" h="483234" extrusionOk="0">
                  <a:moveTo>
                    <a:pt x="262887" y="26669"/>
                  </a:moveTo>
                  <a:lnTo>
                    <a:pt x="193491" y="26669"/>
                  </a:lnTo>
                  <a:lnTo>
                    <a:pt x="227274" y="33520"/>
                  </a:lnTo>
                  <a:lnTo>
                    <a:pt x="254888" y="52192"/>
                  </a:lnTo>
                  <a:lnTo>
                    <a:pt x="273521" y="79863"/>
                  </a:lnTo>
                  <a:lnTo>
                    <a:pt x="280357" y="113713"/>
                  </a:lnTo>
                  <a:lnTo>
                    <a:pt x="280357" y="186172"/>
                  </a:lnTo>
                  <a:lnTo>
                    <a:pt x="306901" y="186172"/>
                  </a:lnTo>
                  <a:lnTo>
                    <a:pt x="306901" y="113713"/>
                  </a:lnTo>
                  <a:lnTo>
                    <a:pt x="297827" y="69945"/>
                  </a:lnTo>
                  <a:lnTo>
                    <a:pt x="273253" y="33745"/>
                  </a:lnTo>
                  <a:lnTo>
                    <a:pt x="262887" y="26669"/>
                  </a:lnTo>
                  <a:close/>
                </a:path>
              </a:pathLst>
            </a:custGeom>
            <a:solidFill>
              <a:srgbClr val="C8C8C8"/>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4" name="Google Shape;864;p45"/>
            <p:cNvSpPr/>
            <p:nvPr/>
          </p:nvSpPr>
          <p:spPr>
            <a:xfrm>
              <a:off x="7392965" y="9216087"/>
              <a:ext cx="405129" cy="351154"/>
            </a:xfrm>
            <a:custGeom>
              <a:avLst/>
              <a:gdLst/>
              <a:ahLst/>
              <a:cxnLst/>
              <a:rect l="l" t="t" r="r" b="b"/>
              <a:pathLst>
                <a:path w="405129" h="351154" extrusionOk="0">
                  <a:moveTo>
                    <a:pt x="303791" y="0"/>
                  </a:moveTo>
                  <a:lnTo>
                    <a:pt x="101263" y="0"/>
                  </a:lnTo>
                  <a:lnTo>
                    <a:pt x="0" y="175397"/>
                  </a:lnTo>
                  <a:lnTo>
                    <a:pt x="101263" y="350785"/>
                  </a:lnTo>
                  <a:lnTo>
                    <a:pt x="303791" y="350785"/>
                  </a:lnTo>
                  <a:lnTo>
                    <a:pt x="405055" y="175397"/>
                  </a:lnTo>
                  <a:lnTo>
                    <a:pt x="303791" y="0"/>
                  </a:lnTo>
                  <a:close/>
                </a:path>
              </a:pathLst>
            </a:custGeom>
            <a:solidFill>
              <a:srgbClr val="DF3326"/>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5" name="Google Shape;865;p45"/>
            <p:cNvSpPr/>
            <p:nvPr/>
          </p:nvSpPr>
          <p:spPr>
            <a:xfrm>
              <a:off x="7392965" y="9216087"/>
              <a:ext cx="405129" cy="351154"/>
            </a:xfrm>
            <a:custGeom>
              <a:avLst/>
              <a:gdLst/>
              <a:ahLst/>
              <a:cxnLst/>
              <a:rect l="l" t="t" r="r" b="b"/>
              <a:pathLst>
                <a:path w="405129" h="351154" extrusionOk="0">
                  <a:moveTo>
                    <a:pt x="101263" y="350785"/>
                  </a:moveTo>
                  <a:lnTo>
                    <a:pt x="0" y="175397"/>
                  </a:lnTo>
                  <a:lnTo>
                    <a:pt x="101263" y="0"/>
                  </a:lnTo>
                  <a:lnTo>
                    <a:pt x="303791" y="0"/>
                  </a:lnTo>
                  <a:lnTo>
                    <a:pt x="405055" y="175397"/>
                  </a:lnTo>
                  <a:lnTo>
                    <a:pt x="303791" y="350785"/>
                  </a:lnTo>
                  <a:lnTo>
                    <a:pt x="101263" y="350785"/>
                  </a:lnTo>
                  <a:close/>
                </a:path>
              </a:pathLst>
            </a:custGeom>
            <a:noFill/>
            <a:ln w="2627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6" name="Google Shape;866;p45"/>
            <p:cNvSpPr/>
            <p:nvPr/>
          </p:nvSpPr>
          <p:spPr>
            <a:xfrm>
              <a:off x="5329680" y="7910753"/>
              <a:ext cx="1529079" cy="0"/>
            </a:xfrm>
            <a:custGeom>
              <a:avLst/>
              <a:gdLst/>
              <a:ahLst/>
              <a:cxnLst/>
              <a:rect l="l" t="t" r="r" b="b"/>
              <a:pathLst>
                <a:path w="1529079" h="120000" extrusionOk="0">
                  <a:moveTo>
                    <a:pt x="1528749" y="0"/>
                  </a:moveTo>
                  <a:lnTo>
                    <a:pt x="0" y="0"/>
                  </a:lnTo>
                </a:path>
              </a:pathLst>
            </a:custGeom>
            <a:noFill/>
            <a:ln w="350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7" name="Google Shape;867;p45"/>
            <p:cNvSpPr/>
            <p:nvPr/>
          </p:nvSpPr>
          <p:spPr>
            <a:xfrm>
              <a:off x="6056750" y="7806582"/>
              <a:ext cx="243000" cy="210600"/>
            </a:xfrm>
            <a:prstGeom prst="rect">
              <a:avLst/>
            </a:prstGeom>
            <a:blipFill rotWithShape="1">
              <a:blip r:embed="rId4">
                <a:alphaModFix/>
              </a:blip>
              <a:stretch>
                <a:fillRect/>
              </a:stretch>
            </a:blip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sp>
          <p:nvSpPr>
            <p:cNvPr id="868" name="Google Shape;868;p45"/>
            <p:cNvSpPr/>
            <p:nvPr/>
          </p:nvSpPr>
          <p:spPr>
            <a:xfrm>
              <a:off x="0" y="0"/>
              <a:ext cx="20104100" cy="11308715"/>
            </a:xfrm>
            <a:custGeom>
              <a:avLst/>
              <a:gdLst/>
              <a:ahLst/>
              <a:cxnLst/>
              <a:rect l="l" t="t" r="r" b="b"/>
              <a:pathLst>
                <a:path w="20104100" h="11308715" extrusionOk="0">
                  <a:moveTo>
                    <a:pt x="0" y="0"/>
                  </a:moveTo>
                  <a:lnTo>
                    <a:pt x="20104099" y="0"/>
                  </a:lnTo>
                  <a:lnTo>
                    <a:pt x="20104099" y="11308556"/>
                  </a:lnTo>
                  <a:lnTo>
                    <a:pt x="0" y="11308556"/>
                  </a:lnTo>
                  <a:lnTo>
                    <a:pt x="0" y="0"/>
                  </a:lnTo>
                  <a:close/>
                </a:path>
              </a:pathLst>
            </a:custGeom>
            <a:solidFill>
              <a:schemeClr val="bg2">
                <a:alpha val="40780"/>
              </a:schemeClr>
            </a:solidFill>
            <a:ln>
              <a:solidFill>
                <a:schemeClr val="accent1"/>
              </a:solidFill>
            </a:ln>
          </p:spPr>
          <p:txBody>
            <a:bodyPr spcFirstLastPara="1" wrap="square" lIns="0" tIns="0" rIns="0" bIns="0" anchor="t" anchorCtr="0">
              <a:noAutofit/>
            </a:bodyPr>
            <a:lstStyle/>
            <a:p>
              <a:pPr marL="0" marR="0" lvl="0" indent="0" algn="l" rtl="0">
                <a:spcBef>
                  <a:spcPts val="0"/>
                </a:spcBef>
                <a:spcAft>
                  <a:spcPts val="0"/>
                </a:spcAft>
                <a:buNone/>
              </a:pPr>
              <a:endParaRPr sz="2300">
                <a:solidFill>
                  <a:schemeClr val="dk1"/>
                </a:solidFill>
                <a:latin typeface="Calibri"/>
                <a:ea typeface="Calibri"/>
                <a:cs typeface="Calibri"/>
                <a:sym typeface="Calibri"/>
              </a:endParaRPr>
            </a:p>
          </p:txBody>
        </p:sp>
      </p:grpSp>
      <p:sp>
        <p:nvSpPr>
          <p:cNvPr id="869" name="Google Shape;869;p45"/>
          <p:cNvSpPr txBox="1"/>
          <p:nvPr/>
        </p:nvSpPr>
        <p:spPr>
          <a:xfrm>
            <a:off x="4092240" y="3488000"/>
            <a:ext cx="16172959" cy="1754400"/>
          </a:xfrm>
          <a:prstGeom prst="rect">
            <a:avLst/>
          </a:prstGeom>
          <a:solidFill>
            <a:schemeClr val="accent6">
              <a:lumMod val="75000"/>
            </a:schemeClr>
          </a:solidFill>
          <a:ln>
            <a:noFill/>
          </a:ln>
        </p:spPr>
        <p:txBody>
          <a:bodyPr spcFirstLastPara="1" wrap="square" lIns="548625" tIns="137150" rIns="548625" bIns="228600" anchor="ctr" anchorCtr="0">
            <a:noAutofit/>
          </a:bodyPr>
          <a:lstStyle/>
          <a:p>
            <a:pPr marL="0" marR="0" lvl="0" indent="0" algn="r" rtl="0">
              <a:spcBef>
                <a:spcPts val="0"/>
              </a:spcBef>
              <a:spcAft>
                <a:spcPts val="0"/>
              </a:spcAft>
              <a:buNone/>
            </a:pPr>
            <a:r>
              <a:rPr lang="en-US" sz="9000" dirty="0">
                <a:solidFill>
                  <a:srgbClr val="FFFFFF"/>
                </a:solidFill>
                <a:latin typeface="Georgia"/>
                <a:ea typeface="Georgia"/>
                <a:cs typeface="Georgia"/>
                <a:sym typeface="Georgia"/>
              </a:rPr>
              <a:t>Information Security Strategy</a:t>
            </a:r>
            <a:endParaRPr sz="9000" dirty="0">
              <a:solidFill>
                <a:srgbClr val="FFFFFF"/>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550843" y="2523544"/>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effectLst>
                  <a:outerShdw blurRad="38100" dist="38100" dir="2700000" algn="tl">
                    <a:srgbClr val="000000">
                      <a:alpha val="43137"/>
                    </a:srgbClr>
                  </a:outerShdw>
                </a:effectLst>
              </a:rPr>
              <a:t>Foreword</a:t>
            </a:r>
            <a:br>
              <a:rPr lang="en-US" sz="3750" dirty="0"/>
            </a:br>
            <a:br>
              <a:rPr lang="en-US" sz="3750" dirty="0"/>
            </a:b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72" name="Google Shape;2795;p183">
            <a:extLst>
              <a:ext uri="{FF2B5EF4-FFF2-40B4-BE49-F238E27FC236}">
                <a16:creationId xmlns:a16="http://schemas.microsoft.com/office/drawing/2014/main" id="{B2A4965D-4870-44DA-9ED1-DD9DA9C3EA9F}"/>
              </a:ext>
            </a:extLst>
          </p:cNvPr>
          <p:cNvGrpSpPr/>
          <p:nvPr/>
        </p:nvGrpSpPr>
        <p:grpSpPr>
          <a:xfrm>
            <a:off x="987309" y="3574861"/>
            <a:ext cx="17465040" cy="1828800"/>
            <a:chOff x="528183" y="2404385"/>
            <a:chExt cx="7159360" cy="809073"/>
          </a:xfrm>
        </p:grpSpPr>
        <p:sp>
          <p:nvSpPr>
            <p:cNvPr id="73" name="Google Shape;2796;p183">
              <a:extLst>
                <a:ext uri="{FF2B5EF4-FFF2-40B4-BE49-F238E27FC236}">
                  <a16:creationId xmlns:a16="http://schemas.microsoft.com/office/drawing/2014/main" id="{9F07649F-38B1-4C5E-B139-2EEB1B2B54BB}"/>
                </a:ext>
              </a:extLst>
            </p:cNvPr>
            <p:cNvSpPr/>
            <p:nvPr/>
          </p:nvSpPr>
          <p:spPr>
            <a:xfrm>
              <a:off x="528638" y="2404673"/>
              <a:ext cx="7158900" cy="320100"/>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US" sz="2400" b="1" i="0" u="none" strike="noStrike" cap="none" dirty="0">
                  <a:solidFill>
                    <a:schemeClr val="tx1"/>
                  </a:solidFill>
                  <a:latin typeface="Arial"/>
                  <a:ea typeface="Arial"/>
                  <a:cs typeface="Arial"/>
                  <a:sym typeface="Arial"/>
                </a:rPr>
                <a:t>Chief Information Security Officer Message </a:t>
              </a:r>
              <a:endParaRPr lang="en-GB" sz="2400" b="1" i="0" u="none" strike="noStrike" cap="none" dirty="0">
                <a:solidFill>
                  <a:schemeClr val="tx1"/>
                </a:solidFill>
                <a:latin typeface="Arial"/>
                <a:ea typeface="Arial"/>
                <a:cs typeface="Arial"/>
                <a:sym typeface="Arial"/>
              </a:endParaRPr>
            </a:p>
          </p:txBody>
        </p:sp>
        <p:sp>
          <p:nvSpPr>
            <p:cNvPr id="74" name="Google Shape;2797;p183">
              <a:extLst>
                <a:ext uri="{FF2B5EF4-FFF2-40B4-BE49-F238E27FC236}">
                  <a16:creationId xmlns:a16="http://schemas.microsoft.com/office/drawing/2014/main" id="{654E65AF-B7FE-416D-A0ED-8FF41EBE20AE}"/>
                </a:ext>
              </a:extLst>
            </p:cNvPr>
            <p:cNvSpPr/>
            <p:nvPr/>
          </p:nvSpPr>
          <p:spPr>
            <a:xfrm>
              <a:off x="528643" y="2734058"/>
              <a:ext cx="7158900" cy="479400"/>
            </a:xfrm>
            <a:prstGeom prst="rect">
              <a:avLst/>
            </a:prstGeom>
            <a:noFill/>
            <a:ln>
              <a:noFill/>
            </a:ln>
          </p:spPr>
          <p:txBody>
            <a:bodyPr spcFirstLastPara="1" wrap="square" lIns="0" tIns="45700" rIns="91425" bIns="45700" anchor="t" anchorCtr="0">
              <a:noAutofit/>
            </a:bodyPr>
            <a:lstStyle/>
            <a:p>
              <a:pPr marR="0" lvl="0" algn="l" rtl="0">
                <a:spcBef>
                  <a:spcPts val="600"/>
                </a:spcBef>
                <a:spcAft>
                  <a:spcPts val="600"/>
                </a:spcAft>
                <a:buClr>
                  <a:schemeClr val="accent6">
                    <a:lumMod val="75000"/>
                  </a:schemeClr>
                </a:buClr>
              </a:pPr>
              <a:r>
                <a:rPr lang="en-US" sz="2400" dirty="0"/>
                <a:t>Allied Bank Limited (ABL) is committed to maintaining and continually improving information security to meet our responsibilities to our customers and regulators to reduce exposure to operational loss, reputational damage or legal sanction. Our Information Security Strategy outlines the Bank’s approach to cyber security for reducing risks and promoting resilience.</a:t>
              </a:r>
            </a:p>
            <a:p>
              <a:pPr marR="0" lvl="0" algn="l" rtl="0">
                <a:spcBef>
                  <a:spcPts val="600"/>
                </a:spcBef>
                <a:spcAft>
                  <a:spcPts val="600"/>
                </a:spcAft>
                <a:buClr>
                  <a:schemeClr val="accent6">
                    <a:lumMod val="75000"/>
                  </a:schemeClr>
                </a:buClr>
              </a:pPr>
              <a:br>
                <a:rPr lang="en-US" sz="2400" dirty="0"/>
              </a:br>
              <a:r>
                <a:rPr lang="en-US" sz="2400" dirty="0"/>
                <a:t>While it is important to prevent cyber attacks where possible, we must be prepared to respond and recover quickly if a breach does occur. We are investing in system-wide defenses to ensure the Bank’s operations are secure.</a:t>
              </a:r>
            </a:p>
            <a:p>
              <a:pPr marR="0" lvl="0" algn="l" rtl="0">
                <a:spcBef>
                  <a:spcPts val="600"/>
                </a:spcBef>
                <a:spcAft>
                  <a:spcPts val="600"/>
                </a:spcAft>
                <a:buClr>
                  <a:schemeClr val="accent6">
                    <a:lumMod val="75000"/>
                  </a:schemeClr>
                </a:buClr>
              </a:pPr>
              <a:r>
                <a:rPr lang="en-US" sz="2400" dirty="0"/>
                <a:t>We are committed to ensuring:</a:t>
              </a:r>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400" dirty="0"/>
                <a:t>The confidentiality of customers and corporate client's information.</a:t>
              </a:r>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400" dirty="0"/>
                <a:t>The integrity and availability of our information.</a:t>
              </a:r>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400" dirty="0"/>
                <a:t>That regulatory and legal requirements are met.</a:t>
              </a:r>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400" dirty="0"/>
                <a:t>That information / cyber security and risk awareness training is provided to all staff.</a:t>
              </a:r>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400" dirty="0"/>
                <a:t>That breaches of information security, actual or suspected are reported to and investigated by ABL.</a:t>
              </a:r>
            </a:p>
            <a:p>
              <a:pPr marL="285750" marR="0" lvl="0" indent="-285750" algn="l" rtl="0">
                <a:spcBef>
                  <a:spcPts val="0"/>
                </a:spcBef>
                <a:spcAft>
                  <a:spcPts val="0"/>
                </a:spcAft>
                <a:buFont typeface="Arial" panose="020B0604020202020204" pitchFamily="34" charset="0"/>
                <a:buChar char="•"/>
              </a:pPr>
              <a:endParaRPr lang="en-US" sz="1800" dirty="0"/>
            </a:p>
          </p:txBody>
        </p:sp>
        <p:sp>
          <p:nvSpPr>
            <p:cNvPr id="75" name="Google Shape;2798;p183">
              <a:extLst>
                <a:ext uri="{FF2B5EF4-FFF2-40B4-BE49-F238E27FC236}">
                  <a16:creationId xmlns:a16="http://schemas.microsoft.com/office/drawing/2014/main" id="{A7F1727A-A01B-4B64-9833-09AEEA5428BF}"/>
                </a:ext>
              </a:extLst>
            </p:cNvPr>
            <p:cNvSpPr/>
            <p:nvPr/>
          </p:nvSpPr>
          <p:spPr>
            <a:xfrm>
              <a:off x="528183" y="2404385"/>
              <a:ext cx="558525" cy="320100"/>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2799;p183">
              <a:extLst>
                <a:ext uri="{FF2B5EF4-FFF2-40B4-BE49-F238E27FC236}">
                  <a16:creationId xmlns:a16="http://schemas.microsoft.com/office/drawing/2014/main" id="{59E6391A-2A8D-447E-9DA1-B54ABE49A156}"/>
                </a:ext>
              </a:extLst>
            </p:cNvPr>
            <p:cNvSpPr/>
            <p:nvPr/>
          </p:nvSpPr>
          <p:spPr>
            <a:xfrm>
              <a:off x="627824" y="2443734"/>
              <a:ext cx="234997" cy="234990"/>
            </a:xfrm>
            <a:custGeom>
              <a:avLst/>
              <a:gdLst/>
              <a:ahLst/>
              <a:cxnLst/>
              <a:rect l="l" t="t" r="r" b="b"/>
              <a:pathLst>
                <a:path w="5191" h="5190" extrusionOk="0">
                  <a:moveTo>
                    <a:pt x="2595" y="0"/>
                  </a:moveTo>
                  <a:cubicBezTo>
                    <a:pt x="1168" y="0"/>
                    <a:pt x="0" y="1168"/>
                    <a:pt x="0" y="2595"/>
                  </a:cubicBezTo>
                  <a:cubicBezTo>
                    <a:pt x="0" y="4022"/>
                    <a:pt x="1168" y="5190"/>
                    <a:pt x="2595" y="5190"/>
                  </a:cubicBezTo>
                  <a:cubicBezTo>
                    <a:pt x="4023" y="5190"/>
                    <a:pt x="5191" y="4022"/>
                    <a:pt x="5191" y="2595"/>
                  </a:cubicBezTo>
                  <a:cubicBezTo>
                    <a:pt x="5191" y="1168"/>
                    <a:pt x="4023" y="0"/>
                    <a:pt x="2595" y="0"/>
                  </a:cubicBezTo>
                  <a:close/>
                  <a:moveTo>
                    <a:pt x="4386" y="1561"/>
                  </a:moveTo>
                  <a:cubicBezTo>
                    <a:pt x="3652" y="1561"/>
                    <a:pt x="3652" y="1561"/>
                    <a:pt x="3652" y="1561"/>
                  </a:cubicBezTo>
                  <a:cubicBezTo>
                    <a:pt x="3648" y="1541"/>
                    <a:pt x="3643" y="1527"/>
                    <a:pt x="3639" y="1510"/>
                  </a:cubicBezTo>
                  <a:cubicBezTo>
                    <a:pt x="3557" y="1222"/>
                    <a:pt x="3444" y="931"/>
                    <a:pt x="3303" y="646"/>
                  </a:cubicBezTo>
                  <a:cubicBezTo>
                    <a:pt x="3301" y="642"/>
                    <a:pt x="3299" y="640"/>
                    <a:pt x="3297" y="636"/>
                  </a:cubicBezTo>
                  <a:cubicBezTo>
                    <a:pt x="3753" y="819"/>
                    <a:pt x="4157" y="1125"/>
                    <a:pt x="4386" y="1561"/>
                  </a:cubicBezTo>
                  <a:close/>
                  <a:moveTo>
                    <a:pt x="1988" y="3117"/>
                  </a:moveTo>
                  <a:cubicBezTo>
                    <a:pt x="1961" y="2945"/>
                    <a:pt x="1947" y="2779"/>
                    <a:pt x="1947" y="2615"/>
                  </a:cubicBezTo>
                  <a:cubicBezTo>
                    <a:pt x="1947" y="2440"/>
                    <a:pt x="1963" y="2261"/>
                    <a:pt x="1994" y="2077"/>
                  </a:cubicBezTo>
                  <a:cubicBezTo>
                    <a:pt x="3204" y="2077"/>
                    <a:pt x="3204" y="2077"/>
                    <a:pt x="3204" y="2077"/>
                  </a:cubicBezTo>
                  <a:cubicBezTo>
                    <a:pt x="3232" y="2249"/>
                    <a:pt x="3246" y="2420"/>
                    <a:pt x="3246" y="2586"/>
                  </a:cubicBezTo>
                  <a:cubicBezTo>
                    <a:pt x="3246" y="2759"/>
                    <a:pt x="3231" y="2937"/>
                    <a:pt x="3201" y="3117"/>
                  </a:cubicBezTo>
                  <a:lnTo>
                    <a:pt x="1988" y="3117"/>
                  </a:lnTo>
                  <a:close/>
                  <a:moveTo>
                    <a:pt x="2821" y="910"/>
                  </a:moveTo>
                  <a:cubicBezTo>
                    <a:pt x="2927" y="1125"/>
                    <a:pt x="3014" y="1341"/>
                    <a:pt x="3081" y="1561"/>
                  </a:cubicBezTo>
                  <a:cubicBezTo>
                    <a:pt x="2121" y="1561"/>
                    <a:pt x="2121" y="1561"/>
                    <a:pt x="2121" y="1561"/>
                  </a:cubicBezTo>
                  <a:cubicBezTo>
                    <a:pt x="2187" y="1353"/>
                    <a:pt x="2272" y="1145"/>
                    <a:pt x="2373" y="940"/>
                  </a:cubicBezTo>
                  <a:cubicBezTo>
                    <a:pt x="2452" y="780"/>
                    <a:pt x="2532" y="640"/>
                    <a:pt x="2601" y="528"/>
                  </a:cubicBezTo>
                  <a:cubicBezTo>
                    <a:pt x="2622" y="560"/>
                    <a:pt x="2645" y="593"/>
                    <a:pt x="2668" y="625"/>
                  </a:cubicBezTo>
                  <a:cubicBezTo>
                    <a:pt x="2717" y="709"/>
                    <a:pt x="2769" y="805"/>
                    <a:pt x="2821" y="910"/>
                  </a:cubicBezTo>
                  <a:close/>
                  <a:moveTo>
                    <a:pt x="2373" y="4291"/>
                  </a:moveTo>
                  <a:cubicBezTo>
                    <a:pt x="2266" y="4074"/>
                    <a:pt x="2178" y="3853"/>
                    <a:pt x="2110" y="3637"/>
                  </a:cubicBezTo>
                  <a:cubicBezTo>
                    <a:pt x="3074" y="3637"/>
                    <a:pt x="3074" y="3637"/>
                    <a:pt x="3074" y="3637"/>
                  </a:cubicBezTo>
                  <a:cubicBezTo>
                    <a:pt x="3008" y="3845"/>
                    <a:pt x="2923" y="4053"/>
                    <a:pt x="2821" y="4261"/>
                  </a:cubicBezTo>
                  <a:cubicBezTo>
                    <a:pt x="2742" y="4421"/>
                    <a:pt x="2663" y="4559"/>
                    <a:pt x="2594" y="4670"/>
                  </a:cubicBezTo>
                  <a:cubicBezTo>
                    <a:pt x="2566" y="4628"/>
                    <a:pt x="2537" y="4587"/>
                    <a:pt x="2508" y="4544"/>
                  </a:cubicBezTo>
                  <a:cubicBezTo>
                    <a:pt x="2464" y="4467"/>
                    <a:pt x="2418" y="4383"/>
                    <a:pt x="2373" y="4291"/>
                  </a:cubicBezTo>
                  <a:close/>
                  <a:moveTo>
                    <a:pt x="1916" y="626"/>
                  </a:moveTo>
                  <a:cubicBezTo>
                    <a:pt x="1908" y="643"/>
                    <a:pt x="1899" y="659"/>
                    <a:pt x="1891" y="676"/>
                  </a:cubicBezTo>
                  <a:cubicBezTo>
                    <a:pt x="1749" y="961"/>
                    <a:pt x="1636" y="1253"/>
                    <a:pt x="1555" y="1541"/>
                  </a:cubicBezTo>
                  <a:cubicBezTo>
                    <a:pt x="1553" y="1547"/>
                    <a:pt x="1552" y="1553"/>
                    <a:pt x="1550" y="1561"/>
                  </a:cubicBezTo>
                  <a:cubicBezTo>
                    <a:pt x="805" y="1561"/>
                    <a:pt x="805" y="1561"/>
                    <a:pt x="805" y="1561"/>
                  </a:cubicBezTo>
                  <a:cubicBezTo>
                    <a:pt x="1063" y="1121"/>
                    <a:pt x="1451" y="808"/>
                    <a:pt x="1916" y="626"/>
                  </a:cubicBezTo>
                  <a:close/>
                  <a:moveTo>
                    <a:pt x="597" y="3117"/>
                  </a:moveTo>
                  <a:cubicBezTo>
                    <a:pt x="545" y="2961"/>
                    <a:pt x="519" y="2779"/>
                    <a:pt x="519" y="2597"/>
                  </a:cubicBezTo>
                  <a:cubicBezTo>
                    <a:pt x="519" y="2415"/>
                    <a:pt x="545" y="2233"/>
                    <a:pt x="597" y="2077"/>
                  </a:cubicBezTo>
                  <a:cubicBezTo>
                    <a:pt x="1440" y="2077"/>
                    <a:pt x="1440" y="2077"/>
                    <a:pt x="1440" y="2077"/>
                  </a:cubicBezTo>
                  <a:cubicBezTo>
                    <a:pt x="1414" y="2261"/>
                    <a:pt x="1400" y="2439"/>
                    <a:pt x="1400" y="2616"/>
                  </a:cubicBezTo>
                  <a:cubicBezTo>
                    <a:pt x="1400" y="2780"/>
                    <a:pt x="1412" y="2949"/>
                    <a:pt x="1435" y="3117"/>
                  </a:cubicBezTo>
                  <a:lnTo>
                    <a:pt x="597" y="3117"/>
                  </a:lnTo>
                  <a:close/>
                  <a:moveTo>
                    <a:pt x="805" y="3637"/>
                  </a:moveTo>
                  <a:cubicBezTo>
                    <a:pt x="1540" y="3637"/>
                    <a:pt x="1540" y="3637"/>
                    <a:pt x="1540" y="3637"/>
                  </a:cubicBezTo>
                  <a:cubicBezTo>
                    <a:pt x="1545" y="3653"/>
                    <a:pt x="1550" y="3672"/>
                    <a:pt x="1555" y="3691"/>
                  </a:cubicBezTo>
                  <a:cubicBezTo>
                    <a:pt x="1636" y="3979"/>
                    <a:pt x="1749" y="4268"/>
                    <a:pt x="1891" y="4554"/>
                  </a:cubicBezTo>
                  <a:cubicBezTo>
                    <a:pt x="1892" y="4555"/>
                    <a:pt x="1892" y="4557"/>
                    <a:pt x="1893" y="4559"/>
                  </a:cubicBezTo>
                  <a:cubicBezTo>
                    <a:pt x="1437" y="4376"/>
                    <a:pt x="1034" y="4069"/>
                    <a:pt x="805" y="3637"/>
                  </a:cubicBezTo>
                  <a:close/>
                  <a:moveTo>
                    <a:pt x="3283" y="4564"/>
                  </a:moveTo>
                  <a:cubicBezTo>
                    <a:pt x="3289" y="4551"/>
                    <a:pt x="3296" y="4537"/>
                    <a:pt x="3303" y="4523"/>
                  </a:cubicBezTo>
                  <a:cubicBezTo>
                    <a:pt x="3444" y="4238"/>
                    <a:pt x="3557" y="3950"/>
                    <a:pt x="3639" y="3661"/>
                  </a:cubicBezTo>
                  <a:cubicBezTo>
                    <a:pt x="3641" y="3653"/>
                    <a:pt x="3643" y="3645"/>
                    <a:pt x="3646" y="3637"/>
                  </a:cubicBezTo>
                  <a:cubicBezTo>
                    <a:pt x="4386" y="3637"/>
                    <a:pt x="4386" y="3637"/>
                    <a:pt x="4386" y="3637"/>
                  </a:cubicBezTo>
                  <a:cubicBezTo>
                    <a:pt x="4155" y="4073"/>
                    <a:pt x="3745" y="4382"/>
                    <a:pt x="3283" y="4564"/>
                  </a:cubicBezTo>
                  <a:close/>
                  <a:moveTo>
                    <a:pt x="3755" y="3117"/>
                  </a:moveTo>
                  <a:cubicBezTo>
                    <a:pt x="3780" y="2937"/>
                    <a:pt x="3793" y="2760"/>
                    <a:pt x="3793" y="2586"/>
                  </a:cubicBezTo>
                  <a:cubicBezTo>
                    <a:pt x="3793" y="2419"/>
                    <a:pt x="3781" y="2249"/>
                    <a:pt x="3758" y="2077"/>
                  </a:cubicBezTo>
                  <a:cubicBezTo>
                    <a:pt x="4620" y="2077"/>
                    <a:pt x="4620" y="2077"/>
                    <a:pt x="4620" y="2077"/>
                  </a:cubicBezTo>
                  <a:cubicBezTo>
                    <a:pt x="4672" y="2233"/>
                    <a:pt x="4698" y="2415"/>
                    <a:pt x="4698" y="2597"/>
                  </a:cubicBezTo>
                  <a:cubicBezTo>
                    <a:pt x="4698" y="2779"/>
                    <a:pt x="4672" y="2961"/>
                    <a:pt x="4620" y="3117"/>
                  </a:cubicBezTo>
                  <a:lnTo>
                    <a:pt x="3755" y="311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11528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550842" y="2760201"/>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effectLst>
                  <a:outerShdw blurRad="38100" dist="38100" dir="2700000" algn="tl">
                    <a:srgbClr val="000000">
                      <a:alpha val="43137"/>
                    </a:srgbClr>
                  </a:outerShdw>
                </a:effectLst>
              </a:rPr>
              <a:t>The Bank Cyber Security Vision and Mission.</a:t>
            </a:r>
            <a:br>
              <a:rPr lang="en-US" sz="3750" dirty="0"/>
            </a:br>
            <a:br>
              <a:rPr lang="en-US" sz="3750" dirty="0"/>
            </a:b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72" name="Google Shape;2795;p183">
            <a:extLst>
              <a:ext uri="{FF2B5EF4-FFF2-40B4-BE49-F238E27FC236}">
                <a16:creationId xmlns:a16="http://schemas.microsoft.com/office/drawing/2014/main" id="{B2A4965D-4870-44DA-9ED1-DD9DA9C3EA9F}"/>
              </a:ext>
            </a:extLst>
          </p:cNvPr>
          <p:cNvGrpSpPr/>
          <p:nvPr/>
        </p:nvGrpSpPr>
        <p:grpSpPr>
          <a:xfrm>
            <a:off x="987297" y="3574862"/>
            <a:ext cx="17465040" cy="2240259"/>
            <a:chOff x="528178" y="2404385"/>
            <a:chExt cx="7159360" cy="991105"/>
          </a:xfrm>
        </p:grpSpPr>
        <p:sp>
          <p:nvSpPr>
            <p:cNvPr id="73" name="Google Shape;2796;p183">
              <a:extLst>
                <a:ext uri="{FF2B5EF4-FFF2-40B4-BE49-F238E27FC236}">
                  <a16:creationId xmlns:a16="http://schemas.microsoft.com/office/drawing/2014/main" id="{9F07649F-38B1-4C5E-B139-2EEB1B2B54BB}"/>
                </a:ext>
              </a:extLst>
            </p:cNvPr>
            <p:cNvSpPr/>
            <p:nvPr/>
          </p:nvSpPr>
          <p:spPr>
            <a:xfrm>
              <a:off x="528638" y="2404673"/>
              <a:ext cx="7158900" cy="320100"/>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Vision</a:t>
              </a:r>
            </a:p>
          </p:txBody>
        </p:sp>
        <p:sp>
          <p:nvSpPr>
            <p:cNvPr id="74" name="Google Shape;2797;p183">
              <a:extLst>
                <a:ext uri="{FF2B5EF4-FFF2-40B4-BE49-F238E27FC236}">
                  <a16:creationId xmlns:a16="http://schemas.microsoft.com/office/drawing/2014/main" id="{654E65AF-B7FE-416D-A0ED-8FF41EBE20AE}"/>
                </a:ext>
              </a:extLst>
            </p:cNvPr>
            <p:cNvSpPr/>
            <p:nvPr/>
          </p:nvSpPr>
          <p:spPr>
            <a:xfrm>
              <a:off x="528178" y="2916090"/>
              <a:ext cx="7158900" cy="479400"/>
            </a:xfrm>
            <a:prstGeom prst="rect">
              <a:avLst/>
            </a:prstGeom>
            <a:noFill/>
            <a:ln>
              <a:noFill/>
            </a:ln>
          </p:spPr>
          <p:txBody>
            <a:bodyPr spcFirstLastPara="1" wrap="square" lIns="0" tIns="45700" rIns="91425" bIns="45700" anchor="t" anchorCtr="0">
              <a:noAutofit/>
            </a:bodyPr>
            <a:lstStyle/>
            <a:p>
              <a:pPr algn="ctr">
                <a:spcBef>
                  <a:spcPts val="400"/>
                </a:spcBef>
                <a:spcAft>
                  <a:spcPts val="1200"/>
                </a:spcAft>
              </a:pPr>
              <a:r>
                <a:rPr lang="en-US" sz="2400" dirty="0"/>
                <a:t>To Strengthen the Information Security resilience of Allied Bank’s financial systems against an evolving threat environment</a:t>
              </a:r>
            </a:p>
            <a:p>
              <a:pPr marL="285750" marR="0" lvl="0" indent="-285750" algn="l" rtl="0">
                <a:spcBef>
                  <a:spcPts val="0"/>
                </a:spcBef>
                <a:spcAft>
                  <a:spcPts val="0"/>
                </a:spcAft>
                <a:buFont typeface="Arial" panose="020B0604020202020204" pitchFamily="34" charset="0"/>
                <a:buChar char="•"/>
              </a:pPr>
              <a:endParaRPr lang="en-US" sz="1800" dirty="0"/>
            </a:p>
          </p:txBody>
        </p:sp>
        <p:sp>
          <p:nvSpPr>
            <p:cNvPr id="75" name="Google Shape;2798;p183">
              <a:extLst>
                <a:ext uri="{FF2B5EF4-FFF2-40B4-BE49-F238E27FC236}">
                  <a16:creationId xmlns:a16="http://schemas.microsoft.com/office/drawing/2014/main" id="{A7F1727A-A01B-4B64-9833-09AEEA5428BF}"/>
                </a:ext>
              </a:extLst>
            </p:cNvPr>
            <p:cNvSpPr/>
            <p:nvPr/>
          </p:nvSpPr>
          <p:spPr>
            <a:xfrm>
              <a:off x="528183" y="2404385"/>
              <a:ext cx="558525" cy="320100"/>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2799;p183">
              <a:extLst>
                <a:ext uri="{FF2B5EF4-FFF2-40B4-BE49-F238E27FC236}">
                  <a16:creationId xmlns:a16="http://schemas.microsoft.com/office/drawing/2014/main" id="{59E6391A-2A8D-447E-9DA1-B54ABE49A156}"/>
                </a:ext>
              </a:extLst>
            </p:cNvPr>
            <p:cNvSpPr/>
            <p:nvPr/>
          </p:nvSpPr>
          <p:spPr>
            <a:xfrm>
              <a:off x="627824" y="2443734"/>
              <a:ext cx="234997" cy="234990"/>
            </a:xfrm>
            <a:custGeom>
              <a:avLst/>
              <a:gdLst/>
              <a:ahLst/>
              <a:cxnLst/>
              <a:rect l="l" t="t" r="r" b="b"/>
              <a:pathLst>
                <a:path w="5191" h="5190" extrusionOk="0">
                  <a:moveTo>
                    <a:pt x="2595" y="0"/>
                  </a:moveTo>
                  <a:cubicBezTo>
                    <a:pt x="1168" y="0"/>
                    <a:pt x="0" y="1168"/>
                    <a:pt x="0" y="2595"/>
                  </a:cubicBezTo>
                  <a:cubicBezTo>
                    <a:pt x="0" y="4022"/>
                    <a:pt x="1168" y="5190"/>
                    <a:pt x="2595" y="5190"/>
                  </a:cubicBezTo>
                  <a:cubicBezTo>
                    <a:pt x="4023" y="5190"/>
                    <a:pt x="5191" y="4022"/>
                    <a:pt x="5191" y="2595"/>
                  </a:cubicBezTo>
                  <a:cubicBezTo>
                    <a:pt x="5191" y="1168"/>
                    <a:pt x="4023" y="0"/>
                    <a:pt x="2595" y="0"/>
                  </a:cubicBezTo>
                  <a:close/>
                  <a:moveTo>
                    <a:pt x="4386" y="1561"/>
                  </a:moveTo>
                  <a:cubicBezTo>
                    <a:pt x="3652" y="1561"/>
                    <a:pt x="3652" y="1561"/>
                    <a:pt x="3652" y="1561"/>
                  </a:cubicBezTo>
                  <a:cubicBezTo>
                    <a:pt x="3648" y="1541"/>
                    <a:pt x="3643" y="1527"/>
                    <a:pt x="3639" y="1510"/>
                  </a:cubicBezTo>
                  <a:cubicBezTo>
                    <a:pt x="3557" y="1222"/>
                    <a:pt x="3444" y="931"/>
                    <a:pt x="3303" y="646"/>
                  </a:cubicBezTo>
                  <a:cubicBezTo>
                    <a:pt x="3301" y="642"/>
                    <a:pt x="3299" y="640"/>
                    <a:pt x="3297" y="636"/>
                  </a:cubicBezTo>
                  <a:cubicBezTo>
                    <a:pt x="3753" y="819"/>
                    <a:pt x="4157" y="1125"/>
                    <a:pt x="4386" y="1561"/>
                  </a:cubicBezTo>
                  <a:close/>
                  <a:moveTo>
                    <a:pt x="1988" y="3117"/>
                  </a:moveTo>
                  <a:cubicBezTo>
                    <a:pt x="1961" y="2945"/>
                    <a:pt x="1947" y="2779"/>
                    <a:pt x="1947" y="2615"/>
                  </a:cubicBezTo>
                  <a:cubicBezTo>
                    <a:pt x="1947" y="2440"/>
                    <a:pt x="1963" y="2261"/>
                    <a:pt x="1994" y="2077"/>
                  </a:cubicBezTo>
                  <a:cubicBezTo>
                    <a:pt x="3204" y="2077"/>
                    <a:pt x="3204" y="2077"/>
                    <a:pt x="3204" y="2077"/>
                  </a:cubicBezTo>
                  <a:cubicBezTo>
                    <a:pt x="3232" y="2249"/>
                    <a:pt x="3246" y="2420"/>
                    <a:pt x="3246" y="2586"/>
                  </a:cubicBezTo>
                  <a:cubicBezTo>
                    <a:pt x="3246" y="2759"/>
                    <a:pt x="3231" y="2937"/>
                    <a:pt x="3201" y="3117"/>
                  </a:cubicBezTo>
                  <a:lnTo>
                    <a:pt x="1988" y="3117"/>
                  </a:lnTo>
                  <a:close/>
                  <a:moveTo>
                    <a:pt x="2821" y="910"/>
                  </a:moveTo>
                  <a:cubicBezTo>
                    <a:pt x="2927" y="1125"/>
                    <a:pt x="3014" y="1341"/>
                    <a:pt x="3081" y="1561"/>
                  </a:cubicBezTo>
                  <a:cubicBezTo>
                    <a:pt x="2121" y="1561"/>
                    <a:pt x="2121" y="1561"/>
                    <a:pt x="2121" y="1561"/>
                  </a:cubicBezTo>
                  <a:cubicBezTo>
                    <a:pt x="2187" y="1353"/>
                    <a:pt x="2272" y="1145"/>
                    <a:pt x="2373" y="940"/>
                  </a:cubicBezTo>
                  <a:cubicBezTo>
                    <a:pt x="2452" y="780"/>
                    <a:pt x="2532" y="640"/>
                    <a:pt x="2601" y="528"/>
                  </a:cubicBezTo>
                  <a:cubicBezTo>
                    <a:pt x="2622" y="560"/>
                    <a:pt x="2645" y="593"/>
                    <a:pt x="2668" y="625"/>
                  </a:cubicBezTo>
                  <a:cubicBezTo>
                    <a:pt x="2717" y="709"/>
                    <a:pt x="2769" y="805"/>
                    <a:pt x="2821" y="910"/>
                  </a:cubicBezTo>
                  <a:close/>
                  <a:moveTo>
                    <a:pt x="2373" y="4291"/>
                  </a:moveTo>
                  <a:cubicBezTo>
                    <a:pt x="2266" y="4074"/>
                    <a:pt x="2178" y="3853"/>
                    <a:pt x="2110" y="3637"/>
                  </a:cubicBezTo>
                  <a:cubicBezTo>
                    <a:pt x="3074" y="3637"/>
                    <a:pt x="3074" y="3637"/>
                    <a:pt x="3074" y="3637"/>
                  </a:cubicBezTo>
                  <a:cubicBezTo>
                    <a:pt x="3008" y="3845"/>
                    <a:pt x="2923" y="4053"/>
                    <a:pt x="2821" y="4261"/>
                  </a:cubicBezTo>
                  <a:cubicBezTo>
                    <a:pt x="2742" y="4421"/>
                    <a:pt x="2663" y="4559"/>
                    <a:pt x="2594" y="4670"/>
                  </a:cubicBezTo>
                  <a:cubicBezTo>
                    <a:pt x="2566" y="4628"/>
                    <a:pt x="2537" y="4587"/>
                    <a:pt x="2508" y="4544"/>
                  </a:cubicBezTo>
                  <a:cubicBezTo>
                    <a:pt x="2464" y="4467"/>
                    <a:pt x="2418" y="4383"/>
                    <a:pt x="2373" y="4291"/>
                  </a:cubicBezTo>
                  <a:close/>
                  <a:moveTo>
                    <a:pt x="1916" y="626"/>
                  </a:moveTo>
                  <a:cubicBezTo>
                    <a:pt x="1908" y="643"/>
                    <a:pt x="1899" y="659"/>
                    <a:pt x="1891" y="676"/>
                  </a:cubicBezTo>
                  <a:cubicBezTo>
                    <a:pt x="1749" y="961"/>
                    <a:pt x="1636" y="1253"/>
                    <a:pt x="1555" y="1541"/>
                  </a:cubicBezTo>
                  <a:cubicBezTo>
                    <a:pt x="1553" y="1547"/>
                    <a:pt x="1552" y="1553"/>
                    <a:pt x="1550" y="1561"/>
                  </a:cubicBezTo>
                  <a:cubicBezTo>
                    <a:pt x="805" y="1561"/>
                    <a:pt x="805" y="1561"/>
                    <a:pt x="805" y="1561"/>
                  </a:cubicBezTo>
                  <a:cubicBezTo>
                    <a:pt x="1063" y="1121"/>
                    <a:pt x="1451" y="808"/>
                    <a:pt x="1916" y="626"/>
                  </a:cubicBezTo>
                  <a:close/>
                  <a:moveTo>
                    <a:pt x="597" y="3117"/>
                  </a:moveTo>
                  <a:cubicBezTo>
                    <a:pt x="545" y="2961"/>
                    <a:pt x="519" y="2779"/>
                    <a:pt x="519" y="2597"/>
                  </a:cubicBezTo>
                  <a:cubicBezTo>
                    <a:pt x="519" y="2415"/>
                    <a:pt x="545" y="2233"/>
                    <a:pt x="597" y="2077"/>
                  </a:cubicBezTo>
                  <a:cubicBezTo>
                    <a:pt x="1440" y="2077"/>
                    <a:pt x="1440" y="2077"/>
                    <a:pt x="1440" y="2077"/>
                  </a:cubicBezTo>
                  <a:cubicBezTo>
                    <a:pt x="1414" y="2261"/>
                    <a:pt x="1400" y="2439"/>
                    <a:pt x="1400" y="2616"/>
                  </a:cubicBezTo>
                  <a:cubicBezTo>
                    <a:pt x="1400" y="2780"/>
                    <a:pt x="1412" y="2949"/>
                    <a:pt x="1435" y="3117"/>
                  </a:cubicBezTo>
                  <a:lnTo>
                    <a:pt x="597" y="3117"/>
                  </a:lnTo>
                  <a:close/>
                  <a:moveTo>
                    <a:pt x="805" y="3637"/>
                  </a:moveTo>
                  <a:cubicBezTo>
                    <a:pt x="1540" y="3637"/>
                    <a:pt x="1540" y="3637"/>
                    <a:pt x="1540" y="3637"/>
                  </a:cubicBezTo>
                  <a:cubicBezTo>
                    <a:pt x="1545" y="3653"/>
                    <a:pt x="1550" y="3672"/>
                    <a:pt x="1555" y="3691"/>
                  </a:cubicBezTo>
                  <a:cubicBezTo>
                    <a:pt x="1636" y="3979"/>
                    <a:pt x="1749" y="4268"/>
                    <a:pt x="1891" y="4554"/>
                  </a:cubicBezTo>
                  <a:cubicBezTo>
                    <a:pt x="1892" y="4555"/>
                    <a:pt x="1892" y="4557"/>
                    <a:pt x="1893" y="4559"/>
                  </a:cubicBezTo>
                  <a:cubicBezTo>
                    <a:pt x="1437" y="4376"/>
                    <a:pt x="1034" y="4069"/>
                    <a:pt x="805" y="3637"/>
                  </a:cubicBezTo>
                  <a:close/>
                  <a:moveTo>
                    <a:pt x="3283" y="4564"/>
                  </a:moveTo>
                  <a:cubicBezTo>
                    <a:pt x="3289" y="4551"/>
                    <a:pt x="3296" y="4537"/>
                    <a:pt x="3303" y="4523"/>
                  </a:cubicBezTo>
                  <a:cubicBezTo>
                    <a:pt x="3444" y="4238"/>
                    <a:pt x="3557" y="3950"/>
                    <a:pt x="3639" y="3661"/>
                  </a:cubicBezTo>
                  <a:cubicBezTo>
                    <a:pt x="3641" y="3653"/>
                    <a:pt x="3643" y="3645"/>
                    <a:pt x="3646" y="3637"/>
                  </a:cubicBezTo>
                  <a:cubicBezTo>
                    <a:pt x="4386" y="3637"/>
                    <a:pt x="4386" y="3637"/>
                    <a:pt x="4386" y="3637"/>
                  </a:cubicBezTo>
                  <a:cubicBezTo>
                    <a:pt x="4155" y="4073"/>
                    <a:pt x="3745" y="4382"/>
                    <a:pt x="3283" y="4564"/>
                  </a:cubicBezTo>
                  <a:close/>
                  <a:moveTo>
                    <a:pt x="3755" y="3117"/>
                  </a:moveTo>
                  <a:cubicBezTo>
                    <a:pt x="3780" y="2937"/>
                    <a:pt x="3793" y="2760"/>
                    <a:pt x="3793" y="2586"/>
                  </a:cubicBezTo>
                  <a:cubicBezTo>
                    <a:pt x="3793" y="2419"/>
                    <a:pt x="3781" y="2249"/>
                    <a:pt x="3758" y="2077"/>
                  </a:cubicBezTo>
                  <a:cubicBezTo>
                    <a:pt x="4620" y="2077"/>
                    <a:pt x="4620" y="2077"/>
                    <a:pt x="4620" y="2077"/>
                  </a:cubicBezTo>
                  <a:cubicBezTo>
                    <a:pt x="4672" y="2233"/>
                    <a:pt x="4698" y="2415"/>
                    <a:pt x="4698" y="2597"/>
                  </a:cubicBezTo>
                  <a:cubicBezTo>
                    <a:pt x="4698" y="2779"/>
                    <a:pt x="4672" y="2961"/>
                    <a:pt x="4620" y="3117"/>
                  </a:cubicBezTo>
                  <a:lnTo>
                    <a:pt x="3755" y="311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7" name="Google Shape;2795;p183">
            <a:extLst>
              <a:ext uri="{FF2B5EF4-FFF2-40B4-BE49-F238E27FC236}">
                <a16:creationId xmlns:a16="http://schemas.microsoft.com/office/drawing/2014/main" id="{B0F63D6F-1CE2-48F0-A90A-CD801F44012C}"/>
              </a:ext>
            </a:extLst>
          </p:cNvPr>
          <p:cNvGrpSpPr/>
          <p:nvPr/>
        </p:nvGrpSpPr>
        <p:grpSpPr>
          <a:xfrm>
            <a:off x="987297" y="6499244"/>
            <a:ext cx="17706091" cy="2322466"/>
            <a:chOff x="528183" y="2404385"/>
            <a:chExt cx="7258173" cy="1027474"/>
          </a:xfrm>
        </p:grpSpPr>
        <p:sp>
          <p:nvSpPr>
            <p:cNvPr id="78" name="Google Shape;2796;p183">
              <a:extLst>
                <a:ext uri="{FF2B5EF4-FFF2-40B4-BE49-F238E27FC236}">
                  <a16:creationId xmlns:a16="http://schemas.microsoft.com/office/drawing/2014/main" id="{CD292E03-C789-43F8-AA3C-E525896D3688}"/>
                </a:ext>
              </a:extLst>
            </p:cNvPr>
            <p:cNvSpPr/>
            <p:nvPr/>
          </p:nvSpPr>
          <p:spPr>
            <a:xfrm>
              <a:off x="528638" y="2404673"/>
              <a:ext cx="7158900" cy="320100"/>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Mission</a:t>
              </a:r>
            </a:p>
          </p:txBody>
        </p:sp>
        <p:sp>
          <p:nvSpPr>
            <p:cNvPr id="79" name="Google Shape;2797;p183">
              <a:extLst>
                <a:ext uri="{FF2B5EF4-FFF2-40B4-BE49-F238E27FC236}">
                  <a16:creationId xmlns:a16="http://schemas.microsoft.com/office/drawing/2014/main" id="{E8F3DC9A-9777-4E10-B170-6283E1A997C7}"/>
                </a:ext>
              </a:extLst>
            </p:cNvPr>
            <p:cNvSpPr/>
            <p:nvPr/>
          </p:nvSpPr>
          <p:spPr>
            <a:xfrm>
              <a:off x="528643" y="2952459"/>
              <a:ext cx="7257713" cy="479400"/>
            </a:xfrm>
            <a:prstGeom prst="rect">
              <a:avLst/>
            </a:prstGeom>
            <a:noFill/>
            <a:ln>
              <a:noFill/>
            </a:ln>
          </p:spPr>
          <p:txBody>
            <a:bodyPr spcFirstLastPara="1" wrap="square" lIns="0" tIns="45700" rIns="91425" bIns="45700" anchor="t" anchorCtr="0">
              <a:noAutofit/>
            </a:bodyPr>
            <a:lstStyle/>
            <a:p>
              <a:pPr algn="ctr">
                <a:spcBef>
                  <a:spcPts val="400"/>
                </a:spcBef>
                <a:spcAft>
                  <a:spcPts val="1200"/>
                </a:spcAft>
              </a:pPr>
              <a:r>
                <a:rPr lang="en-US" sz="2400" dirty="0"/>
                <a:t>To promote the efficiency and stability of Allied Bank’s financial System through robust Cyber Security capabilities, expertise, collaboration, information sharing and comprehensive oversight while nurturing an enhanced security culture. </a:t>
              </a:r>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lvl="0"/>
              <a:endParaRPr lang="en-US" sz="1800" dirty="0">
                <a:latin typeface="Arial" panose="020B0604020202020204" pitchFamily="34" charset="0"/>
                <a:cs typeface="Arial" panose="020B0604020202020204" pitchFamily="34" charset="0"/>
              </a:endParaRPr>
            </a:p>
            <a:p>
              <a:pPr lvl="0"/>
              <a:endParaRPr lang="en-PK" sz="1800" dirty="0">
                <a:latin typeface="Arial" panose="020B0604020202020204" pitchFamily="34" charset="0"/>
                <a:cs typeface="Arial" panose="020B0604020202020204" pitchFamily="34" charset="0"/>
              </a:endParaRPr>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endParaRPr lang="en-PK" sz="1800" dirty="0">
                <a:latin typeface="Arial" panose="020B0604020202020204" pitchFamily="34" charset="0"/>
                <a:cs typeface="Arial" panose="020B0604020202020204" pitchFamily="34" charset="0"/>
              </a:endParaRPr>
            </a:p>
            <a:p>
              <a:pPr marL="342900" marR="0" lvl="0" indent="-342900" algn="l" rtl="0">
                <a:spcBef>
                  <a:spcPts val="400"/>
                </a:spcBef>
                <a:spcAft>
                  <a:spcPts val="400"/>
                </a:spcAft>
                <a:buFont typeface="Wingdings" panose="05000000000000000000" pitchFamily="2" charset="2"/>
                <a:buChar char="§"/>
              </a:pPr>
              <a:endParaRPr lang="en-US" sz="1800" dirty="0"/>
            </a:p>
          </p:txBody>
        </p:sp>
        <p:sp>
          <p:nvSpPr>
            <p:cNvPr id="80" name="Google Shape;2798;p183">
              <a:extLst>
                <a:ext uri="{FF2B5EF4-FFF2-40B4-BE49-F238E27FC236}">
                  <a16:creationId xmlns:a16="http://schemas.microsoft.com/office/drawing/2014/main" id="{5BD3B4F0-0DAB-40F4-B558-F21B1DBC892C}"/>
                </a:ext>
              </a:extLst>
            </p:cNvPr>
            <p:cNvSpPr/>
            <p:nvPr/>
          </p:nvSpPr>
          <p:spPr>
            <a:xfrm>
              <a:off x="528183" y="2404385"/>
              <a:ext cx="558525" cy="320100"/>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2" name="Google Shape;2815;p183">
            <a:extLst>
              <a:ext uri="{FF2B5EF4-FFF2-40B4-BE49-F238E27FC236}">
                <a16:creationId xmlns:a16="http://schemas.microsoft.com/office/drawing/2014/main" id="{3072879F-3225-4995-9278-A41E009E05FE}"/>
              </a:ext>
            </a:extLst>
          </p:cNvPr>
          <p:cNvSpPr/>
          <p:nvPr/>
        </p:nvSpPr>
        <p:spPr>
          <a:xfrm>
            <a:off x="1310141" y="6569412"/>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2474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550843" y="2523544"/>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t>ABL Information Security Strategy</a:t>
            </a:r>
            <a:br>
              <a:rPr lang="en-US" sz="3750" dirty="0"/>
            </a:br>
            <a:br>
              <a:rPr lang="en-US" sz="3750" dirty="0"/>
            </a:b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67" name="Google Shape;2795;p183">
            <a:extLst>
              <a:ext uri="{FF2B5EF4-FFF2-40B4-BE49-F238E27FC236}">
                <a16:creationId xmlns:a16="http://schemas.microsoft.com/office/drawing/2014/main" id="{10A3991F-D348-4DF1-AA21-331CCA807FEA}"/>
              </a:ext>
            </a:extLst>
          </p:cNvPr>
          <p:cNvGrpSpPr/>
          <p:nvPr/>
        </p:nvGrpSpPr>
        <p:grpSpPr>
          <a:xfrm>
            <a:off x="979682" y="2934070"/>
            <a:ext cx="9406727" cy="4533862"/>
            <a:chOff x="522374" y="2120895"/>
            <a:chExt cx="7164709" cy="2005810"/>
          </a:xfrm>
        </p:grpSpPr>
        <p:sp>
          <p:nvSpPr>
            <p:cNvPr id="68" name="Google Shape;2796;p183">
              <a:extLst>
                <a:ext uri="{FF2B5EF4-FFF2-40B4-BE49-F238E27FC236}">
                  <a16:creationId xmlns:a16="http://schemas.microsoft.com/office/drawing/2014/main" id="{90B26181-707D-4197-82EC-A4D6E86270D1}"/>
                </a:ext>
              </a:extLst>
            </p:cNvPr>
            <p:cNvSpPr/>
            <p:nvPr/>
          </p:nvSpPr>
          <p:spPr>
            <a:xfrm>
              <a:off x="528183" y="2120895"/>
              <a:ext cx="7158900" cy="320100"/>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Overview</a:t>
              </a:r>
            </a:p>
          </p:txBody>
        </p:sp>
        <p:sp>
          <p:nvSpPr>
            <p:cNvPr id="69" name="Google Shape;2797;p183">
              <a:extLst>
                <a:ext uri="{FF2B5EF4-FFF2-40B4-BE49-F238E27FC236}">
                  <a16:creationId xmlns:a16="http://schemas.microsoft.com/office/drawing/2014/main" id="{65B12C7A-EF53-4BC7-9C01-05E3499B5200}"/>
                </a:ext>
              </a:extLst>
            </p:cNvPr>
            <p:cNvSpPr/>
            <p:nvPr/>
          </p:nvSpPr>
          <p:spPr>
            <a:xfrm>
              <a:off x="522374" y="2547574"/>
              <a:ext cx="7158900" cy="1579131"/>
            </a:xfrm>
            <a:prstGeom prst="rect">
              <a:avLst/>
            </a:prstGeom>
            <a:noFill/>
            <a:ln>
              <a:noFill/>
            </a:ln>
          </p:spPr>
          <p:txBody>
            <a:bodyPr spcFirstLastPara="1" wrap="square" lIns="0" tIns="45700" rIns="91425" bIns="45700" anchor="t" anchorCtr="0">
              <a:noAutofit/>
            </a:bodyPr>
            <a:lstStyle/>
            <a:p>
              <a:pPr algn="just">
                <a:lnSpc>
                  <a:spcPct val="150000"/>
                </a:lnSpc>
                <a:spcBef>
                  <a:spcPts val="400"/>
                </a:spcBef>
                <a:spcAft>
                  <a:spcPts val="1200"/>
                </a:spcAft>
              </a:pPr>
              <a:r>
                <a:rPr lang="en-US" sz="2400" dirty="0"/>
                <a:t>“Information Security Strategy is an effort to create a roadmap for steps needed to be taken in the next three (3) years to achieve the aforementioned vision and mission.</a:t>
              </a:r>
            </a:p>
            <a:p>
              <a:pPr algn="just">
                <a:lnSpc>
                  <a:spcPct val="150000"/>
                </a:lnSpc>
                <a:spcBef>
                  <a:spcPts val="400"/>
                </a:spcBef>
                <a:spcAft>
                  <a:spcPts val="1200"/>
                </a:spcAft>
              </a:pPr>
              <a:r>
                <a:rPr lang="en-US" sz="2400" dirty="0"/>
                <a:t>This information security strategy is a dynamic document which will be reviewed periodically for alignment with change in policies, technology, emergence of new threats and compliance with regulatory authorities, directives and policies”</a:t>
              </a:r>
            </a:p>
            <a:p>
              <a:pPr algn="just">
                <a:lnSpc>
                  <a:spcPct val="150000"/>
                </a:lnSpc>
                <a:spcBef>
                  <a:spcPts val="400"/>
                </a:spcBef>
                <a:spcAft>
                  <a:spcPts val="1200"/>
                </a:spcAft>
              </a:pPr>
              <a:r>
                <a:rPr lang="en-US" sz="2000" b="1" dirty="0">
                  <a:solidFill>
                    <a:srgbClr val="1F497D"/>
                  </a:solidFill>
                  <a:effectLst/>
                  <a:latin typeface="Arial Bold" panose="020B0704020202020204" pitchFamily="34" charset="0"/>
                  <a:ea typeface="Calibri" panose="020F0502020204030204" pitchFamily="34" charset="0"/>
                  <a:cs typeface="Calibri" panose="020F0502020204030204" pitchFamily="34" charset="0"/>
                </a:rPr>
                <a:t>DRB shall be riding on shared service model wherein the existing Security Posture </a:t>
              </a:r>
              <a:r>
                <a:rPr lang="en-US" sz="2000" b="1" dirty="0">
                  <a:solidFill>
                    <a:srgbClr val="1F497D"/>
                  </a:solidFill>
                  <a:latin typeface="Arial Bold" panose="020B0704020202020204" pitchFamily="34" charset="0"/>
                  <a:ea typeface="Calibri" panose="020F0502020204030204" pitchFamily="34" charset="0"/>
                  <a:cs typeface="Calibri" panose="020F0502020204030204" pitchFamily="34" charset="0"/>
                </a:rPr>
                <a:t>would be utilized as the starting point for the proposed bank. The cyber security strategy would encompass both conventional as well as digital bank. </a:t>
              </a:r>
              <a:endParaRPr lang="en-US" sz="1800" dirty="0"/>
            </a:p>
          </p:txBody>
        </p:sp>
        <p:sp>
          <p:nvSpPr>
            <p:cNvPr id="70" name="Google Shape;2798;p183">
              <a:extLst>
                <a:ext uri="{FF2B5EF4-FFF2-40B4-BE49-F238E27FC236}">
                  <a16:creationId xmlns:a16="http://schemas.microsoft.com/office/drawing/2014/main" id="{DC51499E-A60B-43F9-B5D0-EBD3D5B91C00}"/>
                </a:ext>
              </a:extLst>
            </p:cNvPr>
            <p:cNvSpPr/>
            <p:nvPr/>
          </p:nvSpPr>
          <p:spPr>
            <a:xfrm>
              <a:off x="528183" y="2120895"/>
              <a:ext cx="839917" cy="320100"/>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2799;p183">
              <a:extLst>
                <a:ext uri="{FF2B5EF4-FFF2-40B4-BE49-F238E27FC236}">
                  <a16:creationId xmlns:a16="http://schemas.microsoft.com/office/drawing/2014/main" id="{73EABC5F-813C-4A90-A871-52F1FD4C4535}"/>
                </a:ext>
              </a:extLst>
            </p:cNvPr>
            <p:cNvSpPr/>
            <p:nvPr/>
          </p:nvSpPr>
          <p:spPr>
            <a:xfrm>
              <a:off x="586626" y="2164570"/>
              <a:ext cx="416919" cy="221195"/>
            </a:xfrm>
            <a:custGeom>
              <a:avLst/>
              <a:gdLst/>
              <a:ahLst/>
              <a:cxnLst/>
              <a:rect l="l" t="t" r="r" b="b"/>
              <a:pathLst>
                <a:path w="5191" h="5190" extrusionOk="0">
                  <a:moveTo>
                    <a:pt x="2595" y="0"/>
                  </a:moveTo>
                  <a:cubicBezTo>
                    <a:pt x="1168" y="0"/>
                    <a:pt x="0" y="1168"/>
                    <a:pt x="0" y="2595"/>
                  </a:cubicBezTo>
                  <a:cubicBezTo>
                    <a:pt x="0" y="4022"/>
                    <a:pt x="1168" y="5190"/>
                    <a:pt x="2595" y="5190"/>
                  </a:cubicBezTo>
                  <a:cubicBezTo>
                    <a:pt x="4023" y="5190"/>
                    <a:pt x="5191" y="4022"/>
                    <a:pt x="5191" y="2595"/>
                  </a:cubicBezTo>
                  <a:cubicBezTo>
                    <a:pt x="5191" y="1168"/>
                    <a:pt x="4023" y="0"/>
                    <a:pt x="2595" y="0"/>
                  </a:cubicBezTo>
                  <a:close/>
                  <a:moveTo>
                    <a:pt x="4386" y="1561"/>
                  </a:moveTo>
                  <a:cubicBezTo>
                    <a:pt x="3652" y="1561"/>
                    <a:pt x="3652" y="1561"/>
                    <a:pt x="3652" y="1561"/>
                  </a:cubicBezTo>
                  <a:cubicBezTo>
                    <a:pt x="3648" y="1541"/>
                    <a:pt x="3643" y="1527"/>
                    <a:pt x="3639" y="1510"/>
                  </a:cubicBezTo>
                  <a:cubicBezTo>
                    <a:pt x="3557" y="1222"/>
                    <a:pt x="3444" y="931"/>
                    <a:pt x="3303" y="646"/>
                  </a:cubicBezTo>
                  <a:cubicBezTo>
                    <a:pt x="3301" y="642"/>
                    <a:pt x="3299" y="640"/>
                    <a:pt x="3297" y="636"/>
                  </a:cubicBezTo>
                  <a:cubicBezTo>
                    <a:pt x="3753" y="819"/>
                    <a:pt x="4157" y="1125"/>
                    <a:pt x="4386" y="1561"/>
                  </a:cubicBezTo>
                  <a:close/>
                  <a:moveTo>
                    <a:pt x="1988" y="3117"/>
                  </a:moveTo>
                  <a:cubicBezTo>
                    <a:pt x="1961" y="2945"/>
                    <a:pt x="1947" y="2779"/>
                    <a:pt x="1947" y="2615"/>
                  </a:cubicBezTo>
                  <a:cubicBezTo>
                    <a:pt x="1947" y="2440"/>
                    <a:pt x="1963" y="2261"/>
                    <a:pt x="1994" y="2077"/>
                  </a:cubicBezTo>
                  <a:cubicBezTo>
                    <a:pt x="3204" y="2077"/>
                    <a:pt x="3204" y="2077"/>
                    <a:pt x="3204" y="2077"/>
                  </a:cubicBezTo>
                  <a:cubicBezTo>
                    <a:pt x="3232" y="2249"/>
                    <a:pt x="3246" y="2420"/>
                    <a:pt x="3246" y="2586"/>
                  </a:cubicBezTo>
                  <a:cubicBezTo>
                    <a:pt x="3246" y="2759"/>
                    <a:pt x="3231" y="2937"/>
                    <a:pt x="3201" y="3117"/>
                  </a:cubicBezTo>
                  <a:lnTo>
                    <a:pt x="1988" y="3117"/>
                  </a:lnTo>
                  <a:close/>
                  <a:moveTo>
                    <a:pt x="2821" y="910"/>
                  </a:moveTo>
                  <a:cubicBezTo>
                    <a:pt x="2927" y="1125"/>
                    <a:pt x="3014" y="1341"/>
                    <a:pt x="3081" y="1561"/>
                  </a:cubicBezTo>
                  <a:cubicBezTo>
                    <a:pt x="2121" y="1561"/>
                    <a:pt x="2121" y="1561"/>
                    <a:pt x="2121" y="1561"/>
                  </a:cubicBezTo>
                  <a:cubicBezTo>
                    <a:pt x="2187" y="1353"/>
                    <a:pt x="2272" y="1145"/>
                    <a:pt x="2373" y="940"/>
                  </a:cubicBezTo>
                  <a:cubicBezTo>
                    <a:pt x="2452" y="780"/>
                    <a:pt x="2532" y="640"/>
                    <a:pt x="2601" y="528"/>
                  </a:cubicBezTo>
                  <a:cubicBezTo>
                    <a:pt x="2622" y="560"/>
                    <a:pt x="2645" y="593"/>
                    <a:pt x="2668" y="625"/>
                  </a:cubicBezTo>
                  <a:cubicBezTo>
                    <a:pt x="2717" y="709"/>
                    <a:pt x="2769" y="805"/>
                    <a:pt x="2821" y="910"/>
                  </a:cubicBezTo>
                  <a:close/>
                  <a:moveTo>
                    <a:pt x="2373" y="4291"/>
                  </a:moveTo>
                  <a:cubicBezTo>
                    <a:pt x="2266" y="4074"/>
                    <a:pt x="2178" y="3853"/>
                    <a:pt x="2110" y="3637"/>
                  </a:cubicBezTo>
                  <a:cubicBezTo>
                    <a:pt x="3074" y="3637"/>
                    <a:pt x="3074" y="3637"/>
                    <a:pt x="3074" y="3637"/>
                  </a:cubicBezTo>
                  <a:cubicBezTo>
                    <a:pt x="3008" y="3845"/>
                    <a:pt x="2923" y="4053"/>
                    <a:pt x="2821" y="4261"/>
                  </a:cubicBezTo>
                  <a:cubicBezTo>
                    <a:pt x="2742" y="4421"/>
                    <a:pt x="2663" y="4559"/>
                    <a:pt x="2594" y="4670"/>
                  </a:cubicBezTo>
                  <a:cubicBezTo>
                    <a:pt x="2566" y="4628"/>
                    <a:pt x="2537" y="4587"/>
                    <a:pt x="2508" y="4544"/>
                  </a:cubicBezTo>
                  <a:cubicBezTo>
                    <a:pt x="2464" y="4467"/>
                    <a:pt x="2418" y="4383"/>
                    <a:pt x="2373" y="4291"/>
                  </a:cubicBezTo>
                  <a:close/>
                  <a:moveTo>
                    <a:pt x="1916" y="626"/>
                  </a:moveTo>
                  <a:cubicBezTo>
                    <a:pt x="1908" y="643"/>
                    <a:pt x="1899" y="659"/>
                    <a:pt x="1891" y="676"/>
                  </a:cubicBezTo>
                  <a:cubicBezTo>
                    <a:pt x="1749" y="961"/>
                    <a:pt x="1636" y="1253"/>
                    <a:pt x="1555" y="1541"/>
                  </a:cubicBezTo>
                  <a:cubicBezTo>
                    <a:pt x="1553" y="1547"/>
                    <a:pt x="1552" y="1553"/>
                    <a:pt x="1550" y="1561"/>
                  </a:cubicBezTo>
                  <a:cubicBezTo>
                    <a:pt x="805" y="1561"/>
                    <a:pt x="805" y="1561"/>
                    <a:pt x="805" y="1561"/>
                  </a:cubicBezTo>
                  <a:cubicBezTo>
                    <a:pt x="1063" y="1121"/>
                    <a:pt x="1451" y="808"/>
                    <a:pt x="1916" y="626"/>
                  </a:cubicBezTo>
                  <a:close/>
                  <a:moveTo>
                    <a:pt x="597" y="3117"/>
                  </a:moveTo>
                  <a:cubicBezTo>
                    <a:pt x="545" y="2961"/>
                    <a:pt x="519" y="2779"/>
                    <a:pt x="519" y="2597"/>
                  </a:cubicBezTo>
                  <a:cubicBezTo>
                    <a:pt x="519" y="2415"/>
                    <a:pt x="545" y="2233"/>
                    <a:pt x="597" y="2077"/>
                  </a:cubicBezTo>
                  <a:cubicBezTo>
                    <a:pt x="1440" y="2077"/>
                    <a:pt x="1440" y="2077"/>
                    <a:pt x="1440" y="2077"/>
                  </a:cubicBezTo>
                  <a:cubicBezTo>
                    <a:pt x="1414" y="2261"/>
                    <a:pt x="1400" y="2439"/>
                    <a:pt x="1400" y="2616"/>
                  </a:cubicBezTo>
                  <a:cubicBezTo>
                    <a:pt x="1400" y="2780"/>
                    <a:pt x="1412" y="2949"/>
                    <a:pt x="1435" y="3117"/>
                  </a:cubicBezTo>
                  <a:lnTo>
                    <a:pt x="597" y="3117"/>
                  </a:lnTo>
                  <a:close/>
                  <a:moveTo>
                    <a:pt x="805" y="3637"/>
                  </a:moveTo>
                  <a:cubicBezTo>
                    <a:pt x="1540" y="3637"/>
                    <a:pt x="1540" y="3637"/>
                    <a:pt x="1540" y="3637"/>
                  </a:cubicBezTo>
                  <a:cubicBezTo>
                    <a:pt x="1545" y="3653"/>
                    <a:pt x="1550" y="3672"/>
                    <a:pt x="1555" y="3691"/>
                  </a:cubicBezTo>
                  <a:cubicBezTo>
                    <a:pt x="1636" y="3979"/>
                    <a:pt x="1749" y="4268"/>
                    <a:pt x="1891" y="4554"/>
                  </a:cubicBezTo>
                  <a:cubicBezTo>
                    <a:pt x="1892" y="4555"/>
                    <a:pt x="1892" y="4557"/>
                    <a:pt x="1893" y="4559"/>
                  </a:cubicBezTo>
                  <a:cubicBezTo>
                    <a:pt x="1437" y="4376"/>
                    <a:pt x="1034" y="4069"/>
                    <a:pt x="805" y="3637"/>
                  </a:cubicBezTo>
                  <a:close/>
                  <a:moveTo>
                    <a:pt x="3283" y="4564"/>
                  </a:moveTo>
                  <a:cubicBezTo>
                    <a:pt x="3289" y="4551"/>
                    <a:pt x="3296" y="4537"/>
                    <a:pt x="3303" y="4523"/>
                  </a:cubicBezTo>
                  <a:cubicBezTo>
                    <a:pt x="3444" y="4238"/>
                    <a:pt x="3557" y="3950"/>
                    <a:pt x="3639" y="3661"/>
                  </a:cubicBezTo>
                  <a:cubicBezTo>
                    <a:pt x="3641" y="3653"/>
                    <a:pt x="3643" y="3645"/>
                    <a:pt x="3646" y="3637"/>
                  </a:cubicBezTo>
                  <a:cubicBezTo>
                    <a:pt x="4386" y="3637"/>
                    <a:pt x="4386" y="3637"/>
                    <a:pt x="4386" y="3637"/>
                  </a:cubicBezTo>
                  <a:cubicBezTo>
                    <a:pt x="4155" y="4073"/>
                    <a:pt x="3745" y="4382"/>
                    <a:pt x="3283" y="4564"/>
                  </a:cubicBezTo>
                  <a:close/>
                  <a:moveTo>
                    <a:pt x="3755" y="3117"/>
                  </a:moveTo>
                  <a:cubicBezTo>
                    <a:pt x="3780" y="2937"/>
                    <a:pt x="3793" y="2760"/>
                    <a:pt x="3793" y="2586"/>
                  </a:cubicBezTo>
                  <a:cubicBezTo>
                    <a:pt x="3793" y="2419"/>
                    <a:pt x="3781" y="2249"/>
                    <a:pt x="3758" y="2077"/>
                  </a:cubicBezTo>
                  <a:cubicBezTo>
                    <a:pt x="4620" y="2077"/>
                    <a:pt x="4620" y="2077"/>
                    <a:pt x="4620" y="2077"/>
                  </a:cubicBezTo>
                  <a:cubicBezTo>
                    <a:pt x="4672" y="2233"/>
                    <a:pt x="4698" y="2415"/>
                    <a:pt x="4698" y="2597"/>
                  </a:cubicBezTo>
                  <a:cubicBezTo>
                    <a:pt x="4698" y="2779"/>
                    <a:pt x="4672" y="2961"/>
                    <a:pt x="4620" y="3117"/>
                  </a:cubicBezTo>
                  <a:lnTo>
                    <a:pt x="3755" y="311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grpSp>
      <p:grpSp>
        <p:nvGrpSpPr>
          <p:cNvPr id="72" name="Group 71">
            <a:extLst>
              <a:ext uri="{FF2B5EF4-FFF2-40B4-BE49-F238E27FC236}">
                <a16:creationId xmlns:a16="http://schemas.microsoft.com/office/drawing/2014/main" id="{5DE4378A-D446-4479-81D6-33E4318582A7}"/>
              </a:ext>
            </a:extLst>
          </p:cNvPr>
          <p:cNvGrpSpPr/>
          <p:nvPr/>
        </p:nvGrpSpPr>
        <p:grpSpPr>
          <a:xfrm>
            <a:off x="11038114" y="2956271"/>
            <a:ext cx="8912511" cy="7712809"/>
            <a:chOff x="5085576" y="1176759"/>
            <a:chExt cx="5343753" cy="5337579"/>
          </a:xfrm>
        </p:grpSpPr>
        <p:grpSp>
          <p:nvGrpSpPr>
            <p:cNvPr id="73" name="Group 72">
              <a:extLst>
                <a:ext uri="{FF2B5EF4-FFF2-40B4-BE49-F238E27FC236}">
                  <a16:creationId xmlns:a16="http://schemas.microsoft.com/office/drawing/2014/main" id="{B9EC8142-E96B-4FBD-A233-8C86ED671782}"/>
                </a:ext>
              </a:extLst>
            </p:cNvPr>
            <p:cNvGrpSpPr/>
            <p:nvPr/>
          </p:nvGrpSpPr>
          <p:grpSpPr>
            <a:xfrm>
              <a:off x="5085576" y="1176759"/>
              <a:ext cx="5343753" cy="3907495"/>
              <a:chOff x="4986660" y="1476376"/>
              <a:chExt cx="5343753" cy="3907495"/>
            </a:xfrm>
          </p:grpSpPr>
          <p:sp>
            <p:nvSpPr>
              <p:cNvPr id="83" name="Freeform 6">
                <a:extLst>
                  <a:ext uri="{FF2B5EF4-FFF2-40B4-BE49-F238E27FC236}">
                    <a16:creationId xmlns:a16="http://schemas.microsoft.com/office/drawing/2014/main" id="{B5A72B65-8CEC-45CD-988C-D77E48410A30}"/>
                  </a:ext>
                </a:extLst>
              </p:cNvPr>
              <p:cNvSpPr>
                <a:spLocks/>
              </p:cNvSpPr>
              <p:nvPr/>
            </p:nvSpPr>
            <p:spPr bwMode="auto">
              <a:xfrm>
                <a:off x="6813305" y="3297573"/>
                <a:ext cx="1692279" cy="1695911"/>
              </a:xfrm>
              <a:custGeom>
                <a:avLst/>
                <a:gdLst>
                  <a:gd name="T0" fmla="*/ 0 w 932"/>
                  <a:gd name="T1" fmla="*/ 169 h 934"/>
                  <a:gd name="T2" fmla="*/ 38 w 932"/>
                  <a:gd name="T3" fmla="*/ 216 h 934"/>
                  <a:gd name="T4" fmla="*/ 68 w 932"/>
                  <a:gd name="T5" fmla="*/ 268 h 934"/>
                  <a:gd name="T6" fmla="*/ 93 w 932"/>
                  <a:gd name="T7" fmla="*/ 323 h 934"/>
                  <a:gd name="T8" fmla="*/ 109 w 932"/>
                  <a:gd name="T9" fmla="*/ 384 h 934"/>
                  <a:gd name="T10" fmla="*/ 116 w 932"/>
                  <a:gd name="T11" fmla="*/ 446 h 934"/>
                  <a:gd name="T12" fmla="*/ 116 w 932"/>
                  <a:gd name="T13" fmla="*/ 489 h 934"/>
                  <a:gd name="T14" fmla="*/ 109 w 932"/>
                  <a:gd name="T15" fmla="*/ 551 h 934"/>
                  <a:gd name="T16" fmla="*/ 93 w 932"/>
                  <a:gd name="T17" fmla="*/ 611 h 934"/>
                  <a:gd name="T18" fmla="*/ 68 w 932"/>
                  <a:gd name="T19" fmla="*/ 668 h 934"/>
                  <a:gd name="T20" fmla="*/ 38 w 932"/>
                  <a:gd name="T21" fmla="*/ 718 h 934"/>
                  <a:gd name="T22" fmla="*/ 0 w 932"/>
                  <a:gd name="T23" fmla="*/ 766 h 934"/>
                  <a:gd name="T24" fmla="*/ 184 w 932"/>
                  <a:gd name="T25" fmla="*/ 921 h 934"/>
                  <a:gd name="T26" fmla="*/ 231 w 932"/>
                  <a:gd name="T27" fmla="*/ 885 h 934"/>
                  <a:gd name="T28" fmla="*/ 285 w 932"/>
                  <a:gd name="T29" fmla="*/ 858 h 934"/>
                  <a:gd name="T30" fmla="*/ 341 w 932"/>
                  <a:gd name="T31" fmla="*/ 836 h 934"/>
                  <a:gd name="T32" fmla="*/ 401 w 932"/>
                  <a:gd name="T33" fmla="*/ 823 h 934"/>
                  <a:gd name="T34" fmla="*/ 465 w 932"/>
                  <a:gd name="T35" fmla="*/ 819 h 934"/>
                  <a:gd name="T36" fmla="*/ 514 w 932"/>
                  <a:gd name="T37" fmla="*/ 822 h 934"/>
                  <a:gd name="T38" fmla="*/ 584 w 932"/>
                  <a:gd name="T39" fmla="*/ 836 h 934"/>
                  <a:gd name="T40" fmla="*/ 652 w 932"/>
                  <a:gd name="T41" fmla="*/ 861 h 934"/>
                  <a:gd name="T42" fmla="*/ 717 w 932"/>
                  <a:gd name="T43" fmla="*/ 898 h 934"/>
                  <a:gd name="T44" fmla="*/ 762 w 932"/>
                  <a:gd name="T45" fmla="*/ 934 h 934"/>
                  <a:gd name="T46" fmla="*/ 919 w 932"/>
                  <a:gd name="T47" fmla="*/ 750 h 934"/>
                  <a:gd name="T48" fmla="*/ 883 w 932"/>
                  <a:gd name="T49" fmla="*/ 701 h 934"/>
                  <a:gd name="T50" fmla="*/ 856 w 932"/>
                  <a:gd name="T51" fmla="*/ 647 h 934"/>
                  <a:gd name="T52" fmla="*/ 834 w 932"/>
                  <a:gd name="T53" fmla="*/ 591 h 934"/>
                  <a:gd name="T54" fmla="*/ 821 w 932"/>
                  <a:gd name="T55" fmla="*/ 531 h 934"/>
                  <a:gd name="T56" fmla="*/ 817 w 932"/>
                  <a:gd name="T57" fmla="*/ 467 h 934"/>
                  <a:gd name="T58" fmla="*/ 818 w 932"/>
                  <a:gd name="T59" fmla="*/ 425 h 934"/>
                  <a:gd name="T60" fmla="*/ 828 w 932"/>
                  <a:gd name="T61" fmla="*/ 363 h 934"/>
                  <a:gd name="T62" fmla="*/ 847 w 932"/>
                  <a:gd name="T63" fmla="*/ 306 h 934"/>
                  <a:gd name="T64" fmla="*/ 873 w 932"/>
                  <a:gd name="T65" fmla="*/ 251 h 934"/>
                  <a:gd name="T66" fmla="*/ 906 w 932"/>
                  <a:gd name="T67" fmla="*/ 201 h 934"/>
                  <a:gd name="T68" fmla="*/ 762 w 932"/>
                  <a:gd name="T69" fmla="*/ 0 h 934"/>
                  <a:gd name="T70" fmla="*/ 732 w 932"/>
                  <a:gd name="T71" fmla="*/ 26 h 934"/>
                  <a:gd name="T72" fmla="*/ 681 w 932"/>
                  <a:gd name="T73" fmla="*/ 59 h 934"/>
                  <a:gd name="T74" fmla="*/ 626 w 932"/>
                  <a:gd name="T75" fmla="*/ 85 h 934"/>
                  <a:gd name="T76" fmla="*/ 569 w 932"/>
                  <a:gd name="T77" fmla="*/ 103 h 934"/>
                  <a:gd name="T78" fmla="*/ 507 w 932"/>
                  <a:gd name="T79" fmla="*/ 114 h 934"/>
                  <a:gd name="T80" fmla="*/ 465 w 932"/>
                  <a:gd name="T81" fmla="*/ 116 h 934"/>
                  <a:gd name="T82" fmla="*/ 401 w 932"/>
                  <a:gd name="T83" fmla="*/ 111 h 934"/>
                  <a:gd name="T84" fmla="*/ 341 w 932"/>
                  <a:gd name="T85" fmla="*/ 98 h 934"/>
                  <a:gd name="T86" fmla="*/ 285 w 932"/>
                  <a:gd name="T87" fmla="*/ 77 h 934"/>
                  <a:gd name="T88" fmla="*/ 231 w 932"/>
                  <a:gd name="T89" fmla="*/ 49 h 934"/>
                  <a:gd name="T90" fmla="*/ 184 w 932"/>
                  <a:gd name="T91" fmla="*/ 15 h 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32" h="934">
                    <a:moveTo>
                      <a:pt x="169" y="2"/>
                    </a:moveTo>
                    <a:lnTo>
                      <a:pt x="0" y="169"/>
                    </a:lnTo>
                    <a:lnTo>
                      <a:pt x="0" y="169"/>
                    </a:lnTo>
                    <a:lnTo>
                      <a:pt x="13" y="185"/>
                    </a:lnTo>
                    <a:lnTo>
                      <a:pt x="26" y="201"/>
                    </a:lnTo>
                    <a:lnTo>
                      <a:pt x="38" y="216"/>
                    </a:lnTo>
                    <a:lnTo>
                      <a:pt x="49" y="232"/>
                    </a:lnTo>
                    <a:lnTo>
                      <a:pt x="60" y="250"/>
                    </a:lnTo>
                    <a:lnTo>
                      <a:pt x="68" y="268"/>
                    </a:lnTo>
                    <a:lnTo>
                      <a:pt x="77" y="286"/>
                    </a:lnTo>
                    <a:lnTo>
                      <a:pt x="86" y="304"/>
                    </a:lnTo>
                    <a:lnTo>
                      <a:pt x="93" y="323"/>
                    </a:lnTo>
                    <a:lnTo>
                      <a:pt x="98" y="343"/>
                    </a:lnTo>
                    <a:lnTo>
                      <a:pt x="104" y="363"/>
                    </a:lnTo>
                    <a:lnTo>
                      <a:pt x="109" y="384"/>
                    </a:lnTo>
                    <a:lnTo>
                      <a:pt x="111" y="404"/>
                    </a:lnTo>
                    <a:lnTo>
                      <a:pt x="114" y="424"/>
                    </a:lnTo>
                    <a:lnTo>
                      <a:pt x="116" y="446"/>
                    </a:lnTo>
                    <a:lnTo>
                      <a:pt x="117" y="467"/>
                    </a:lnTo>
                    <a:lnTo>
                      <a:pt x="117" y="467"/>
                    </a:lnTo>
                    <a:lnTo>
                      <a:pt x="116" y="489"/>
                    </a:lnTo>
                    <a:lnTo>
                      <a:pt x="114" y="511"/>
                    </a:lnTo>
                    <a:lnTo>
                      <a:pt x="111" y="531"/>
                    </a:lnTo>
                    <a:lnTo>
                      <a:pt x="109" y="551"/>
                    </a:lnTo>
                    <a:lnTo>
                      <a:pt x="104" y="571"/>
                    </a:lnTo>
                    <a:lnTo>
                      <a:pt x="98" y="591"/>
                    </a:lnTo>
                    <a:lnTo>
                      <a:pt x="93" y="611"/>
                    </a:lnTo>
                    <a:lnTo>
                      <a:pt x="86" y="630"/>
                    </a:lnTo>
                    <a:lnTo>
                      <a:pt x="77" y="649"/>
                    </a:lnTo>
                    <a:lnTo>
                      <a:pt x="68" y="668"/>
                    </a:lnTo>
                    <a:lnTo>
                      <a:pt x="60" y="685"/>
                    </a:lnTo>
                    <a:lnTo>
                      <a:pt x="49" y="702"/>
                    </a:lnTo>
                    <a:lnTo>
                      <a:pt x="38" y="718"/>
                    </a:lnTo>
                    <a:lnTo>
                      <a:pt x="26" y="735"/>
                    </a:lnTo>
                    <a:lnTo>
                      <a:pt x="13" y="751"/>
                    </a:lnTo>
                    <a:lnTo>
                      <a:pt x="0" y="766"/>
                    </a:lnTo>
                    <a:lnTo>
                      <a:pt x="168" y="934"/>
                    </a:lnTo>
                    <a:lnTo>
                      <a:pt x="168" y="934"/>
                    </a:lnTo>
                    <a:lnTo>
                      <a:pt x="184" y="921"/>
                    </a:lnTo>
                    <a:lnTo>
                      <a:pt x="199" y="908"/>
                    </a:lnTo>
                    <a:lnTo>
                      <a:pt x="215" y="897"/>
                    </a:lnTo>
                    <a:lnTo>
                      <a:pt x="231" y="885"/>
                    </a:lnTo>
                    <a:lnTo>
                      <a:pt x="248" y="875"/>
                    </a:lnTo>
                    <a:lnTo>
                      <a:pt x="266" y="867"/>
                    </a:lnTo>
                    <a:lnTo>
                      <a:pt x="285" y="858"/>
                    </a:lnTo>
                    <a:lnTo>
                      <a:pt x="303" y="849"/>
                    </a:lnTo>
                    <a:lnTo>
                      <a:pt x="322" y="842"/>
                    </a:lnTo>
                    <a:lnTo>
                      <a:pt x="341" y="836"/>
                    </a:lnTo>
                    <a:lnTo>
                      <a:pt x="361" y="832"/>
                    </a:lnTo>
                    <a:lnTo>
                      <a:pt x="381" y="828"/>
                    </a:lnTo>
                    <a:lnTo>
                      <a:pt x="401" y="823"/>
                    </a:lnTo>
                    <a:lnTo>
                      <a:pt x="423" y="820"/>
                    </a:lnTo>
                    <a:lnTo>
                      <a:pt x="443" y="819"/>
                    </a:lnTo>
                    <a:lnTo>
                      <a:pt x="465" y="819"/>
                    </a:lnTo>
                    <a:lnTo>
                      <a:pt x="465" y="819"/>
                    </a:lnTo>
                    <a:lnTo>
                      <a:pt x="489" y="820"/>
                    </a:lnTo>
                    <a:lnTo>
                      <a:pt x="514" y="822"/>
                    </a:lnTo>
                    <a:lnTo>
                      <a:pt x="538" y="825"/>
                    </a:lnTo>
                    <a:lnTo>
                      <a:pt x="561" y="831"/>
                    </a:lnTo>
                    <a:lnTo>
                      <a:pt x="584" y="836"/>
                    </a:lnTo>
                    <a:lnTo>
                      <a:pt x="608" y="844"/>
                    </a:lnTo>
                    <a:lnTo>
                      <a:pt x="631" y="851"/>
                    </a:lnTo>
                    <a:lnTo>
                      <a:pt x="652" y="861"/>
                    </a:lnTo>
                    <a:lnTo>
                      <a:pt x="652" y="861"/>
                    </a:lnTo>
                    <a:lnTo>
                      <a:pt x="684" y="881"/>
                    </a:lnTo>
                    <a:lnTo>
                      <a:pt x="717" y="898"/>
                    </a:lnTo>
                    <a:lnTo>
                      <a:pt x="717" y="898"/>
                    </a:lnTo>
                    <a:lnTo>
                      <a:pt x="740" y="916"/>
                    </a:lnTo>
                    <a:lnTo>
                      <a:pt x="762" y="934"/>
                    </a:lnTo>
                    <a:lnTo>
                      <a:pt x="932" y="764"/>
                    </a:lnTo>
                    <a:lnTo>
                      <a:pt x="932" y="764"/>
                    </a:lnTo>
                    <a:lnTo>
                      <a:pt x="919" y="750"/>
                    </a:lnTo>
                    <a:lnTo>
                      <a:pt x="906" y="734"/>
                    </a:lnTo>
                    <a:lnTo>
                      <a:pt x="895" y="718"/>
                    </a:lnTo>
                    <a:lnTo>
                      <a:pt x="883" y="701"/>
                    </a:lnTo>
                    <a:lnTo>
                      <a:pt x="873" y="684"/>
                    </a:lnTo>
                    <a:lnTo>
                      <a:pt x="864" y="666"/>
                    </a:lnTo>
                    <a:lnTo>
                      <a:pt x="856" y="647"/>
                    </a:lnTo>
                    <a:lnTo>
                      <a:pt x="847" y="629"/>
                    </a:lnTo>
                    <a:lnTo>
                      <a:pt x="840" y="610"/>
                    </a:lnTo>
                    <a:lnTo>
                      <a:pt x="834" y="591"/>
                    </a:lnTo>
                    <a:lnTo>
                      <a:pt x="828" y="571"/>
                    </a:lnTo>
                    <a:lnTo>
                      <a:pt x="824" y="551"/>
                    </a:lnTo>
                    <a:lnTo>
                      <a:pt x="821" y="531"/>
                    </a:lnTo>
                    <a:lnTo>
                      <a:pt x="818" y="509"/>
                    </a:lnTo>
                    <a:lnTo>
                      <a:pt x="817" y="489"/>
                    </a:lnTo>
                    <a:lnTo>
                      <a:pt x="817" y="467"/>
                    </a:lnTo>
                    <a:lnTo>
                      <a:pt x="817" y="467"/>
                    </a:lnTo>
                    <a:lnTo>
                      <a:pt x="817" y="446"/>
                    </a:lnTo>
                    <a:lnTo>
                      <a:pt x="818" y="425"/>
                    </a:lnTo>
                    <a:lnTo>
                      <a:pt x="821" y="404"/>
                    </a:lnTo>
                    <a:lnTo>
                      <a:pt x="824" y="384"/>
                    </a:lnTo>
                    <a:lnTo>
                      <a:pt x="828" y="363"/>
                    </a:lnTo>
                    <a:lnTo>
                      <a:pt x="834" y="343"/>
                    </a:lnTo>
                    <a:lnTo>
                      <a:pt x="840" y="325"/>
                    </a:lnTo>
                    <a:lnTo>
                      <a:pt x="847" y="306"/>
                    </a:lnTo>
                    <a:lnTo>
                      <a:pt x="856" y="287"/>
                    </a:lnTo>
                    <a:lnTo>
                      <a:pt x="864" y="268"/>
                    </a:lnTo>
                    <a:lnTo>
                      <a:pt x="873" y="251"/>
                    </a:lnTo>
                    <a:lnTo>
                      <a:pt x="883" y="234"/>
                    </a:lnTo>
                    <a:lnTo>
                      <a:pt x="895" y="218"/>
                    </a:lnTo>
                    <a:lnTo>
                      <a:pt x="906" y="201"/>
                    </a:lnTo>
                    <a:lnTo>
                      <a:pt x="919" y="186"/>
                    </a:lnTo>
                    <a:lnTo>
                      <a:pt x="932" y="170"/>
                    </a:lnTo>
                    <a:lnTo>
                      <a:pt x="762" y="0"/>
                    </a:lnTo>
                    <a:lnTo>
                      <a:pt x="762" y="0"/>
                    </a:lnTo>
                    <a:lnTo>
                      <a:pt x="746" y="13"/>
                    </a:lnTo>
                    <a:lnTo>
                      <a:pt x="732" y="26"/>
                    </a:lnTo>
                    <a:lnTo>
                      <a:pt x="714" y="38"/>
                    </a:lnTo>
                    <a:lnTo>
                      <a:pt x="698" y="49"/>
                    </a:lnTo>
                    <a:lnTo>
                      <a:pt x="681" y="59"/>
                    </a:lnTo>
                    <a:lnTo>
                      <a:pt x="664" y="68"/>
                    </a:lnTo>
                    <a:lnTo>
                      <a:pt x="645" y="77"/>
                    </a:lnTo>
                    <a:lnTo>
                      <a:pt x="626" y="85"/>
                    </a:lnTo>
                    <a:lnTo>
                      <a:pt x="608" y="92"/>
                    </a:lnTo>
                    <a:lnTo>
                      <a:pt x="589" y="98"/>
                    </a:lnTo>
                    <a:lnTo>
                      <a:pt x="569" y="103"/>
                    </a:lnTo>
                    <a:lnTo>
                      <a:pt x="548" y="107"/>
                    </a:lnTo>
                    <a:lnTo>
                      <a:pt x="528" y="111"/>
                    </a:lnTo>
                    <a:lnTo>
                      <a:pt x="507" y="114"/>
                    </a:lnTo>
                    <a:lnTo>
                      <a:pt x="486" y="116"/>
                    </a:lnTo>
                    <a:lnTo>
                      <a:pt x="465" y="116"/>
                    </a:lnTo>
                    <a:lnTo>
                      <a:pt x="465" y="116"/>
                    </a:lnTo>
                    <a:lnTo>
                      <a:pt x="443" y="116"/>
                    </a:lnTo>
                    <a:lnTo>
                      <a:pt x="423" y="114"/>
                    </a:lnTo>
                    <a:lnTo>
                      <a:pt x="401" y="111"/>
                    </a:lnTo>
                    <a:lnTo>
                      <a:pt x="381" y="108"/>
                    </a:lnTo>
                    <a:lnTo>
                      <a:pt x="361" y="104"/>
                    </a:lnTo>
                    <a:lnTo>
                      <a:pt x="341" y="98"/>
                    </a:lnTo>
                    <a:lnTo>
                      <a:pt x="322" y="92"/>
                    </a:lnTo>
                    <a:lnTo>
                      <a:pt x="303" y="85"/>
                    </a:lnTo>
                    <a:lnTo>
                      <a:pt x="285" y="77"/>
                    </a:lnTo>
                    <a:lnTo>
                      <a:pt x="266" y="68"/>
                    </a:lnTo>
                    <a:lnTo>
                      <a:pt x="248" y="59"/>
                    </a:lnTo>
                    <a:lnTo>
                      <a:pt x="231" y="49"/>
                    </a:lnTo>
                    <a:lnTo>
                      <a:pt x="215" y="38"/>
                    </a:lnTo>
                    <a:lnTo>
                      <a:pt x="199" y="26"/>
                    </a:lnTo>
                    <a:lnTo>
                      <a:pt x="184" y="15"/>
                    </a:lnTo>
                    <a:lnTo>
                      <a:pt x="169" y="2"/>
                    </a:lnTo>
                    <a:lnTo>
                      <a:pt x="169" y="2"/>
                    </a:lnTo>
                    <a:close/>
                  </a:path>
                </a:pathLst>
              </a:custGeom>
              <a:noFill/>
              <a:ln w="9525">
                <a:solidFill>
                  <a:srgbClr val="D5D1C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84" name="Freeform 8">
                <a:extLst>
                  <a:ext uri="{FF2B5EF4-FFF2-40B4-BE49-F238E27FC236}">
                    <a16:creationId xmlns:a16="http://schemas.microsoft.com/office/drawing/2014/main" id="{A66AC31D-EC8C-417F-823C-2800041B6855}"/>
                  </a:ext>
                </a:extLst>
              </p:cNvPr>
              <p:cNvSpPr>
                <a:spLocks/>
              </p:cNvSpPr>
              <p:nvPr/>
            </p:nvSpPr>
            <p:spPr bwMode="auto">
              <a:xfrm>
                <a:off x="8193275" y="2907187"/>
                <a:ext cx="2137138" cy="2476684"/>
              </a:xfrm>
              <a:custGeom>
                <a:avLst/>
                <a:gdLst>
                  <a:gd name="T0" fmla="*/ 436 w 1177"/>
                  <a:gd name="T1" fmla="*/ 3 h 1364"/>
                  <a:gd name="T2" fmla="*/ 372 w 1177"/>
                  <a:gd name="T3" fmla="*/ 35 h 1364"/>
                  <a:gd name="T4" fmla="*/ 345 w 1177"/>
                  <a:gd name="T5" fmla="*/ 130 h 1364"/>
                  <a:gd name="T6" fmla="*/ 293 w 1177"/>
                  <a:gd name="T7" fmla="*/ 240 h 1364"/>
                  <a:gd name="T8" fmla="*/ 207 w 1177"/>
                  <a:gd name="T9" fmla="*/ 354 h 1364"/>
                  <a:gd name="T10" fmla="*/ 321 w 1177"/>
                  <a:gd name="T11" fmla="*/ 282 h 1364"/>
                  <a:gd name="T12" fmla="*/ 396 w 1177"/>
                  <a:gd name="T13" fmla="*/ 257 h 1364"/>
                  <a:gd name="T14" fmla="*/ 475 w 1177"/>
                  <a:gd name="T15" fmla="*/ 247 h 1364"/>
                  <a:gd name="T16" fmla="*/ 540 w 1177"/>
                  <a:gd name="T17" fmla="*/ 248 h 1364"/>
                  <a:gd name="T18" fmla="*/ 625 w 1177"/>
                  <a:gd name="T19" fmla="*/ 266 h 1364"/>
                  <a:gd name="T20" fmla="*/ 703 w 1177"/>
                  <a:gd name="T21" fmla="*/ 299 h 1364"/>
                  <a:gd name="T22" fmla="*/ 773 w 1177"/>
                  <a:gd name="T23" fmla="*/ 345 h 1364"/>
                  <a:gd name="T24" fmla="*/ 832 w 1177"/>
                  <a:gd name="T25" fmla="*/ 404 h 1364"/>
                  <a:gd name="T26" fmla="*/ 879 w 1177"/>
                  <a:gd name="T27" fmla="*/ 475 h 1364"/>
                  <a:gd name="T28" fmla="*/ 912 w 1177"/>
                  <a:gd name="T29" fmla="*/ 553 h 1364"/>
                  <a:gd name="T30" fmla="*/ 929 w 1177"/>
                  <a:gd name="T31" fmla="*/ 638 h 1364"/>
                  <a:gd name="T32" fmla="*/ 932 w 1177"/>
                  <a:gd name="T33" fmla="*/ 705 h 1364"/>
                  <a:gd name="T34" fmla="*/ 918 w 1177"/>
                  <a:gd name="T35" fmla="*/ 792 h 1364"/>
                  <a:gd name="T36" fmla="*/ 889 w 1177"/>
                  <a:gd name="T37" fmla="*/ 871 h 1364"/>
                  <a:gd name="T38" fmla="*/ 845 w 1177"/>
                  <a:gd name="T39" fmla="*/ 943 h 1364"/>
                  <a:gd name="T40" fmla="*/ 789 w 1177"/>
                  <a:gd name="T41" fmla="*/ 1005 h 1364"/>
                  <a:gd name="T42" fmla="*/ 721 w 1177"/>
                  <a:gd name="T43" fmla="*/ 1056 h 1364"/>
                  <a:gd name="T44" fmla="*/ 645 w 1177"/>
                  <a:gd name="T45" fmla="*/ 1093 h 1364"/>
                  <a:gd name="T46" fmla="*/ 561 w 1177"/>
                  <a:gd name="T47" fmla="*/ 1115 h 1364"/>
                  <a:gd name="T48" fmla="*/ 495 w 1177"/>
                  <a:gd name="T49" fmla="*/ 1119 h 1364"/>
                  <a:gd name="T50" fmla="*/ 414 w 1177"/>
                  <a:gd name="T51" fmla="*/ 1112 h 1364"/>
                  <a:gd name="T52" fmla="*/ 338 w 1177"/>
                  <a:gd name="T53" fmla="*/ 1090 h 1364"/>
                  <a:gd name="T54" fmla="*/ 237 w 1177"/>
                  <a:gd name="T55" fmla="*/ 1034 h 1364"/>
                  <a:gd name="T56" fmla="*/ 173 w 1177"/>
                  <a:gd name="T57" fmla="*/ 978 h 1364"/>
                  <a:gd name="T58" fmla="*/ 34 w 1177"/>
                  <a:gd name="T59" fmla="*/ 1184 h 1364"/>
                  <a:gd name="T60" fmla="*/ 149 w 1177"/>
                  <a:gd name="T61" fmla="*/ 1269 h 1364"/>
                  <a:gd name="T62" fmla="*/ 259 w 1177"/>
                  <a:gd name="T63" fmla="*/ 1321 h 1364"/>
                  <a:gd name="T64" fmla="*/ 352 w 1177"/>
                  <a:gd name="T65" fmla="*/ 1348 h 1364"/>
                  <a:gd name="T66" fmla="*/ 436 w 1177"/>
                  <a:gd name="T67" fmla="*/ 1361 h 1364"/>
                  <a:gd name="T68" fmla="*/ 530 w 1177"/>
                  <a:gd name="T69" fmla="*/ 1363 h 1364"/>
                  <a:gd name="T70" fmla="*/ 665 w 1177"/>
                  <a:gd name="T71" fmla="*/ 1343 h 1364"/>
                  <a:gd name="T72" fmla="*/ 791 w 1177"/>
                  <a:gd name="T73" fmla="*/ 1296 h 1364"/>
                  <a:gd name="T74" fmla="*/ 903 w 1177"/>
                  <a:gd name="T75" fmla="*/ 1229 h 1364"/>
                  <a:gd name="T76" fmla="*/ 1000 w 1177"/>
                  <a:gd name="T77" fmla="*/ 1141 h 1364"/>
                  <a:gd name="T78" fmla="*/ 1078 w 1177"/>
                  <a:gd name="T79" fmla="*/ 1035 h 1364"/>
                  <a:gd name="T80" fmla="*/ 1135 w 1177"/>
                  <a:gd name="T81" fmla="*/ 917 h 1364"/>
                  <a:gd name="T82" fmla="*/ 1168 w 1177"/>
                  <a:gd name="T83" fmla="*/ 786 h 1364"/>
                  <a:gd name="T84" fmla="*/ 1177 w 1177"/>
                  <a:gd name="T85" fmla="*/ 682 h 1364"/>
                  <a:gd name="T86" fmla="*/ 1163 w 1177"/>
                  <a:gd name="T87" fmla="*/ 545 h 1364"/>
                  <a:gd name="T88" fmla="*/ 1124 w 1177"/>
                  <a:gd name="T89" fmla="*/ 417 h 1364"/>
                  <a:gd name="T90" fmla="*/ 1060 w 1177"/>
                  <a:gd name="T91" fmla="*/ 302 h 1364"/>
                  <a:gd name="T92" fmla="*/ 977 w 1177"/>
                  <a:gd name="T93" fmla="*/ 201 h 1364"/>
                  <a:gd name="T94" fmla="*/ 876 w 1177"/>
                  <a:gd name="T95" fmla="*/ 117 h 1364"/>
                  <a:gd name="T96" fmla="*/ 760 w 1177"/>
                  <a:gd name="T97" fmla="*/ 55 h 1364"/>
                  <a:gd name="T98" fmla="*/ 632 w 1177"/>
                  <a:gd name="T99" fmla="*/ 15 h 1364"/>
                  <a:gd name="T100" fmla="*/ 495 w 1177"/>
                  <a:gd name="T101" fmla="*/ 0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77" h="1364">
                    <a:moveTo>
                      <a:pt x="495" y="0"/>
                    </a:moveTo>
                    <a:lnTo>
                      <a:pt x="495" y="0"/>
                    </a:lnTo>
                    <a:lnTo>
                      <a:pt x="465" y="2"/>
                    </a:lnTo>
                    <a:lnTo>
                      <a:pt x="436" y="3"/>
                    </a:lnTo>
                    <a:lnTo>
                      <a:pt x="406" y="6"/>
                    </a:lnTo>
                    <a:lnTo>
                      <a:pt x="377" y="12"/>
                    </a:lnTo>
                    <a:lnTo>
                      <a:pt x="377" y="12"/>
                    </a:lnTo>
                    <a:lnTo>
                      <a:pt x="372" y="35"/>
                    </a:lnTo>
                    <a:lnTo>
                      <a:pt x="367" y="60"/>
                    </a:lnTo>
                    <a:lnTo>
                      <a:pt x="359" y="84"/>
                    </a:lnTo>
                    <a:lnTo>
                      <a:pt x="352" y="107"/>
                    </a:lnTo>
                    <a:lnTo>
                      <a:pt x="345" y="130"/>
                    </a:lnTo>
                    <a:lnTo>
                      <a:pt x="336" y="153"/>
                    </a:lnTo>
                    <a:lnTo>
                      <a:pt x="326" y="175"/>
                    </a:lnTo>
                    <a:lnTo>
                      <a:pt x="316" y="196"/>
                    </a:lnTo>
                    <a:lnTo>
                      <a:pt x="293" y="240"/>
                    </a:lnTo>
                    <a:lnTo>
                      <a:pt x="267" y="280"/>
                    </a:lnTo>
                    <a:lnTo>
                      <a:pt x="238" y="318"/>
                    </a:lnTo>
                    <a:lnTo>
                      <a:pt x="207" y="354"/>
                    </a:lnTo>
                    <a:lnTo>
                      <a:pt x="207" y="354"/>
                    </a:lnTo>
                    <a:lnTo>
                      <a:pt x="237" y="331"/>
                    </a:lnTo>
                    <a:lnTo>
                      <a:pt x="269" y="309"/>
                    </a:lnTo>
                    <a:lnTo>
                      <a:pt x="303" y="290"/>
                    </a:lnTo>
                    <a:lnTo>
                      <a:pt x="321" y="282"/>
                    </a:lnTo>
                    <a:lnTo>
                      <a:pt x="338" y="274"/>
                    </a:lnTo>
                    <a:lnTo>
                      <a:pt x="357" y="269"/>
                    </a:lnTo>
                    <a:lnTo>
                      <a:pt x="375" y="263"/>
                    </a:lnTo>
                    <a:lnTo>
                      <a:pt x="396" y="257"/>
                    </a:lnTo>
                    <a:lnTo>
                      <a:pt x="414" y="253"/>
                    </a:lnTo>
                    <a:lnTo>
                      <a:pt x="434" y="250"/>
                    </a:lnTo>
                    <a:lnTo>
                      <a:pt x="455" y="248"/>
                    </a:lnTo>
                    <a:lnTo>
                      <a:pt x="475" y="247"/>
                    </a:lnTo>
                    <a:lnTo>
                      <a:pt x="495" y="245"/>
                    </a:lnTo>
                    <a:lnTo>
                      <a:pt x="495" y="245"/>
                    </a:lnTo>
                    <a:lnTo>
                      <a:pt x="518" y="247"/>
                    </a:lnTo>
                    <a:lnTo>
                      <a:pt x="540" y="248"/>
                    </a:lnTo>
                    <a:lnTo>
                      <a:pt x="561" y="251"/>
                    </a:lnTo>
                    <a:lnTo>
                      <a:pt x="583" y="254"/>
                    </a:lnTo>
                    <a:lnTo>
                      <a:pt x="605" y="260"/>
                    </a:lnTo>
                    <a:lnTo>
                      <a:pt x="625" y="266"/>
                    </a:lnTo>
                    <a:lnTo>
                      <a:pt x="645" y="273"/>
                    </a:lnTo>
                    <a:lnTo>
                      <a:pt x="665" y="280"/>
                    </a:lnTo>
                    <a:lnTo>
                      <a:pt x="684" y="289"/>
                    </a:lnTo>
                    <a:lnTo>
                      <a:pt x="703" y="299"/>
                    </a:lnTo>
                    <a:lnTo>
                      <a:pt x="721" y="309"/>
                    </a:lnTo>
                    <a:lnTo>
                      <a:pt x="739" y="320"/>
                    </a:lnTo>
                    <a:lnTo>
                      <a:pt x="756" y="332"/>
                    </a:lnTo>
                    <a:lnTo>
                      <a:pt x="773" y="345"/>
                    </a:lnTo>
                    <a:lnTo>
                      <a:pt x="789" y="359"/>
                    </a:lnTo>
                    <a:lnTo>
                      <a:pt x="804" y="374"/>
                    </a:lnTo>
                    <a:lnTo>
                      <a:pt x="818" y="388"/>
                    </a:lnTo>
                    <a:lnTo>
                      <a:pt x="832" y="404"/>
                    </a:lnTo>
                    <a:lnTo>
                      <a:pt x="845" y="421"/>
                    </a:lnTo>
                    <a:lnTo>
                      <a:pt x="857" y="439"/>
                    </a:lnTo>
                    <a:lnTo>
                      <a:pt x="869" y="456"/>
                    </a:lnTo>
                    <a:lnTo>
                      <a:pt x="879" y="475"/>
                    </a:lnTo>
                    <a:lnTo>
                      <a:pt x="889" y="493"/>
                    </a:lnTo>
                    <a:lnTo>
                      <a:pt x="897" y="512"/>
                    </a:lnTo>
                    <a:lnTo>
                      <a:pt x="906" y="532"/>
                    </a:lnTo>
                    <a:lnTo>
                      <a:pt x="912" y="553"/>
                    </a:lnTo>
                    <a:lnTo>
                      <a:pt x="918" y="573"/>
                    </a:lnTo>
                    <a:lnTo>
                      <a:pt x="923" y="594"/>
                    </a:lnTo>
                    <a:lnTo>
                      <a:pt x="928" y="616"/>
                    </a:lnTo>
                    <a:lnTo>
                      <a:pt x="929" y="638"/>
                    </a:lnTo>
                    <a:lnTo>
                      <a:pt x="932" y="661"/>
                    </a:lnTo>
                    <a:lnTo>
                      <a:pt x="932" y="682"/>
                    </a:lnTo>
                    <a:lnTo>
                      <a:pt x="932" y="682"/>
                    </a:lnTo>
                    <a:lnTo>
                      <a:pt x="932" y="705"/>
                    </a:lnTo>
                    <a:lnTo>
                      <a:pt x="929" y="727"/>
                    </a:lnTo>
                    <a:lnTo>
                      <a:pt x="928" y="749"/>
                    </a:lnTo>
                    <a:lnTo>
                      <a:pt x="923" y="770"/>
                    </a:lnTo>
                    <a:lnTo>
                      <a:pt x="918" y="792"/>
                    </a:lnTo>
                    <a:lnTo>
                      <a:pt x="912" y="812"/>
                    </a:lnTo>
                    <a:lnTo>
                      <a:pt x="906" y="832"/>
                    </a:lnTo>
                    <a:lnTo>
                      <a:pt x="897" y="852"/>
                    </a:lnTo>
                    <a:lnTo>
                      <a:pt x="889" y="871"/>
                    </a:lnTo>
                    <a:lnTo>
                      <a:pt x="879" y="891"/>
                    </a:lnTo>
                    <a:lnTo>
                      <a:pt x="869" y="909"/>
                    </a:lnTo>
                    <a:lnTo>
                      <a:pt x="857" y="927"/>
                    </a:lnTo>
                    <a:lnTo>
                      <a:pt x="845" y="943"/>
                    </a:lnTo>
                    <a:lnTo>
                      <a:pt x="832" y="961"/>
                    </a:lnTo>
                    <a:lnTo>
                      <a:pt x="818" y="976"/>
                    </a:lnTo>
                    <a:lnTo>
                      <a:pt x="804" y="991"/>
                    </a:lnTo>
                    <a:lnTo>
                      <a:pt x="789" y="1005"/>
                    </a:lnTo>
                    <a:lnTo>
                      <a:pt x="773" y="1020"/>
                    </a:lnTo>
                    <a:lnTo>
                      <a:pt x="756" y="1033"/>
                    </a:lnTo>
                    <a:lnTo>
                      <a:pt x="739" y="1044"/>
                    </a:lnTo>
                    <a:lnTo>
                      <a:pt x="721" y="1056"/>
                    </a:lnTo>
                    <a:lnTo>
                      <a:pt x="703" y="1067"/>
                    </a:lnTo>
                    <a:lnTo>
                      <a:pt x="684" y="1076"/>
                    </a:lnTo>
                    <a:lnTo>
                      <a:pt x="665" y="1084"/>
                    </a:lnTo>
                    <a:lnTo>
                      <a:pt x="645" y="1093"/>
                    </a:lnTo>
                    <a:lnTo>
                      <a:pt x="625" y="1099"/>
                    </a:lnTo>
                    <a:lnTo>
                      <a:pt x="605" y="1106"/>
                    </a:lnTo>
                    <a:lnTo>
                      <a:pt x="583" y="1110"/>
                    </a:lnTo>
                    <a:lnTo>
                      <a:pt x="561" y="1115"/>
                    </a:lnTo>
                    <a:lnTo>
                      <a:pt x="540" y="1116"/>
                    </a:lnTo>
                    <a:lnTo>
                      <a:pt x="518" y="1119"/>
                    </a:lnTo>
                    <a:lnTo>
                      <a:pt x="495" y="1119"/>
                    </a:lnTo>
                    <a:lnTo>
                      <a:pt x="495" y="1119"/>
                    </a:lnTo>
                    <a:lnTo>
                      <a:pt x="475" y="1119"/>
                    </a:lnTo>
                    <a:lnTo>
                      <a:pt x="455" y="1118"/>
                    </a:lnTo>
                    <a:lnTo>
                      <a:pt x="434" y="1115"/>
                    </a:lnTo>
                    <a:lnTo>
                      <a:pt x="414" y="1112"/>
                    </a:lnTo>
                    <a:lnTo>
                      <a:pt x="396" y="1108"/>
                    </a:lnTo>
                    <a:lnTo>
                      <a:pt x="375" y="1103"/>
                    </a:lnTo>
                    <a:lnTo>
                      <a:pt x="357" y="1097"/>
                    </a:lnTo>
                    <a:lnTo>
                      <a:pt x="338" y="1090"/>
                    </a:lnTo>
                    <a:lnTo>
                      <a:pt x="321" y="1083"/>
                    </a:lnTo>
                    <a:lnTo>
                      <a:pt x="303" y="1074"/>
                    </a:lnTo>
                    <a:lnTo>
                      <a:pt x="269" y="1056"/>
                    </a:lnTo>
                    <a:lnTo>
                      <a:pt x="237" y="1034"/>
                    </a:lnTo>
                    <a:lnTo>
                      <a:pt x="207" y="1011"/>
                    </a:lnTo>
                    <a:lnTo>
                      <a:pt x="207" y="1011"/>
                    </a:lnTo>
                    <a:lnTo>
                      <a:pt x="189" y="995"/>
                    </a:lnTo>
                    <a:lnTo>
                      <a:pt x="173" y="978"/>
                    </a:lnTo>
                    <a:lnTo>
                      <a:pt x="0" y="1151"/>
                    </a:lnTo>
                    <a:lnTo>
                      <a:pt x="0" y="1151"/>
                    </a:lnTo>
                    <a:lnTo>
                      <a:pt x="18" y="1167"/>
                    </a:lnTo>
                    <a:lnTo>
                      <a:pt x="34" y="1184"/>
                    </a:lnTo>
                    <a:lnTo>
                      <a:pt x="34" y="1184"/>
                    </a:lnTo>
                    <a:lnTo>
                      <a:pt x="70" y="1216"/>
                    </a:lnTo>
                    <a:lnTo>
                      <a:pt x="109" y="1243"/>
                    </a:lnTo>
                    <a:lnTo>
                      <a:pt x="149" y="1269"/>
                    </a:lnTo>
                    <a:lnTo>
                      <a:pt x="191" y="1292"/>
                    </a:lnTo>
                    <a:lnTo>
                      <a:pt x="212" y="1304"/>
                    </a:lnTo>
                    <a:lnTo>
                      <a:pt x="235" y="1312"/>
                    </a:lnTo>
                    <a:lnTo>
                      <a:pt x="259" y="1321"/>
                    </a:lnTo>
                    <a:lnTo>
                      <a:pt x="282" y="1330"/>
                    </a:lnTo>
                    <a:lnTo>
                      <a:pt x="305" y="1337"/>
                    </a:lnTo>
                    <a:lnTo>
                      <a:pt x="328" y="1344"/>
                    </a:lnTo>
                    <a:lnTo>
                      <a:pt x="352" y="1348"/>
                    </a:lnTo>
                    <a:lnTo>
                      <a:pt x="377" y="1354"/>
                    </a:lnTo>
                    <a:lnTo>
                      <a:pt x="377" y="1354"/>
                    </a:lnTo>
                    <a:lnTo>
                      <a:pt x="406" y="1358"/>
                    </a:lnTo>
                    <a:lnTo>
                      <a:pt x="436" y="1361"/>
                    </a:lnTo>
                    <a:lnTo>
                      <a:pt x="465" y="1363"/>
                    </a:lnTo>
                    <a:lnTo>
                      <a:pt x="495" y="1364"/>
                    </a:lnTo>
                    <a:lnTo>
                      <a:pt x="495" y="1364"/>
                    </a:lnTo>
                    <a:lnTo>
                      <a:pt x="530" y="1363"/>
                    </a:lnTo>
                    <a:lnTo>
                      <a:pt x="564" y="1360"/>
                    </a:lnTo>
                    <a:lnTo>
                      <a:pt x="599" y="1355"/>
                    </a:lnTo>
                    <a:lnTo>
                      <a:pt x="632" y="1350"/>
                    </a:lnTo>
                    <a:lnTo>
                      <a:pt x="665" y="1343"/>
                    </a:lnTo>
                    <a:lnTo>
                      <a:pt x="698" y="1334"/>
                    </a:lnTo>
                    <a:lnTo>
                      <a:pt x="730" y="1322"/>
                    </a:lnTo>
                    <a:lnTo>
                      <a:pt x="760" y="1311"/>
                    </a:lnTo>
                    <a:lnTo>
                      <a:pt x="791" y="1296"/>
                    </a:lnTo>
                    <a:lnTo>
                      <a:pt x="819" y="1282"/>
                    </a:lnTo>
                    <a:lnTo>
                      <a:pt x="848" y="1265"/>
                    </a:lnTo>
                    <a:lnTo>
                      <a:pt x="876" y="1247"/>
                    </a:lnTo>
                    <a:lnTo>
                      <a:pt x="903" y="1229"/>
                    </a:lnTo>
                    <a:lnTo>
                      <a:pt x="929" y="1208"/>
                    </a:lnTo>
                    <a:lnTo>
                      <a:pt x="954" y="1187"/>
                    </a:lnTo>
                    <a:lnTo>
                      <a:pt x="977" y="1164"/>
                    </a:lnTo>
                    <a:lnTo>
                      <a:pt x="1000" y="1141"/>
                    </a:lnTo>
                    <a:lnTo>
                      <a:pt x="1021" y="1116"/>
                    </a:lnTo>
                    <a:lnTo>
                      <a:pt x="1042" y="1090"/>
                    </a:lnTo>
                    <a:lnTo>
                      <a:pt x="1060" y="1063"/>
                    </a:lnTo>
                    <a:lnTo>
                      <a:pt x="1078" y="1035"/>
                    </a:lnTo>
                    <a:lnTo>
                      <a:pt x="1095" y="1007"/>
                    </a:lnTo>
                    <a:lnTo>
                      <a:pt x="1109" y="978"/>
                    </a:lnTo>
                    <a:lnTo>
                      <a:pt x="1124" y="948"/>
                    </a:lnTo>
                    <a:lnTo>
                      <a:pt x="1135" y="917"/>
                    </a:lnTo>
                    <a:lnTo>
                      <a:pt x="1147" y="886"/>
                    </a:lnTo>
                    <a:lnTo>
                      <a:pt x="1155" y="852"/>
                    </a:lnTo>
                    <a:lnTo>
                      <a:pt x="1163" y="819"/>
                    </a:lnTo>
                    <a:lnTo>
                      <a:pt x="1168" y="786"/>
                    </a:lnTo>
                    <a:lnTo>
                      <a:pt x="1173" y="751"/>
                    </a:lnTo>
                    <a:lnTo>
                      <a:pt x="1176" y="717"/>
                    </a:lnTo>
                    <a:lnTo>
                      <a:pt x="1177" y="682"/>
                    </a:lnTo>
                    <a:lnTo>
                      <a:pt x="1177" y="682"/>
                    </a:lnTo>
                    <a:lnTo>
                      <a:pt x="1176" y="648"/>
                    </a:lnTo>
                    <a:lnTo>
                      <a:pt x="1173" y="613"/>
                    </a:lnTo>
                    <a:lnTo>
                      <a:pt x="1168" y="578"/>
                    </a:lnTo>
                    <a:lnTo>
                      <a:pt x="1163" y="545"/>
                    </a:lnTo>
                    <a:lnTo>
                      <a:pt x="1155" y="512"/>
                    </a:lnTo>
                    <a:lnTo>
                      <a:pt x="1147" y="480"/>
                    </a:lnTo>
                    <a:lnTo>
                      <a:pt x="1135" y="449"/>
                    </a:lnTo>
                    <a:lnTo>
                      <a:pt x="1124" y="417"/>
                    </a:lnTo>
                    <a:lnTo>
                      <a:pt x="1109" y="387"/>
                    </a:lnTo>
                    <a:lnTo>
                      <a:pt x="1095" y="358"/>
                    </a:lnTo>
                    <a:lnTo>
                      <a:pt x="1078" y="329"/>
                    </a:lnTo>
                    <a:lnTo>
                      <a:pt x="1060" y="302"/>
                    </a:lnTo>
                    <a:lnTo>
                      <a:pt x="1042" y="274"/>
                    </a:lnTo>
                    <a:lnTo>
                      <a:pt x="1021" y="248"/>
                    </a:lnTo>
                    <a:lnTo>
                      <a:pt x="1000" y="224"/>
                    </a:lnTo>
                    <a:lnTo>
                      <a:pt x="977" y="201"/>
                    </a:lnTo>
                    <a:lnTo>
                      <a:pt x="954" y="178"/>
                    </a:lnTo>
                    <a:lnTo>
                      <a:pt x="929" y="156"/>
                    </a:lnTo>
                    <a:lnTo>
                      <a:pt x="903" y="136"/>
                    </a:lnTo>
                    <a:lnTo>
                      <a:pt x="876" y="117"/>
                    </a:lnTo>
                    <a:lnTo>
                      <a:pt x="848" y="100"/>
                    </a:lnTo>
                    <a:lnTo>
                      <a:pt x="819" y="83"/>
                    </a:lnTo>
                    <a:lnTo>
                      <a:pt x="791" y="68"/>
                    </a:lnTo>
                    <a:lnTo>
                      <a:pt x="760" y="55"/>
                    </a:lnTo>
                    <a:lnTo>
                      <a:pt x="730" y="42"/>
                    </a:lnTo>
                    <a:lnTo>
                      <a:pt x="698" y="32"/>
                    </a:lnTo>
                    <a:lnTo>
                      <a:pt x="665" y="22"/>
                    </a:lnTo>
                    <a:lnTo>
                      <a:pt x="632" y="15"/>
                    </a:lnTo>
                    <a:lnTo>
                      <a:pt x="599" y="9"/>
                    </a:lnTo>
                    <a:lnTo>
                      <a:pt x="564" y="5"/>
                    </a:lnTo>
                    <a:lnTo>
                      <a:pt x="530" y="2"/>
                    </a:lnTo>
                    <a:lnTo>
                      <a:pt x="495" y="0"/>
                    </a:lnTo>
                    <a:lnTo>
                      <a:pt x="495" y="0"/>
                    </a:lnTo>
                    <a:close/>
                  </a:path>
                </a:pathLst>
              </a:custGeom>
              <a:solidFill>
                <a:srgbClr val="DB536A"/>
              </a:solidFill>
              <a:ln w="9525">
                <a:no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85" name="Freeform 9">
                <a:extLst>
                  <a:ext uri="{FF2B5EF4-FFF2-40B4-BE49-F238E27FC236}">
                    <a16:creationId xmlns:a16="http://schemas.microsoft.com/office/drawing/2014/main" id="{9429F477-795F-4E8F-B970-765F66ECADB4}"/>
                  </a:ext>
                </a:extLst>
              </p:cNvPr>
              <p:cNvSpPr>
                <a:spLocks/>
              </p:cNvSpPr>
              <p:nvPr/>
            </p:nvSpPr>
            <p:spPr bwMode="auto">
              <a:xfrm>
                <a:off x="6421103" y="1476376"/>
                <a:ext cx="2474867" cy="2133507"/>
              </a:xfrm>
              <a:custGeom>
                <a:avLst/>
                <a:gdLst>
                  <a:gd name="T0" fmla="*/ 612 w 1363"/>
                  <a:gd name="T1" fmla="*/ 3 h 1175"/>
                  <a:gd name="T2" fmla="*/ 479 w 1363"/>
                  <a:gd name="T3" fmla="*/ 30 h 1175"/>
                  <a:gd name="T4" fmla="*/ 356 w 1363"/>
                  <a:gd name="T5" fmla="*/ 82 h 1175"/>
                  <a:gd name="T6" fmla="*/ 248 w 1363"/>
                  <a:gd name="T7" fmla="*/ 156 h 1175"/>
                  <a:gd name="T8" fmla="*/ 156 w 1363"/>
                  <a:gd name="T9" fmla="*/ 248 h 1175"/>
                  <a:gd name="T10" fmla="*/ 82 w 1363"/>
                  <a:gd name="T11" fmla="*/ 356 h 1175"/>
                  <a:gd name="T12" fmla="*/ 30 w 1363"/>
                  <a:gd name="T13" fmla="*/ 478 h 1175"/>
                  <a:gd name="T14" fmla="*/ 3 w 1363"/>
                  <a:gd name="T15" fmla="*/ 611 h 1175"/>
                  <a:gd name="T16" fmla="*/ 0 w 1363"/>
                  <a:gd name="T17" fmla="*/ 711 h 1175"/>
                  <a:gd name="T18" fmla="*/ 10 w 1363"/>
                  <a:gd name="T19" fmla="*/ 800 h 1175"/>
                  <a:gd name="T20" fmla="*/ 105 w 1363"/>
                  <a:gd name="T21" fmla="*/ 823 h 1175"/>
                  <a:gd name="T22" fmla="*/ 195 w 1363"/>
                  <a:gd name="T23" fmla="*/ 860 h 1175"/>
                  <a:gd name="T24" fmla="*/ 353 w 1363"/>
                  <a:gd name="T25" fmla="*/ 969 h 1175"/>
                  <a:gd name="T26" fmla="*/ 289 w 1363"/>
                  <a:gd name="T27" fmla="*/ 873 h 1175"/>
                  <a:gd name="T28" fmla="*/ 261 w 1363"/>
                  <a:gd name="T29" fmla="*/ 800 h 1175"/>
                  <a:gd name="T30" fmla="*/ 247 w 1363"/>
                  <a:gd name="T31" fmla="*/ 722 h 1175"/>
                  <a:gd name="T32" fmla="*/ 245 w 1363"/>
                  <a:gd name="T33" fmla="*/ 659 h 1175"/>
                  <a:gd name="T34" fmla="*/ 258 w 1363"/>
                  <a:gd name="T35" fmla="*/ 572 h 1175"/>
                  <a:gd name="T36" fmla="*/ 287 w 1363"/>
                  <a:gd name="T37" fmla="*/ 491 h 1175"/>
                  <a:gd name="T38" fmla="*/ 332 w 1363"/>
                  <a:gd name="T39" fmla="*/ 419 h 1175"/>
                  <a:gd name="T40" fmla="*/ 388 w 1363"/>
                  <a:gd name="T41" fmla="*/ 357 h 1175"/>
                  <a:gd name="T42" fmla="*/ 454 w 1363"/>
                  <a:gd name="T43" fmla="*/ 307 h 1175"/>
                  <a:gd name="T44" fmla="*/ 531 w 1363"/>
                  <a:gd name="T45" fmla="*/ 271 h 1175"/>
                  <a:gd name="T46" fmla="*/ 614 w 1363"/>
                  <a:gd name="T47" fmla="*/ 249 h 1175"/>
                  <a:gd name="T48" fmla="*/ 681 w 1363"/>
                  <a:gd name="T49" fmla="*/ 244 h 1175"/>
                  <a:gd name="T50" fmla="*/ 769 w 1363"/>
                  <a:gd name="T51" fmla="*/ 254 h 1175"/>
                  <a:gd name="T52" fmla="*/ 851 w 1363"/>
                  <a:gd name="T53" fmla="*/ 278 h 1175"/>
                  <a:gd name="T54" fmla="*/ 926 w 1363"/>
                  <a:gd name="T55" fmla="*/ 318 h 1175"/>
                  <a:gd name="T56" fmla="*/ 991 w 1363"/>
                  <a:gd name="T57" fmla="*/ 372 h 1175"/>
                  <a:gd name="T58" fmla="*/ 1044 w 1363"/>
                  <a:gd name="T59" fmla="*/ 437 h 1175"/>
                  <a:gd name="T60" fmla="*/ 1083 w 1363"/>
                  <a:gd name="T61" fmla="*/ 512 h 1175"/>
                  <a:gd name="T62" fmla="*/ 1109 w 1363"/>
                  <a:gd name="T63" fmla="*/ 592 h 1175"/>
                  <a:gd name="T64" fmla="*/ 1118 w 1363"/>
                  <a:gd name="T65" fmla="*/ 680 h 1175"/>
                  <a:gd name="T66" fmla="*/ 1113 w 1363"/>
                  <a:gd name="T67" fmla="*/ 742 h 1175"/>
                  <a:gd name="T68" fmla="*/ 1096 w 1363"/>
                  <a:gd name="T69" fmla="*/ 819 h 1175"/>
                  <a:gd name="T70" fmla="*/ 1056 w 1363"/>
                  <a:gd name="T71" fmla="*/ 907 h 1175"/>
                  <a:gd name="T72" fmla="*/ 994 w 1363"/>
                  <a:gd name="T73" fmla="*/ 986 h 1175"/>
                  <a:gd name="T74" fmla="*/ 1165 w 1363"/>
                  <a:gd name="T75" fmla="*/ 1159 h 1175"/>
                  <a:gd name="T76" fmla="*/ 1243 w 1363"/>
                  <a:gd name="T77" fmla="*/ 1068 h 1175"/>
                  <a:gd name="T78" fmla="*/ 1312 w 1363"/>
                  <a:gd name="T79" fmla="*/ 941 h 1175"/>
                  <a:gd name="T80" fmla="*/ 1343 w 1363"/>
                  <a:gd name="T81" fmla="*/ 848 h 1175"/>
                  <a:gd name="T82" fmla="*/ 1357 w 1363"/>
                  <a:gd name="T83" fmla="*/ 770 h 1175"/>
                  <a:gd name="T84" fmla="*/ 1363 w 1363"/>
                  <a:gd name="T85" fmla="*/ 680 h 1175"/>
                  <a:gd name="T86" fmla="*/ 1350 w 1363"/>
                  <a:gd name="T87" fmla="*/ 543 h 1175"/>
                  <a:gd name="T88" fmla="*/ 1310 w 1363"/>
                  <a:gd name="T89" fmla="*/ 415 h 1175"/>
                  <a:gd name="T90" fmla="*/ 1246 w 1363"/>
                  <a:gd name="T91" fmla="*/ 300 h 1175"/>
                  <a:gd name="T92" fmla="*/ 1164 w 1363"/>
                  <a:gd name="T93" fmla="*/ 199 h 1175"/>
                  <a:gd name="T94" fmla="*/ 1063 w 1363"/>
                  <a:gd name="T95" fmla="*/ 115 h 1175"/>
                  <a:gd name="T96" fmla="*/ 946 w 1363"/>
                  <a:gd name="T97" fmla="*/ 53 h 1175"/>
                  <a:gd name="T98" fmla="*/ 819 w 1363"/>
                  <a:gd name="T99" fmla="*/ 13 h 1175"/>
                  <a:gd name="T100" fmla="*/ 681 w 1363"/>
                  <a:gd name="T101" fmla="*/ 0 h 1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63" h="1175">
                    <a:moveTo>
                      <a:pt x="681" y="0"/>
                    </a:moveTo>
                    <a:lnTo>
                      <a:pt x="681" y="0"/>
                    </a:lnTo>
                    <a:lnTo>
                      <a:pt x="646" y="0"/>
                    </a:lnTo>
                    <a:lnTo>
                      <a:pt x="612" y="3"/>
                    </a:lnTo>
                    <a:lnTo>
                      <a:pt x="577" y="7"/>
                    </a:lnTo>
                    <a:lnTo>
                      <a:pt x="544" y="13"/>
                    </a:lnTo>
                    <a:lnTo>
                      <a:pt x="511" y="22"/>
                    </a:lnTo>
                    <a:lnTo>
                      <a:pt x="479" y="30"/>
                    </a:lnTo>
                    <a:lnTo>
                      <a:pt x="447" y="40"/>
                    </a:lnTo>
                    <a:lnTo>
                      <a:pt x="415" y="53"/>
                    </a:lnTo>
                    <a:lnTo>
                      <a:pt x="385" y="66"/>
                    </a:lnTo>
                    <a:lnTo>
                      <a:pt x="356" y="82"/>
                    </a:lnTo>
                    <a:lnTo>
                      <a:pt x="327" y="98"/>
                    </a:lnTo>
                    <a:lnTo>
                      <a:pt x="300" y="115"/>
                    </a:lnTo>
                    <a:lnTo>
                      <a:pt x="274" y="135"/>
                    </a:lnTo>
                    <a:lnTo>
                      <a:pt x="248" y="156"/>
                    </a:lnTo>
                    <a:lnTo>
                      <a:pt x="224" y="176"/>
                    </a:lnTo>
                    <a:lnTo>
                      <a:pt x="199" y="199"/>
                    </a:lnTo>
                    <a:lnTo>
                      <a:pt x="176" y="223"/>
                    </a:lnTo>
                    <a:lnTo>
                      <a:pt x="156" y="248"/>
                    </a:lnTo>
                    <a:lnTo>
                      <a:pt x="136" y="274"/>
                    </a:lnTo>
                    <a:lnTo>
                      <a:pt x="115" y="300"/>
                    </a:lnTo>
                    <a:lnTo>
                      <a:pt x="98" y="327"/>
                    </a:lnTo>
                    <a:lnTo>
                      <a:pt x="82" y="356"/>
                    </a:lnTo>
                    <a:lnTo>
                      <a:pt x="66" y="385"/>
                    </a:lnTo>
                    <a:lnTo>
                      <a:pt x="53" y="415"/>
                    </a:lnTo>
                    <a:lnTo>
                      <a:pt x="41" y="447"/>
                    </a:lnTo>
                    <a:lnTo>
                      <a:pt x="30" y="478"/>
                    </a:lnTo>
                    <a:lnTo>
                      <a:pt x="20" y="510"/>
                    </a:lnTo>
                    <a:lnTo>
                      <a:pt x="13" y="543"/>
                    </a:lnTo>
                    <a:lnTo>
                      <a:pt x="7" y="577"/>
                    </a:lnTo>
                    <a:lnTo>
                      <a:pt x="3" y="611"/>
                    </a:lnTo>
                    <a:lnTo>
                      <a:pt x="0" y="646"/>
                    </a:lnTo>
                    <a:lnTo>
                      <a:pt x="0" y="680"/>
                    </a:lnTo>
                    <a:lnTo>
                      <a:pt x="0" y="680"/>
                    </a:lnTo>
                    <a:lnTo>
                      <a:pt x="0" y="711"/>
                    </a:lnTo>
                    <a:lnTo>
                      <a:pt x="2" y="741"/>
                    </a:lnTo>
                    <a:lnTo>
                      <a:pt x="6" y="770"/>
                    </a:lnTo>
                    <a:lnTo>
                      <a:pt x="10" y="800"/>
                    </a:lnTo>
                    <a:lnTo>
                      <a:pt x="10" y="800"/>
                    </a:lnTo>
                    <a:lnTo>
                      <a:pt x="35" y="804"/>
                    </a:lnTo>
                    <a:lnTo>
                      <a:pt x="58" y="810"/>
                    </a:lnTo>
                    <a:lnTo>
                      <a:pt x="82" y="816"/>
                    </a:lnTo>
                    <a:lnTo>
                      <a:pt x="105" y="823"/>
                    </a:lnTo>
                    <a:lnTo>
                      <a:pt x="128" y="832"/>
                    </a:lnTo>
                    <a:lnTo>
                      <a:pt x="152" y="840"/>
                    </a:lnTo>
                    <a:lnTo>
                      <a:pt x="173" y="850"/>
                    </a:lnTo>
                    <a:lnTo>
                      <a:pt x="195" y="860"/>
                    </a:lnTo>
                    <a:lnTo>
                      <a:pt x="238" y="884"/>
                    </a:lnTo>
                    <a:lnTo>
                      <a:pt x="278" y="910"/>
                    </a:lnTo>
                    <a:lnTo>
                      <a:pt x="317" y="938"/>
                    </a:lnTo>
                    <a:lnTo>
                      <a:pt x="353" y="969"/>
                    </a:lnTo>
                    <a:lnTo>
                      <a:pt x="353" y="969"/>
                    </a:lnTo>
                    <a:lnTo>
                      <a:pt x="329" y="938"/>
                    </a:lnTo>
                    <a:lnTo>
                      <a:pt x="307" y="907"/>
                    </a:lnTo>
                    <a:lnTo>
                      <a:pt x="289" y="873"/>
                    </a:lnTo>
                    <a:lnTo>
                      <a:pt x="281" y="856"/>
                    </a:lnTo>
                    <a:lnTo>
                      <a:pt x="274" y="837"/>
                    </a:lnTo>
                    <a:lnTo>
                      <a:pt x="267" y="819"/>
                    </a:lnTo>
                    <a:lnTo>
                      <a:pt x="261" y="800"/>
                    </a:lnTo>
                    <a:lnTo>
                      <a:pt x="255" y="781"/>
                    </a:lnTo>
                    <a:lnTo>
                      <a:pt x="252" y="761"/>
                    </a:lnTo>
                    <a:lnTo>
                      <a:pt x="248" y="742"/>
                    </a:lnTo>
                    <a:lnTo>
                      <a:pt x="247" y="722"/>
                    </a:lnTo>
                    <a:lnTo>
                      <a:pt x="245" y="702"/>
                    </a:lnTo>
                    <a:lnTo>
                      <a:pt x="244" y="680"/>
                    </a:lnTo>
                    <a:lnTo>
                      <a:pt x="244" y="680"/>
                    </a:lnTo>
                    <a:lnTo>
                      <a:pt x="245" y="659"/>
                    </a:lnTo>
                    <a:lnTo>
                      <a:pt x="247" y="636"/>
                    </a:lnTo>
                    <a:lnTo>
                      <a:pt x="250" y="614"/>
                    </a:lnTo>
                    <a:lnTo>
                      <a:pt x="254" y="592"/>
                    </a:lnTo>
                    <a:lnTo>
                      <a:pt x="258" y="572"/>
                    </a:lnTo>
                    <a:lnTo>
                      <a:pt x="264" y="551"/>
                    </a:lnTo>
                    <a:lnTo>
                      <a:pt x="271" y="530"/>
                    </a:lnTo>
                    <a:lnTo>
                      <a:pt x="278" y="512"/>
                    </a:lnTo>
                    <a:lnTo>
                      <a:pt x="287" y="491"/>
                    </a:lnTo>
                    <a:lnTo>
                      <a:pt x="297" y="473"/>
                    </a:lnTo>
                    <a:lnTo>
                      <a:pt x="307" y="454"/>
                    </a:lnTo>
                    <a:lnTo>
                      <a:pt x="319" y="437"/>
                    </a:lnTo>
                    <a:lnTo>
                      <a:pt x="332" y="419"/>
                    </a:lnTo>
                    <a:lnTo>
                      <a:pt x="345" y="404"/>
                    </a:lnTo>
                    <a:lnTo>
                      <a:pt x="358" y="388"/>
                    </a:lnTo>
                    <a:lnTo>
                      <a:pt x="372" y="372"/>
                    </a:lnTo>
                    <a:lnTo>
                      <a:pt x="388" y="357"/>
                    </a:lnTo>
                    <a:lnTo>
                      <a:pt x="404" y="344"/>
                    </a:lnTo>
                    <a:lnTo>
                      <a:pt x="420" y="331"/>
                    </a:lnTo>
                    <a:lnTo>
                      <a:pt x="437" y="318"/>
                    </a:lnTo>
                    <a:lnTo>
                      <a:pt x="454" y="307"/>
                    </a:lnTo>
                    <a:lnTo>
                      <a:pt x="473" y="297"/>
                    </a:lnTo>
                    <a:lnTo>
                      <a:pt x="492" y="287"/>
                    </a:lnTo>
                    <a:lnTo>
                      <a:pt x="511" y="278"/>
                    </a:lnTo>
                    <a:lnTo>
                      <a:pt x="531" y="271"/>
                    </a:lnTo>
                    <a:lnTo>
                      <a:pt x="551" y="264"/>
                    </a:lnTo>
                    <a:lnTo>
                      <a:pt x="573" y="258"/>
                    </a:lnTo>
                    <a:lnTo>
                      <a:pt x="593" y="254"/>
                    </a:lnTo>
                    <a:lnTo>
                      <a:pt x="614" y="249"/>
                    </a:lnTo>
                    <a:lnTo>
                      <a:pt x="636" y="246"/>
                    </a:lnTo>
                    <a:lnTo>
                      <a:pt x="659" y="245"/>
                    </a:lnTo>
                    <a:lnTo>
                      <a:pt x="681" y="244"/>
                    </a:lnTo>
                    <a:lnTo>
                      <a:pt x="681" y="244"/>
                    </a:lnTo>
                    <a:lnTo>
                      <a:pt x="704" y="245"/>
                    </a:lnTo>
                    <a:lnTo>
                      <a:pt x="725" y="246"/>
                    </a:lnTo>
                    <a:lnTo>
                      <a:pt x="747" y="249"/>
                    </a:lnTo>
                    <a:lnTo>
                      <a:pt x="769" y="254"/>
                    </a:lnTo>
                    <a:lnTo>
                      <a:pt x="790" y="258"/>
                    </a:lnTo>
                    <a:lnTo>
                      <a:pt x="811" y="264"/>
                    </a:lnTo>
                    <a:lnTo>
                      <a:pt x="832" y="271"/>
                    </a:lnTo>
                    <a:lnTo>
                      <a:pt x="851" y="278"/>
                    </a:lnTo>
                    <a:lnTo>
                      <a:pt x="871" y="287"/>
                    </a:lnTo>
                    <a:lnTo>
                      <a:pt x="890" y="297"/>
                    </a:lnTo>
                    <a:lnTo>
                      <a:pt x="907" y="307"/>
                    </a:lnTo>
                    <a:lnTo>
                      <a:pt x="926" y="318"/>
                    </a:lnTo>
                    <a:lnTo>
                      <a:pt x="943" y="331"/>
                    </a:lnTo>
                    <a:lnTo>
                      <a:pt x="959" y="344"/>
                    </a:lnTo>
                    <a:lnTo>
                      <a:pt x="975" y="357"/>
                    </a:lnTo>
                    <a:lnTo>
                      <a:pt x="991" y="372"/>
                    </a:lnTo>
                    <a:lnTo>
                      <a:pt x="1005" y="388"/>
                    </a:lnTo>
                    <a:lnTo>
                      <a:pt x="1018" y="404"/>
                    </a:lnTo>
                    <a:lnTo>
                      <a:pt x="1031" y="419"/>
                    </a:lnTo>
                    <a:lnTo>
                      <a:pt x="1044" y="437"/>
                    </a:lnTo>
                    <a:lnTo>
                      <a:pt x="1054" y="454"/>
                    </a:lnTo>
                    <a:lnTo>
                      <a:pt x="1066" y="473"/>
                    </a:lnTo>
                    <a:lnTo>
                      <a:pt x="1074" y="491"/>
                    </a:lnTo>
                    <a:lnTo>
                      <a:pt x="1083" y="512"/>
                    </a:lnTo>
                    <a:lnTo>
                      <a:pt x="1092" y="530"/>
                    </a:lnTo>
                    <a:lnTo>
                      <a:pt x="1099" y="551"/>
                    </a:lnTo>
                    <a:lnTo>
                      <a:pt x="1105" y="572"/>
                    </a:lnTo>
                    <a:lnTo>
                      <a:pt x="1109" y="592"/>
                    </a:lnTo>
                    <a:lnTo>
                      <a:pt x="1113" y="614"/>
                    </a:lnTo>
                    <a:lnTo>
                      <a:pt x="1116" y="636"/>
                    </a:lnTo>
                    <a:lnTo>
                      <a:pt x="1118" y="659"/>
                    </a:lnTo>
                    <a:lnTo>
                      <a:pt x="1118" y="680"/>
                    </a:lnTo>
                    <a:lnTo>
                      <a:pt x="1118" y="680"/>
                    </a:lnTo>
                    <a:lnTo>
                      <a:pt x="1118" y="702"/>
                    </a:lnTo>
                    <a:lnTo>
                      <a:pt x="1116" y="722"/>
                    </a:lnTo>
                    <a:lnTo>
                      <a:pt x="1113" y="742"/>
                    </a:lnTo>
                    <a:lnTo>
                      <a:pt x="1111" y="761"/>
                    </a:lnTo>
                    <a:lnTo>
                      <a:pt x="1106" y="781"/>
                    </a:lnTo>
                    <a:lnTo>
                      <a:pt x="1102" y="800"/>
                    </a:lnTo>
                    <a:lnTo>
                      <a:pt x="1096" y="819"/>
                    </a:lnTo>
                    <a:lnTo>
                      <a:pt x="1089" y="837"/>
                    </a:lnTo>
                    <a:lnTo>
                      <a:pt x="1082" y="856"/>
                    </a:lnTo>
                    <a:lnTo>
                      <a:pt x="1073" y="873"/>
                    </a:lnTo>
                    <a:lnTo>
                      <a:pt x="1056" y="907"/>
                    </a:lnTo>
                    <a:lnTo>
                      <a:pt x="1034" y="938"/>
                    </a:lnTo>
                    <a:lnTo>
                      <a:pt x="1010" y="969"/>
                    </a:lnTo>
                    <a:lnTo>
                      <a:pt x="1010" y="969"/>
                    </a:lnTo>
                    <a:lnTo>
                      <a:pt x="994" y="986"/>
                    </a:lnTo>
                    <a:lnTo>
                      <a:pt x="976" y="1003"/>
                    </a:lnTo>
                    <a:lnTo>
                      <a:pt x="1149" y="1175"/>
                    </a:lnTo>
                    <a:lnTo>
                      <a:pt x="1149" y="1175"/>
                    </a:lnTo>
                    <a:lnTo>
                      <a:pt x="1165" y="1159"/>
                    </a:lnTo>
                    <a:lnTo>
                      <a:pt x="1183" y="1142"/>
                    </a:lnTo>
                    <a:lnTo>
                      <a:pt x="1183" y="1142"/>
                    </a:lnTo>
                    <a:lnTo>
                      <a:pt x="1214" y="1106"/>
                    </a:lnTo>
                    <a:lnTo>
                      <a:pt x="1243" y="1068"/>
                    </a:lnTo>
                    <a:lnTo>
                      <a:pt x="1269" y="1028"/>
                    </a:lnTo>
                    <a:lnTo>
                      <a:pt x="1292" y="984"/>
                    </a:lnTo>
                    <a:lnTo>
                      <a:pt x="1302" y="963"/>
                    </a:lnTo>
                    <a:lnTo>
                      <a:pt x="1312" y="941"/>
                    </a:lnTo>
                    <a:lnTo>
                      <a:pt x="1321" y="918"/>
                    </a:lnTo>
                    <a:lnTo>
                      <a:pt x="1328" y="895"/>
                    </a:lnTo>
                    <a:lnTo>
                      <a:pt x="1335" y="872"/>
                    </a:lnTo>
                    <a:lnTo>
                      <a:pt x="1343" y="848"/>
                    </a:lnTo>
                    <a:lnTo>
                      <a:pt x="1348" y="823"/>
                    </a:lnTo>
                    <a:lnTo>
                      <a:pt x="1353" y="800"/>
                    </a:lnTo>
                    <a:lnTo>
                      <a:pt x="1353" y="800"/>
                    </a:lnTo>
                    <a:lnTo>
                      <a:pt x="1357" y="770"/>
                    </a:lnTo>
                    <a:lnTo>
                      <a:pt x="1360" y="741"/>
                    </a:lnTo>
                    <a:lnTo>
                      <a:pt x="1363" y="711"/>
                    </a:lnTo>
                    <a:lnTo>
                      <a:pt x="1363" y="680"/>
                    </a:lnTo>
                    <a:lnTo>
                      <a:pt x="1363" y="680"/>
                    </a:lnTo>
                    <a:lnTo>
                      <a:pt x="1363" y="646"/>
                    </a:lnTo>
                    <a:lnTo>
                      <a:pt x="1360" y="611"/>
                    </a:lnTo>
                    <a:lnTo>
                      <a:pt x="1356" y="577"/>
                    </a:lnTo>
                    <a:lnTo>
                      <a:pt x="1350" y="543"/>
                    </a:lnTo>
                    <a:lnTo>
                      <a:pt x="1341" y="510"/>
                    </a:lnTo>
                    <a:lnTo>
                      <a:pt x="1333" y="478"/>
                    </a:lnTo>
                    <a:lnTo>
                      <a:pt x="1321" y="447"/>
                    </a:lnTo>
                    <a:lnTo>
                      <a:pt x="1310" y="415"/>
                    </a:lnTo>
                    <a:lnTo>
                      <a:pt x="1295" y="385"/>
                    </a:lnTo>
                    <a:lnTo>
                      <a:pt x="1281" y="356"/>
                    </a:lnTo>
                    <a:lnTo>
                      <a:pt x="1265" y="327"/>
                    </a:lnTo>
                    <a:lnTo>
                      <a:pt x="1246" y="300"/>
                    </a:lnTo>
                    <a:lnTo>
                      <a:pt x="1227" y="274"/>
                    </a:lnTo>
                    <a:lnTo>
                      <a:pt x="1207" y="248"/>
                    </a:lnTo>
                    <a:lnTo>
                      <a:pt x="1185" y="223"/>
                    </a:lnTo>
                    <a:lnTo>
                      <a:pt x="1164" y="199"/>
                    </a:lnTo>
                    <a:lnTo>
                      <a:pt x="1139" y="176"/>
                    </a:lnTo>
                    <a:lnTo>
                      <a:pt x="1115" y="156"/>
                    </a:lnTo>
                    <a:lnTo>
                      <a:pt x="1089" y="135"/>
                    </a:lnTo>
                    <a:lnTo>
                      <a:pt x="1063" y="115"/>
                    </a:lnTo>
                    <a:lnTo>
                      <a:pt x="1036" y="98"/>
                    </a:lnTo>
                    <a:lnTo>
                      <a:pt x="1007" y="82"/>
                    </a:lnTo>
                    <a:lnTo>
                      <a:pt x="976" y="66"/>
                    </a:lnTo>
                    <a:lnTo>
                      <a:pt x="946" y="53"/>
                    </a:lnTo>
                    <a:lnTo>
                      <a:pt x="916" y="40"/>
                    </a:lnTo>
                    <a:lnTo>
                      <a:pt x="884" y="30"/>
                    </a:lnTo>
                    <a:lnTo>
                      <a:pt x="852" y="22"/>
                    </a:lnTo>
                    <a:lnTo>
                      <a:pt x="819" y="13"/>
                    </a:lnTo>
                    <a:lnTo>
                      <a:pt x="785" y="7"/>
                    </a:lnTo>
                    <a:lnTo>
                      <a:pt x="751" y="3"/>
                    </a:lnTo>
                    <a:lnTo>
                      <a:pt x="717" y="0"/>
                    </a:lnTo>
                    <a:lnTo>
                      <a:pt x="681" y="0"/>
                    </a:lnTo>
                    <a:lnTo>
                      <a:pt x="681" y="0"/>
                    </a:lnTo>
                    <a:close/>
                  </a:path>
                </a:pathLst>
              </a:custGeom>
              <a:solidFill>
                <a:srgbClr val="EB8C00"/>
              </a:solidFill>
              <a:ln w="9525">
                <a:noFill/>
                <a:prstDash val="solid"/>
                <a:round/>
                <a:headEnd/>
                <a:tailEnd/>
              </a:ln>
            </p:spPr>
            <p:txBody>
              <a:bodyPr vert="horz" wrap="square" lIns="91440" tIns="45720" rIns="91440" bIns="45720" numCol="1" anchor="t" anchorCtr="0" compatLnSpc="1">
                <a:prstTxWarp prst="textNoShape">
                  <a:avLst/>
                </a:prstTxWarp>
              </a:bodyPr>
              <a:lstStyle/>
              <a:p>
                <a:endParaRPr lang="en-GB" dirty="0">
                  <a:latin typeface="+mj-lt"/>
                </a:endParaRPr>
              </a:p>
            </p:txBody>
          </p:sp>
          <p:sp>
            <p:nvSpPr>
              <p:cNvPr id="86" name="Freeform 10">
                <a:extLst>
                  <a:ext uri="{FF2B5EF4-FFF2-40B4-BE49-F238E27FC236}">
                    <a16:creationId xmlns:a16="http://schemas.microsoft.com/office/drawing/2014/main" id="{83812E92-83EF-4BD2-B8A0-4F6964DBC7C2}"/>
                  </a:ext>
                </a:extLst>
              </p:cNvPr>
              <p:cNvSpPr>
                <a:spLocks/>
              </p:cNvSpPr>
              <p:nvPr/>
            </p:nvSpPr>
            <p:spPr bwMode="auto">
              <a:xfrm>
                <a:off x="4986660" y="2907187"/>
                <a:ext cx="2137138" cy="2475957"/>
              </a:xfrm>
              <a:custGeom>
                <a:avLst/>
                <a:gdLst>
                  <a:gd name="T0" fmla="*/ 1068 w 1177"/>
                  <a:gd name="T1" fmla="*/ 122 h 1364"/>
                  <a:gd name="T2" fmla="*/ 942 w 1177"/>
                  <a:gd name="T3" fmla="*/ 52 h 1364"/>
                  <a:gd name="T4" fmla="*/ 848 w 1177"/>
                  <a:gd name="T5" fmla="*/ 22 h 1364"/>
                  <a:gd name="T6" fmla="*/ 771 w 1177"/>
                  <a:gd name="T7" fmla="*/ 6 h 1364"/>
                  <a:gd name="T8" fmla="*/ 682 w 1177"/>
                  <a:gd name="T9" fmla="*/ 0 h 1364"/>
                  <a:gd name="T10" fmla="*/ 544 w 1177"/>
                  <a:gd name="T11" fmla="*/ 15 h 1364"/>
                  <a:gd name="T12" fmla="*/ 417 w 1177"/>
                  <a:gd name="T13" fmla="*/ 55 h 1364"/>
                  <a:gd name="T14" fmla="*/ 300 w 1177"/>
                  <a:gd name="T15" fmla="*/ 117 h 1364"/>
                  <a:gd name="T16" fmla="*/ 199 w 1177"/>
                  <a:gd name="T17" fmla="*/ 201 h 1364"/>
                  <a:gd name="T18" fmla="*/ 117 w 1177"/>
                  <a:gd name="T19" fmla="*/ 302 h 1364"/>
                  <a:gd name="T20" fmla="*/ 53 w 1177"/>
                  <a:gd name="T21" fmla="*/ 417 h 1364"/>
                  <a:gd name="T22" fmla="*/ 14 w 1177"/>
                  <a:gd name="T23" fmla="*/ 545 h 1364"/>
                  <a:gd name="T24" fmla="*/ 0 w 1177"/>
                  <a:gd name="T25" fmla="*/ 682 h 1364"/>
                  <a:gd name="T26" fmla="*/ 7 w 1177"/>
                  <a:gd name="T27" fmla="*/ 786 h 1364"/>
                  <a:gd name="T28" fmla="*/ 42 w 1177"/>
                  <a:gd name="T29" fmla="*/ 917 h 1364"/>
                  <a:gd name="T30" fmla="*/ 98 w 1177"/>
                  <a:gd name="T31" fmla="*/ 1035 h 1364"/>
                  <a:gd name="T32" fmla="*/ 177 w 1177"/>
                  <a:gd name="T33" fmla="*/ 1141 h 1364"/>
                  <a:gd name="T34" fmla="*/ 274 w 1177"/>
                  <a:gd name="T35" fmla="*/ 1229 h 1364"/>
                  <a:gd name="T36" fmla="*/ 386 w 1177"/>
                  <a:gd name="T37" fmla="*/ 1296 h 1364"/>
                  <a:gd name="T38" fmla="*/ 512 w 1177"/>
                  <a:gd name="T39" fmla="*/ 1343 h 1364"/>
                  <a:gd name="T40" fmla="*/ 646 w 1177"/>
                  <a:gd name="T41" fmla="*/ 1363 h 1364"/>
                  <a:gd name="T42" fmla="*/ 741 w 1177"/>
                  <a:gd name="T43" fmla="*/ 1361 h 1364"/>
                  <a:gd name="T44" fmla="*/ 805 w 1177"/>
                  <a:gd name="T45" fmla="*/ 1330 h 1364"/>
                  <a:gd name="T46" fmla="*/ 832 w 1177"/>
                  <a:gd name="T47" fmla="*/ 1234 h 1364"/>
                  <a:gd name="T48" fmla="*/ 884 w 1177"/>
                  <a:gd name="T49" fmla="*/ 1126 h 1364"/>
                  <a:gd name="T50" fmla="*/ 969 w 1177"/>
                  <a:gd name="T51" fmla="*/ 1011 h 1364"/>
                  <a:gd name="T52" fmla="*/ 856 w 1177"/>
                  <a:gd name="T53" fmla="*/ 1083 h 1364"/>
                  <a:gd name="T54" fmla="*/ 781 w 1177"/>
                  <a:gd name="T55" fmla="*/ 1108 h 1364"/>
                  <a:gd name="T56" fmla="*/ 702 w 1177"/>
                  <a:gd name="T57" fmla="*/ 1119 h 1364"/>
                  <a:gd name="T58" fmla="*/ 637 w 1177"/>
                  <a:gd name="T59" fmla="*/ 1116 h 1364"/>
                  <a:gd name="T60" fmla="*/ 552 w 1177"/>
                  <a:gd name="T61" fmla="*/ 1099 h 1364"/>
                  <a:gd name="T62" fmla="*/ 473 w 1177"/>
                  <a:gd name="T63" fmla="*/ 1067 h 1364"/>
                  <a:gd name="T64" fmla="*/ 404 w 1177"/>
                  <a:gd name="T65" fmla="*/ 1020 h 1364"/>
                  <a:gd name="T66" fmla="*/ 345 w 1177"/>
                  <a:gd name="T67" fmla="*/ 961 h 1364"/>
                  <a:gd name="T68" fmla="*/ 297 w 1177"/>
                  <a:gd name="T69" fmla="*/ 891 h 1364"/>
                  <a:gd name="T70" fmla="*/ 264 w 1177"/>
                  <a:gd name="T71" fmla="*/ 812 h 1364"/>
                  <a:gd name="T72" fmla="*/ 246 w 1177"/>
                  <a:gd name="T73" fmla="*/ 727 h 1364"/>
                  <a:gd name="T74" fmla="*/ 245 w 1177"/>
                  <a:gd name="T75" fmla="*/ 661 h 1364"/>
                  <a:gd name="T76" fmla="*/ 258 w 1177"/>
                  <a:gd name="T77" fmla="*/ 573 h 1364"/>
                  <a:gd name="T78" fmla="*/ 288 w 1177"/>
                  <a:gd name="T79" fmla="*/ 493 h 1364"/>
                  <a:gd name="T80" fmla="*/ 332 w 1177"/>
                  <a:gd name="T81" fmla="*/ 421 h 1364"/>
                  <a:gd name="T82" fmla="*/ 388 w 1177"/>
                  <a:gd name="T83" fmla="*/ 359 h 1364"/>
                  <a:gd name="T84" fmla="*/ 456 w 1177"/>
                  <a:gd name="T85" fmla="*/ 309 h 1364"/>
                  <a:gd name="T86" fmla="*/ 531 w 1177"/>
                  <a:gd name="T87" fmla="*/ 273 h 1364"/>
                  <a:gd name="T88" fmla="*/ 616 w 1177"/>
                  <a:gd name="T89" fmla="*/ 251 h 1364"/>
                  <a:gd name="T90" fmla="*/ 682 w 1177"/>
                  <a:gd name="T91" fmla="*/ 245 h 1364"/>
                  <a:gd name="T92" fmla="*/ 763 w 1177"/>
                  <a:gd name="T93" fmla="*/ 253 h 1364"/>
                  <a:gd name="T94" fmla="*/ 838 w 1177"/>
                  <a:gd name="T95" fmla="*/ 274 h 1364"/>
                  <a:gd name="T96" fmla="*/ 940 w 1177"/>
                  <a:gd name="T97" fmla="*/ 331 h 1364"/>
                  <a:gd name="T98" fmla="*/ 1004 w 1177"/>
                  <a:gd name="T99" fmla="*/ 387 h 1364"/>
                  <a:gd name="T100" fmla="*/ 1143 w 1177"/>
                  <a:gd name="T101" fmla="*/ 181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77" h="1364">
                    <a:moveTo>
                      <a:pt x="1143" y="181"/>
                    </a:moveTo>
                    <a:lnTo>
                      <a:pt x="1143" y="181"/>
                    </a:lnTo>
                    <a:lnTo>
                      <a:pt x="1107" y="150"/>
                    </a:lnTo>
                    <a:lnTo>
                      <a:pt x="1068" y="122"/>
                    </a:lnTo>
                    <a:lnTo>
                      <a:pt x="1028" y="96"/>
                    </a:lnTo>
                    <a:lnTo>
                      <a:pt x="985" y="72"/>
                    </a:lnTo>
                    <a:lnTo>
                      <a:pt x="963" y="62"/>
                    </a:lnTo>
                    <a:lnTo>
                      <a:pt x="942" y="52"/>
                    </a:lnTo>
                    <a:lnTo>
                      <a:pt x="918" y="44"/>
                    </a:lnTo>
                    <a:lnTo>
                      <a:pt x="895" y="35"/>
                    </a:lnTo>
                    <a:lnTo>
                      <a:pt x="872" y="28"/>
                    </a:lnTo>
                    <a:lnTo>
                      <a:pt x="848" y="22"/>
                    </a:lnTo>
                    <a:lnTo>
                      <a:pt x="825" y="16"/>
                    </a:lnTo>
                    <a:lnTo>
                      <a:pt x="800" y="12"/>
                    </a:lnTo>
                    <a:lnTo>
                      <a:pt x="800" y="12"/>
                    </a:lnTo>
                    <a:lnTo>
                      <a:pt x="771" y="6"/>
                    </a:lnTo>
                    <a:lnTo>
                      <a:pt x="741" y="3"/>
                    </a:lnTo>
                    <a:lnTo>
                      <a:pt x="712" y="2"/>
                    </a:lnTo>
                    <a:lnTo>
                      <a:pt x="682" y="0"/>
                    </a:lnTo>
                    <a:lnTo>
                      <a:pt x="682" y="0"/>
                    </a:lnTo>
                    <a:lnTo>
                      <a:pt x="646" y="2"/>
                    </a:lnTo>
                    <a:lnTo>
                      <a:pt x="611" y="5"/>
                    </a:lnTo>
                    <a:lnTo>
                      <a:pt x="578" y="9"/>
                    </a:lnTo>
                    <a:lnTo>
                      <a:pt x="544" y="15"/>
                    </a:lnTo>
                    <a:lnTo>
                      <a:pt x="510" y="22"/>
                    </a:lnTo>
                    <a:lnTo>
                      <a:pt x="479" y="32"/>
                    </a:lnTo>
                    <a:lnTo>
                      <a:pt x="447" y="42"/>
                    </a:lnTo>
                    <a:lnTo>
                      <a:pt x="417" y="55"/>
                    </a:lnTo>
                    <a:lnTo>
                      <a:pt x="386" y="68"/>
                    </a:lnTo>
                    <a:lnTo>
                      <a:pt x="356" y="83"/>
                    </a:lnTo>
                    <a:lnTo>
                      <a:pt x="329" y="100"/>
                    </a:lnTo>
                    <a:lnTo>
                      <a:pt x="300" y="117"/>
                    </a:lnTo>
                    <a:lnTo>
                      <a:pt x="274" y="136"/>
                    </a:lnTo>
                    <a:lnTo>
                      <a:pt x="248" y="156"/>
                    </a:lnTo>
                    <a:lnTo>
                      <a:pt x="223" y="178"/>
                    </a:lnTo>
                    <a:lnTo>
                      <a:pt x="199" y="201"/>
                    </a:lnTo>
                    <a:lnTo>
                      <a:pt x="177" y="224"/>
                    </a:lnTo>
                    <a:lnTo>
                      <a:pt x="156" y="248"/>
                    </a:lnTo>
                    <a:lnTo>
                      <a:pt x="135" y="274"/>
                    </a:lnTo>
                    <a:lnTo>
                      <a:pt x="117" y="302"/>
                    </a:lnTo>
                    <a:lnTo>
                      <a:pt x="98" y="329"/>
                    </a:lnTo>
                    <a:lnTo>
                      <a:pt x="82" y="358"/>
                    </a:lnTo>
                    <a:lnTo>
                      <a:pt x="68" y="387"/>
                    </a:lnTo>
                    <a:lnTo>
                      <a:pt x="53" y="417"/>
                    </a:lnTo>
                    <a:lnTo>
                      <a:pt x="42" y="449"/>
                    </a:lnTo>
                    <a:lnTo>
                      <a:pt x="30" y="480"/>
                    </a:lnTo>
                    <a:lnTo>
                      <a:pt x="22" y="512"/>
                    </a:lnTo>
                    <a:lnTo>
                      <a:pt x="14" y="545"/>
                    </a:lnTo>
                    <a:lnTo>
                      <a:pt x="7" y="578"/>
                    </a:lnTo>
                    <a:lnTo>
                      <a:pt x="3" y="613"/>
                    </a:lnTo>
                    <a:lnTo>
                      <a:pt x="1" y="648"/>
                    </a:lnTo>
                    <a:lnTo>
                      <a:pt x="0" y="682"/>
                    </a:lnTo>
                    <a:lnTo>
                      <a:pt x="0" y="682"/>
                    </a:lnTo>
                    <a:lnTo>
                      <a:pt x="1" y="717"/>
                    </a:lnTo>
                    <a:lnTo>
                      <a:pt x="3" y="751"/>
                    </a:lnTo>
                    <a:lnTo>
                      <a:pt x="7" y="786"/>
                    </a:lnTo>
                    <a:lnTo>
                      <a:pt x="14" y="819"/>
                    </a:lnTo>
                    <a:lnTo>
                      <a:pt x="22" y="852"/>
                    </a:lnTo>
                    <a:lnTo>
                      <a:pt x="30" y="886"/>
                    </a:lnTo>
                    <a:lnTo>
                      <a:pt x="42" y="917"/>
                    </a:lnTo>
                    <a:lnTo>
                      <a:pt x="53" y="948"/>
                    </a:lnTo>
                    <a:lnTo>
                      <a:pt x="68" y="978"/>
                    </a:lnTo>
                    <a:lnTo>
                      <a:pt x="82" y="1007"/>
                    </a:lnTo>
                    <a:lnTo>
                      <a:pt x="98" y="1035"/>
                    </a:lnTo>
                    <a:lnTo>
                      <a:pt x="117" y="1063"/>
                    </a:lnTo>
                    <a:lnTo>
                      <a:pt x="135" y="1090"/>
                    </a:lnTo>
                    <a:lnTo>
                      <a:pt x="156" y="1116"/>
                    </a:lnTo>
                    <a:lnTo>
                      <a:pt x="177" y="1141"/>
                    </a:lnTo>
                    <a:lnTo>
                      <a:pt x="199" y="1164"/>
                    </a:lnTo>
                    <a:lnTo>
                      <a:pt x="223" y="1187"/>
                    </a:lnTo>
                    <a:lnTo>
                      <a:pt x="248" y="1208"/>
                    </a:lnTo>
                    <a:lnTo>
                      <a:pt x="274" y="1229"/>
                    </a:lnTo>
                    <a:lnTo>
                      <a:pt x="300" y="1247"/>
                    </a:lnTo>
                    <a:lnTo>
                      <a:pt x="329" y="1265"/>
                    </a:lnTo>
                    <a:lnTo>
                      <a:pt x="356" y="1282"/>
                    </a:lnTo>
                    <a:lnTo>
                      <a:pt x="386" y="1296"/>
                    </a:lnTo>
                    <a:lnTo>
                      <a:pt x="417" y="1311"/>
                    </a:lnTo>
                    <a:lnTo>
                      <a:pt x="447" y="1322"/>
                    </a:lnTo>
                    <a:lnTo>
                      <a:pt x="479" y="1334"/>
                    </a:lnTo>
                    <a:lnTo>
                      <a:pt x="512" y="1343"/>
                    </a:lnTo>
                    <a:lnTo>
                      <a:pt x="544" y="1350"/>
                    </a:lnTo>
                    <a:lnTo>
                      <a:pt x="578" y="1355"/>
                    </a:lnTo>
                    <a:lnTo>
                      <a:pt x="611" y="1360"/>
                    </a:lnTo>
                    <a:lnTo>
                      <a:pt x="646" y="1363"/>
                    </a:lnTo>
                    <a:lnTo>
                      <a:pt x="682" y="1364"/>
                    </a:lnTo>
                    <a:lnTo>
                      <a:pt x="682" y="1364"/>
                    </a:lnTo>
                    <a:lnTo>
                      <a:pt x="712" y="1363"/>
                    </a:lnTo>
                    <a:lnTo>
                      <a:pt x="741" y="1361"/>
                    </a:lnTo>
                    <a:lnTo>
                      <a:pt x="771" y="1358"/>
                    </a:lnTo>
                    <a:lnTo>
                      <a:pt x="800" y="1354"/>
                    </a:lnTo>
                    <a:lnTo>
                      <a:pt x="800" y="1354"/>
                    </a:lnTo>
                    <a:lnTo>
                      <a:pt x="805" y="1330"/>
                    </a:lnTo>
                    <a:lnTo>
                      <a:pt x="810" y="1305"/>
                    </a:lnTo>
                    <a:lnTo>
                      <a:pt x="816" y="1282"/>
                    </a:lnTo>
                    <a:lnTo>
                      <a:pt x="823" y="1257"/>
                    </a:lnTo>
                    <a:lnTo>
                      <a:pt x="832" y="1234"/>
                    </a:lnTo>
                    <a:lnTo>
                      <a:pt x="841" y="1213"/>
                    </a:lnTo>
                    <a:lnTo>
                      <a:pt x="851" y="1190"/>
                    </a:lnTo>
                    <a:lnTo>
                      <a:pt x="861" y="1168"/>
                    </a:lnTo>
                    <a:lnTo>
                      <a:pt x="884" y="1126"/>
                    </a:lnTo>
                    <a:lnTo>
                      <a:pt x="910" y="1086"/>
                    </a:lnTo>
                    <a:lnTo>
                      <a:pt x="939" y="1047"/>
                    </a:lnTo>
                    <a:lnTo>
                      <a:pt x="969" y="1011"/>
                    </a:lnTo>
                    <a:lnTo>
                      <a:pt x="969" y="1011"/>
                    </a:lnTo>
                    <a:lnTo>
                      <a:pt x="940" y="1034"/>
                    </a:lnTo>
                    <a:lnTo>
                      <a:pt x="908" y="1056"/>
                    </a:lnTo>
                    <a:lnTo>
                      <a:pt x="874" y="1074"/>
                    </a:lnTo>
                    <a:lnTo>
                      <a:pt x="856" y="1083"/>
                    </a:lnTo>
                    <a:lnTo>
                      <a:pt x="838" y="1090"/>
                    </a:lnTo>
                    <a:lnTo>
                      <a:pt x="819" y="1097"/>
                    </a:lnTo>
                    <a:lnTo>
                      <a:pt x="800" y="1103"/>
                    </a:lnTo>
                    <a:lnTo>
                      <a:pt x="781" y="1108"/>
                    </a:lnTo>
                    <a:lnTo>
                      <a:pt x="763" y="1112"/>
                    </a:lnTo>
                    <a:lnTo>
                      <a:pt x="743" y="1115"/>
                    </a:lnTo>
                    <a:lnTo>
                      <a:pt x="722" y="1118"/>
                    </a:lnTo>
                    <a:lnTo>
                      <a:pt x="702" y="1119"/>
                    </a:lnTo>
                    <a:lnTo>
                      <a:pt x="682" y="1119"/>
                    </a:lnTo>
                    <a:lnTo>
                      <a:pt x="682" y="1119"/>
                    </a:lnTo>
                    <a:lnTo>
                      <a:pt x="659" y="1119"/>
                    </a:lnTo>
                    <a:lnTo>
                      <a:pt x="637" y="1116"/>
                    </a:lnTo>
                    <a:lnTo>
                      <a:pt x="616" y="1115"/>
                    </a:lnTo>
                    <a:lnTo>
                      <a:pt x="594" y="1110"/>
                    </a:lnTo>
                    <a:lnTo>
                      <a:pt x="572" y="1106"/>
                    </a:lnTo>
                    <a:lnTo>
                      <a:pt x="552" y="1099"/>
                    </a:lnTo>
                    <a:lnTo>
                      <a:pt x="531" y="1093"/>
                    </a:lnTo>
                    <a:lnTo>
                      <a:pt x="512" y="1084"/>
                    </a:lnTo>
                    <a:lnTo>
                      <a:pt x="492" y="1076"/>
                    </a:lnTo>
                    <a:lnTo>
                      <a:pt x="473" y="1067"/>
                    </a:lnTo>
                    <a:lnTo>
                      <a:pt x="456" y="1056"/>
                    </a:lnTo>
                    <a:lnTo>
                      <a:pt x="437" y="1044"/>
                    </a:lnTo>
                    <a:lnTo>
                      <a:pt x="420" y="1033"/>
                    </a:lnTo>
                    <a:lnTo>
                      <a:pt x="404" y="1020"/>
                    </a:lnTo>
                    <a:lnTo>
                      <a:pt x="388" y="1005"/>
                    </a:lnTo>
                    <a:lnTo>
                      <a:pt x="372" y="991"/>
                    </a:lnTo>
                    <a:lnTo>
                      <a:pt x="358" y="976"/>
                    </a:lnTo>
                    <a:lnTo>
                      <a:pt x="345" y="961"/>
                    </a:lnTo>
                    <a:lnTo>
                      <a:pt x="332" y="943"/>
                    </a:lnTo>
                    <a:lnTo>
                      <a:pt x="319" y="927"/>
                    </a:lnTo>
                    <a:lnTo>
                      <a:pt x="308" y="909"/>
                    </a:lnTo>
                    <a:lnTo>
                      <a:pt x="297" y="891"/>
                    </a:lnTo>
                    <a:lnTo>
                      <a:pt x="288" y="871"/>
                    </a:lnTo>
                    <a:lnTo>
                      <a:pt x="280" y="852"/>
                    </a:lnTo>
                    <a:lnTo>
                      <a:pt x="271" y="832"/>
                    </a:lnTo>
                    <a:lnTo>
                      <a:pt x="264" y="812"/>
                    </a:lnTo>
                    <a:lnTo>
                      <a:pt x="258" y="792"/>
                    </a:lnTo>
                    <a:lnTo>
                      <a:pt x="254" y="770"/>
                    </a:lnTo>
                    <a:lnTo>
                      <a:pt x="249" y="749"/>
                    </a:lnTo>
                    <a:lnTo>
                      <a:pt x="246" y="727"/>
                    </a:lnTo>
                    <a:lnTo>
                      <a:pt x="245" y="705"/>
                    </a:lnTo>
                    <a:lnTo>
                      <a:pt x="245" y="682"/>
                    </a:lnTo>
                    <a:lnTo>
                      <a:pt x="245" y="682"/>
                    </a:lnTo>
                    <a:lnTo>
                      <a:pt x="245" y="661"/>
                    </a:lnTo>
                    <a:lnTo>
                      <a:pt x="246" y="638"/>
                    </a:lnTo>
                    <a:lnTo>
                      <a:pt x="249" y="616"/>
                    </a:lnTo>
                    <a:lnTo>
                      <a:pt x="254" y="594"/>
                    </a:lnTo>
                    <a:lnTo>
                      <a:pt x="258" y="573"/>
                    </a:lnTo>
                    <a:lnTo>
                      <a:pt x="264" y="553"/>
                    </a:lnTo>
                    <a:lnTo>
                      <a:pt x="271" y="532"/>
                    </a:lnTo>
                    <a:lnTo>
                      <a:pt x="280" y="512"/>
                    </a:lnTo>
                    <a:lnTo>
                      <a:pt x="288" y="493"/>
                    </a:lnTo>
                    <a:lnTo>
                      <a:pt x="297" y="475"/>
                    </a:lnTo>
                    <a:lnTo>
                      <a:pt x="308" y="456"/>
                    </a:lnTo>
                    <a:lnTo>
                      <a:pt x="319" y="439"/>
                    </a:lnTo>
                    <a:lnTo>
                      <a:pt x="332" y="421"/>
                    </a:lnTo>
                    <a:lnTo>
                      <a:pt x="345" y="404"/>
                    </a:lnTo>
                    <a:lnTo>
                      <a:pt x="358" y="388"/>
                    </a:lnTo>
                    <a:lnTo>
                      <a:pt x="372" y="374"/>
                    </a:lnTo>
                    <a:lnTo>
                      <a:pt x="388" y="359"/>
                    </a:lnTo>
                    <a:lnTo>
                      <a:pt x="404" y="345"/>
                    </a:lnTo>
                    <a:lnTo>
                      <a:pt x="420" y="332"/>
                    </a:lnTo>
                    <a:lnTo>
                      <a:pt x="437" y="320"/>
                    </a:lnTo>
                    <a:lnTo>
                      <a:pt x="456" y="309"/>
                    </a:lnTo>
                    <a:lnTo>
                      <a:pt x="473" y="299"/>
                    </a:lnTo>
                    <a:lnTo>
                      <a:pt x="492" y="289"/>
                    </a:lnTo>
                    <a:lnTo>
                      <a:pt x="512" y="280"/>
                    </a:lnTo>
                    <a:lnTo>
                      <a:pt x="531" y="273"/>
                    </a:lnTo>
                    <a:lnTo>
                      <a:pt x="552" y="266"/>
                    </a:lnTo>
                    <a:lnTo>
                      <a:pt x="572" y="260"/>
                    </a:lnTo>
                    <a:lnTo>
                      <a:pt x="594" y="254"/>
                    </a:lnTo>
                    <a:lnTo>
                      <a:pt x="616" y="251"/>
                    </a:lnTo>
                    <a:lnTo>
                      <a:pt x="637" y="248"/>
                    </a:lnTo>
                    <a:lnTo>
                      <a:pt x="659" y="247"/>
                    </a:lnTo>
                    <a:lnTo>
                      <a:pt x="682" y="245"/>
                    </a:lnTo>
                    <a:lnTo>
                      <a:pt x="682" y="245"/>
                    </a:lnTo>
                    <a:lnTo>
                      <a:pt x="702" y="247"/>
                    </a:lnTo>
                    <a:lnTo>
                      <a:pt x="722" y="248"/>
                    </a:lnTo>
                    <a:lnTo>
                      <a:pt x="743" y="250"/>
                    </a:lnTo>
                    <a:lnTo>
                      <a:pt x="763" y="253"/>
                    </a:lnTo>
                    <a:lnTo>
                      <a:pt x="781" y="257"/>
                    </a:lnTo>
                    <a:lnTo>
                      <a:pt x="800" y="263"/>
                    </a:lnTo>
                    <a:lnTo>
                      <a:pt x="819" y="269"/>
                    </a:lnTo>
                    <a:lnTo>
                      <a:pt x="838" y="274"/>
                    </a:lnTo>
                    <a:lnTo>
                      <a:pt x="856" y="282"/>
                    </a:lnTo>
                    <a:lnTo>
                      <a:pt x="874" y="290"/>
                    </a:lnTo>
                    <a:lnTo>
                      <a:pt x="908" y="309"/>
                    </a:lnTo>
                    <a:lnTo>
                      <a:pt x="940" y="331"/>
                    </a:lnTo>
                    <a:lnTo>
                      <a:pt x="969" y="354"/>
                    </a:lnTo>
                    <a:lnTo>
                      <a:pt x="969" y="354"/>
                    </a:lnTo>
                    <a:lnTo>
                      <a:pt x="986" y="371"/>
                    </a:lnTo>
                    <a:lnTo>
                      <a:pt x="1004" y="387"/>
                    </a:lnTo>
                    <a:lnTo>
                      <a:pt x="1177" y="215"/>
                    </a:lnTo>
                    <a:lnTo>
                      <a:pt x="1177" y="215"/>
                    </a:lnTo>
                    <a:lnTo>
                      <a:pt x="1159" y="198"/>
                    </a:lnTo>
                    <a:lnTo>
                      <a:pt x="1143" y="181"/>
                    </a:lnTo>
                    <a:lnTo>
                      <a:pt x="1143" y="181"/>
                    </a:lnTo>
                    <a:close/>
                  </a:path>
                </a:pathLst>
              </a:custGeom>
              <a:solidFill>
                <a:srgbClr val="A32020"/>
              </a:solidFill>
              <a:ln w="9525">
                <a:no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87" name="TextBox 86">
                <a:extLst>
                  <a:ext uri="{FF2B5EF4-FFF2-40B4-BE49-F238E27FC236}">
                    <a16:creationId xmlns:a16="http://schemas.microsoft.com/office/drawing/2014/main" id="{1CC295ED-B3F2-4563-AA1F-52C1B66460A4}"/>
                  </a:ext>
                </a:extLst>
              </p:cNvPr>
              <p:cNvSpPr txBox="1"/>
              <p:nvPr/>
            </p:nvSpPr>
            <p:spPr>
              <a:xfrm>
                <a:off x="5276000" y="3250007"/>
                <a:ext cx="1520855" cy="151189"/>
              </a:xfrm>
              <a:prstGeom prst="rect">
                <a:avLst/>
              </a:prstGeom>
              <a:noFill/>
            </p:spPr>
            <p:txBody>
              <a:bodyPr wrap="square" lIns="0" tIns="0" rIns="0" bIns="0" rtlCol="0">
                <a:prstTxWarp prst="textArchUp">
                  <a:avLst>
                    <a:gd name="adj" fmla="val 14699110"/>
                  </a:avLst>
                </a:prstTxWarp>
                <a:noAutofit/>
              </a:bodyPr>
              <a:lstStyle/>
              <a:p>
                <a:pPr algn="ctr">
                  <a:spcAft>
                    <a:spcPts val="900"/>
                  </a:spcAft>
                </a:pPr>
                <a:r>
                  <a:rPr lang="en-GB" sz="2800" b="1" dirty="0">
                    <a:solidFill>
                      <a:schemeClr val="bg1"/>
                    </a:solidFill>
                    <a:latin typeface="+mj-lt"/>
                  </a:rPr>
                  <a:t>04</a:t>
                </a:r>
              </a:p>
            </p:txBody>
          </p:sp>
          <p:sp>
            <p:nvSpPr>
              <p:cNvPr id="88" name="TextBox 87">
                <a:extLst>
                  <a:ext uri="{FF2B5EF4-FFF2-40B4-BE49-F238E27FC236}">
                    <a16:creationId xmlns:a16="http://schemas.microsoft.com/office/drawing/2014/main" id="{CAC548A5-5988-488E-B1D4-FC30095C7F20}"/>
                  </a:ext>
                </a:extLst>
              </p:cNvPr>
              <p:cNvSpPr txBox="1"/>
              <p:nvPr/>
            </p:nvSpPr>
            <p:spPr>
              <a:xfrm rot="238302">
                <a:off x="8616273" y="2920977"/>
                <a:ext cx="1387386" cy="369053"/>
              </a:xfrm>
              <a:prstGeom prst="rect">
                <a:avLst/>
              </a:prstGeom>
              <a:noFill/>
            </p:spPr>
            <p:txBody>
              <a:bodyPr wrap="square" lIns="0" tIns="0" rIns="0" bIns="0" rtlCol="0">
                <a:prstTxWarp prst="textArchDown">
                  <a:avLst/>
                </a:prstTxWarp>
                <a:noAutofit/>
              </a:bodyPr>
              <a:lstStyle/>
              <a:p>
                <a:pPr algn="ctr">
                  <a:spcAft>
                    <a:spcPts val="900"/>
                  </a:spcAft>
                </a:pPr>
                <a:r>
                  <a:rPr lang="en-GB" sz="2800" b="1" dirty="0">
                    <a:solidFill>
                      <a:schemeClr val="bg1"/>
                    </a:solidFill>
                    <a:latin typeface="+mj-lt"/>
                  </a:rPr>
                  <a:t>02</a:t>
                </a:r>
              </a:p>
            </p:txBody>
          </p:sp>
        </p:grpSp>
        <p:sp>
          <p:nvSpPr>
            <p:cNvPr id="74" name="TextBox 73">
              <a:extLst>
                <a:ext uri="{FF2B5EF4-FFF2-40B4-BE49-F238E27FC236}">
                  <a16:creationId xmlns:a16="http://schemas.microsoft.com/office/drawing/2014/main" id="{7A5499EE-5B33-4629-AE9D-6E16C7E7AAF3}"/>
                </a:ext>
              </a:extLst>
            </p:cNvPr>
            <p:cNvSpPr txBox="1"/>
            <p:nvPr/>
          </p:nvSpPr>
          <p:spPr>
            <a:xfrm>
              <a:off x="7231858" y="4144182"/>
              <a:ext cx="1143229" cy="255593"/>
            </a:xfrm>
            <a:prstGeom prst="rect">
              <a:avLst/>
            </a:prstGeom>
            <a:noFill/>
          </p:spPr>
          <p:txBody>
            <a:bodyPr wrap="square" rtlCol="0">
              <a:spAutoFit/>
            </a:bodyPr>
            <a:lstStyle/>
            <a:p>
              <a:pPr algn="ctr"/>
              <a:r>
                <a:rPr lang="en-US" sz="1800" b="1" dirty="0"/>
                <a:t>IS Strategy</a:t>
              </a:r>
            </a:p>
          </p:txBody>
        </p:sp>
        <p:sp>
          <p:nvSpPr>
            <p:cNvPr id="75" name="Freeform 4959">
              <a:extLst>
                <a:ext uri="{FF2B5EF4-FFF2-40B4-BE49-F238E27FC236}">
                  <a16:creationId xmlns:a16="http://schemas.microsoft.com/office/drawing/2014/main" id="{982D5919-DC40-4E97-BA22-1B8BD87B4A22}"/>
                </a:ext>
              </a:extLst>
            </p:cNvPr>
            <p:cNvSpPr>
              <a:spLocks noEditPoints="1"/>
            </p:cNvSpPr>
            <p:nvPr/>
          </p:nvSpPr>
          <p:spPr bwMode="auto">
            <a:xfrm>
              <a:off x="7364152" y="3350222"/>
              <a:ext cx="769586" cy="790023"/>
            </a:xfrm>
            <a:custGeom>
              <a:avLst/>
              <a:gdLst>
                <a:gd name="T0" fmla="*/ 348 w 360"/>
                <a:gd name="T1" fmla="*/ 0 h 280"/>
                <a:gd name="T2" fmla="*/ 8 w 360"/>
                <a:gd name="T3" fmla="*/ 0 h 280"/>
                <a:gd name="T4" fmla="*/ 0 w 360"/>
                <a:gd name="T5" fmla="*/ 8 h 280"/>
                <a:gd name="T6" fmla="*/ 8 w 360"/>
                <a:gd name="T7" fmla="*/ 242 h 280"/>
                <a:gd name="T8" fmla="*/ 180 w 360"/>
                <a:gd name="T9" fmla="*/ 280 h 280"/>
                <a:gd name="T10" fmla="*/ 358 w 360"/>
                <a:gd name="T11" fmla="*/ 238 h 280"/>
                <a:gd name="T12" fmla="*/ 360 w 360"/>
                <a:gd name="T13" fmla="*/ 4 h 280"/>
                <a:gd name="T14" fmla="*/ 20 w 360"/>
                <a:gd name="T15" fmla="*/ 224 h 280"/>
                <a:gd name="T16" fmla="*/ 200 w 360"/>
                <a:gd name="T17" fmla="*/ 54 h 280"/>
                <a:gd name="T18" fmla="*/ 334 w 360"/>
                <a:gd name="T19" fmla="*/ 26 h 280"/>
                <a:gd name="T20" fmla="*/ 338 w 360"/>
                <a:gd name="T21" fmla="*/ 36 h 280"/>
                <a:gd name="T22" fmla="*/ 204 w 360"/>
                <a:gd name="T23" fmla="*/ 72 h 280"/>
                <a:gd name="T24" fmla="*/ 196 w 360"/>
                <a:gd name="T25" fmla="*/ 72 h 280"/>
                <a:gd name="T26" fmla="*/ 194 w 360"/>
                <a:gd name="T27" fmla="*/ 58 h 280"/>
                <a:gd name="T28" fmla="*/ 200 w 360"/>
                <a:gd name="T29" fmla="*/ 90 h 280"/>
                <a:gd name="T30" fmla="*/ 270 w 360"/>
                <a:gd name="T31" fmla="*/ 76 h 280"/>
                <a:gd name="T32" fmla="*/ 274 w 360"/>
                <a:gd name="T33" fmla="*/ 86 h 280"/>
                <a:gd name="T34" fmla="*/ 204 w 360"/>
                <a:gd name="T35" fmla="*/ 108 h 280"/>
                <a:gd name="T36" fmla="*/ 196 w 360"/>
                <a:gd name="T37" fmla="*/ 106 h 280"/>
                <a:gd name="T38" fmla="*/ 194 w 360"/>
                <a:gd name="T39" fmla="*/ 94 h 280"/>
                <a:gd name="T40" fmla="*/ 340 w 360"/>
                <a:gd name="T41" fmla="*/ 168 h 280"/>
                <a:gd name="T42" fmla="*/ 336 w 360"/>
                <a:gd name="T43" fmla="*/ 174 h 280"/>
                <a:gd name="T44" fmla="*/ 326 w 360"/>
                <a:gd name="T45" fmla="*/ 172 h 280"/>
                <a:gd name="T46" fmla="*/ 284 w 360"/>
                <a:gd name="T47" fmla="*/ 192 h 280"/>
                <a:gd name="T48" fmla="*/ 210 w 360"/>
                <a:gd name="T49" fmla="*/ 242 h 280"/>
                <a:gd name="T50" fmla="*/ 196 w 360"/>
                <a:gd name="T51" fmla="*/ 246 h 280"/>
                <a:gd name="T52" fmla="*/ 192 w 360"/>
                <a:gd name="T53" fmla="*/ 236 h 280"/>
                <a:gd name="T54" fmla="*/ 234 w 360"/>
                <a:gd name="T55" fmla="*/ 156 h 280"/>
                <a:gd name="T56" fmla="*/ 280 w 360"/>
                <a:gd name="T57" fmla="*/ 170 h 280"/>
                <a:gd name="T58" fmla="*/ 290 w 360"/>
                <a:gd name="T59" fmla="*/ 134 h 280"/>
                <a:gd name="T60" fmla="*/ 298 w 360"/>
                <a:gd name="T61" fmla="*/ 124 h 280"/>
                <a:gd name="T62" fmla="*/ 336 w 360"/>
                <a:gd name="T63" fmla="*/ 124 h 280"/>
                <a:gd name="T64" fmla="*/ 340 w 360"/>
                <a:gd name="T65" fmla="*/ 168 h 280"/>
                <a:gd name="T66" fmla="*/ 46 w 360"/>
                <a:gd name="T67" fmla="*/ 68 h 280"/>
                <a:gd name="T68" fmla="*/ 38 w 360"/>
                <a:gd name="T69" fmla="*/ 60 h 280"/>
                <a:gd name="T70" fmla="*/ 42 w 360"/>
                <a:gd name="T71" fmla="*/ 50 h 280"/>
                <a:gd name="T72" fmla="*/ 140 w 360"/>
                <a:gd name="T73" fmla="*/ 68 h 280"/>
                <a:gd name="T74" fmla="*/ 148 w 360"/>
                <a:gd name="T75" fmla="*/ 80 h 280"/>
                <a:gd name="T76" fmla="*/ 138 w 360"/>
                <a:gd name="T77" fmla="*/ 88 h 280"/>
                <a:gd name="T78" fmla="*/ 70 w 360"/>
                <a:gd name="T79" fmla="*/ 126 h 280"/>
                <a:gd name="T80" fmla="*/ 44 w 360"/>
                <a:gd name="T81" fmla="*/ 142 h 280"/>
                <a:gd name="T82" fmla="*/ 38 w 360"/>
                <a:gd name="T83" fmla="*/ 168 h 280"/>
                <a:gd name="T84" fmla="*/ 50 w 360"/>
                <a:gd name="T85" fmla="*/ 202 h 280"/>
                <a:gd name="T86" fmla="*/ 78 w 360"/>
                <a:gd name="T87" fmla="*/ 218 h 280"/>
                <a:gd name="T88" fmla="*/ 98 w 360"/>
                <a:gd name="T89" fmla="*/ 212 h 280"/>
                <a:gd name="T90" fmla="*/ 116 w 360"/>
                <a:gd name="T91" fmla="*/ 186 h 280"/>
                <a:gd name="T92" fmla="*/ 128 w 360"/>
                <a:gd name="T93" fmla="*/ 166 h 280"/>
                <a:gd name="T94" fmla="*/ 116 w 360"/>
                <a:gd name="T95" fmla="*/ 132 h 280"/>
                <a:gd name="T96" fmla="*/ 88 w 360"/>
                <a:gd name="T97" fmla="*/ 114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0" h="280">
                  <a:moveTo>
                    <a:pt x="356" y="2"/>
                  </a:moveTo>
                  <a:lnTo>
                    <a:pt x="356" y="2"/>
                  </a:lnTo>
                  <a:lnTo>
                    <a:pt x="352" y="0"/>
                  </a:lnTo>
                  <a:lnTo>
                    <a:pt x="348" y="0"/>
                  </a:lnTo>
                  <a:lnTo>
                    <a:pt x="180" y="38"/>
                  </a:lnTo>
                  <a:lnTo>
                    <a:pt x="12" y="0"/>
                  </a:lnTo>
                  <a:lnTo>
                    <a:pt x="12" y="0"/>
                  </a:lnTo>
                  <a:lnTo>
                    <a:pt x="8" y="0"/>
                  </a:lnTo>
                  <a:lnTo>
                    <a:pt x="4" y="2"/>
                  </a:lnTo>
                  <a:lnTo>
                    <a:pt x="4" y="2"/>
                  </a:lnTo>
                  <a:lnTo>
                    <a:pt x="0" y="4"/>
                  </a:lnTo>
                  <a:lnTo>
                    <a:pt x="0" y="8"/>
                  </a:lnTo>
                  <a:lnTo>
                    <a:pt x="0" y="232"/>
                  </a:lnTo>
                  <a:lnTo>
                    <a:pt x="0" y="232"/>
                  </a:lnTo>
                  <a:lnTo>
                    <a:pt x="2" y="238"/>
                  </a:lnTo>
                  <a:lnTo>
                    <a:pt x="8" y="242"/>
                  </a:lnTo>
                  <a:lnTo>
                    <a:pt x="178" y="280"/>
                  </a:lnTo>
                  <a:lnTo>
                    <a:pt x="178" y="280"/>
                  </a:lnTo>
                  <a:lnTo>
                    <a:pt x="180" y="280"/>
                  </a:lnTo>
                  <a:lnTo>
                    <a:pt x="180" y="280"/>
                  </a:lnTo>
                  <a:lnTo>
                    <a:pt x="182" y="280"/>
                  </a:lnTo>
                  <a:lnTo>
                    <a:pt x="352" y="242"/>
                  </a:lnTo>
                  <a:lnTo>
                    <a:pt x="352" y="242"/>
                  </a:lnTo>
                  <a:lnTo>
                    <a:pt x="358" y="238"/>
                  </a:lnTo>
                  <a:lnTo>
                    <a:pt x="360" y="232"/>
                  </a:lnTo>
                  <a:lnTo>
                    <a:pt x="360" y="8"/>
                  </a:lnTo>
                  <a:lnTo>
                    <a:pt x="360" y="8"/>
                  </a:lnTo>
                  <a:lnTo>
                    <a:pt x="360" y="4"/>
                  </a:lnTo>
                  <a:lnTo>
                    <a:pt x="356" y="2"/>
                  </a:lnTo>
                  <a:lnTo>
                    <a:pt x="356" y="2"/>
                  </a:lnTo>
                  <a:close/>
                  <a:moveTo>
                    <a:pt x="170" y="258"/>
                  </a:moveTo>
                  <a:lnTo>
                    <a:pt x="20" y="224"/>
                  </a:lnTo>
                  <a:lnTo>
                    <a:pt x="20" y="22"/>
                  </a:lnTo>
                  <a:lnTo>
                    <a:pt x="170" y="56"/>
                  </a:lnTo>
                  <a:lnTo>
                    <a:pt x="170" y="258"/>
                  </a:lnTo>
                  <a:close/>
                  <a:moveTo>
                    <a:pt x="200" y="54"/>
                  </a:moveTo>
                  <a:lnTo>
                    <a:pt x="326" y="24"/>
                  </a:lnTo>
                  <a:lnTo>
                    <a:pt x="326" y="24"/>
                  </a:lnTo>
                  <a:lnTo>
                    <a:pt x="330" y="24"/>
                  </a:lnTo>
                  <a:lnTo>
                    <a:pt x="334" y="26"/>
                  </a:lnTo>
                  <a:lnTo>
                    <a:pt x="336" y="28"/>
                  </a:lnTo>
                  <a:lnTo>
                    <a:pt x="338" y="32"/>
                  </a:lnTo>
                  <a:lnTo>
                    <a:pt x="338" y="32"/>
                  </a:lnTo>
                  <a:lnTo>
                    <a:pt x="338" y="36"/>
                  </a:lnTo>
                  <a:lnTo>
                    <a:pt x="336" y="40"/>
                  </a:lnTo>
                  <a:lnTo>
                    <a:pt x="334" y="42"/>
                  </a:lnTo>
                  <a:lnTo>
                    <a:pt x="330" y="44"/>
                  </a:lnTo>
                  <a:lnTo>
                    <a:pt x="204" y="72"/>
                  </a:lnTo>
                  <a:lnTo>
                    <a:pt x="204" y="72"/>
                  </a:lnTo>
                  <a:lnTo>
                    <a:pt x="202" y="74"/>
                  </a:lnTo>
                  <a:lnTo>
                    <a:pt x="202" y="74"/>
                  </a:lnTo>
                  <a:lnTo>
                    <a:pt x="196" y="72"/>
                  </a:lnTo>
                  <a:lnTo>
                    <a:pt x="192" y="66"/>
                  </a:lnTo>
                  <a:lnTo>
                    <a:pt x="192" y="66"/>
                  </a:lnTo>
                  <a:lnTo>
                    <a:pt x="192" y="62"/>
                  </a:lnTo>
                  <a:lnTo>
                    <a:pt x="194" y="58"/>
                  </a:lnTo>
                  <a:lnTo>
                    <a:pt x="196" y="56"/>
                  </a:lnTo>
                  <a:lnTo>
                    <a:pt x="200" y="54"/>
                  </a:lnTo>
                  <a:lnTo>
                    <a:pt x="200" y="54"/>
                  </a:lnTo>
                  <a:close/>
                  <a:moveTo>
                    <a:pt x="200" y="90"/>
                  </a:moveTo>
                  <a:lnTo>
                    <a:pt x="262" y="74"/>
                  </a:lnTo>
                  <a:lnTo>
                    <a:pt x="262" y="74"/>
                  </a:lnTo>
                  <a:lnTo>
                    <a:pt x="266" y="74"/>
                  </a:lnTo>
                  <a:lnTo>
                    <a:pt x="270" y="76"/>
                  </a:lnTo>
                  <a:lnTo>
                    <a:pt x="274" y="78"/>
                  </a:lnTo>
                  <a:lnTo>
                    <a:pt x="274" y="82"/>
                  </a:lnTo>
                  <a:lnTo>
                    <a:pt x="274" y="82"/>
                  </a:lnTo>
                  <a:lnTo>
                    <a:pt x="274" y="86"/>
                  </a:lnTo>
                  <a:lnTo>
                    <a:pt x="274" y="90"/>
                  </a:lnTo>
                  <a:lnTo>
                    <a:pt x="270" y="92"/>
                  </a:lnTo>
                  <a:lnTo>
                    <a:pt x="268" y="94"/>
                  </a:lnTo>
                  <a:lnTo>
                    <a:pt x="204" y="108"/>
                  </a:lnTo>
                  <a:lnTo>
                    <a:pt x="204" y="108"/>
                  </a:lnTo>
                  <a:lnTo>
                    <a:pt x="202" y="108"/>
                  </a:lnTo>
                  <a:lnTo>
                    <a:pt x="202" y="108"/>
                  </a:lnTo>
                  <a:lnTo>
                    <a:pt x="196" y="106"/>
                  </a:lnTo>
                  <a:lnTo>
                    <a:pt x="192" y="102"/>
                  </a:lnTo>
                  <a:lnTo>
                    <a:pt x="192" y="102"/>
                  </a:lnTo>
                  <a:lnTo>
                    <a:pt x="192" y="98"/>
                  </a:lnTo>
                  <a:lnTo>
                    <a:pt x="194" y="94"/>
                  </a:lnTo>
                  <a:lnTo>
                    <a:pt x="196" y="90"/>
                  </a:lnTo>
                  <a:lnTo>
                    <a:pt x="200" y="90"/>
                  </a:lnTo>
                  <a:lnTo>
                    <a:pt x="200" y="90"/>
                  </a:lnTo>
                  <a:close/>
                  <a:moveTo>
                    <a:pt x="340" y="168"/>
                  </a:moveTo>
                  <a:lnTo>
                    <a:pt x="340" y="168"/>
                  </a:lnTo>
                  <a:lnTo>
                    <a:pt x="340" y="172"/>
                  </a:lnTo>
                  <a:lnTo>
                    <a:pt x="336" y="174"/>
                  </a:lnTo>
                  <a:lnTo>
                    <a:pt x="336" y="174"/>
                  </a:lnTo>
                  <a:lnTo>
                    <a:pt x="332" y="176"/>
                  </a:lnTo>
                  <a:lnTo>
                    <a:pt x="332" y="176"/>
                  </a:lnTo>
                  <a:lnTo>
                    <a:pt x="330" y="174"/>
                  </a:lnTo>
                  <a:lnTo>
                    <a:pt x="326" y="172"/>
                  </a:lnTo>
                  <a:lnTo>
                    <a:pt x="316" y="162"/>
                  </a:lnTo>
                  <a:lnTo>
                    <a:pt x="288" y="190"/>
                  </a:lnTo>
                  <a:lnTo>
                    <a:pt x="288" y="190"/>
                  </a:lnTo>
                  <a:lnTo>
                    <a:pt x="284" y="192"/>
                  </a:lnTo>
                  <a:lnTo>
                    <a:pt x="278" y="192"/>
                  </a:lnTo>
                  <a:lnTo>
                    <a:pt x="246" y="178"/>
                  </a:lnTo>
                  <a:lnTo>
                    <a:pt x="210" y="242"/>
                  </a:lnTo>
                  <a:lnTo>
                    <a:pt x="210" y="242"/>
                  </a:lnTo>
                  <a:lnTo>
                    <a:pt x="206" y="246"/>
                  </a:lnTo>
                  <a:lnTo>
                    <a:pt x="200" y="248"/>
                  </a:lnTo>
                  <a:lnTo>
                    <a:pt x="200" y="248"/>
                  </a:lnTo>
                  <a:lnTo>
                    <a:pt x="196" y="246"/>
                  </a:lnTo>
                  <a:lnTo>
                    <a:pt x="196" y="246"/>
                  </a:lnTo>
                  <a:lnTo>
                    <a:pt x="194" y="244"/>
                  </a:lnTo>
                  <a:lnTo>
                    <a:pt x="192" y="240"/>
                  </a:lnTo>
                  <a:lnTo>
                    <a:pt x="192" y="236"/>
                  </a:lnTo>
                  <a:lnTo>
                    <a:pt x="192" y="234"/>
                  </a:lnTo>
                  <a:lnTo>
                    <a:pt x="232" y="160"/>
                  </a:lnTo>
                  <a:lnTo>
                    <a:pt x="232" y="160"/>
                  </a:lnTo>
                  <a:lnTo>
                    <a:pt x="234" y="156"/>
                  </a:lnTo>
                  <a:lnTo>
                    <a:pt x="238" y="154"/>
                  </a:lnTo>
                  <a:lnTo>
                    <a:pt x="242" y="154"/>
                  </a:lnTo>
                  <a:lnTo>
                    <a:pt x="246" y="154"/>
                  </a:lnTo>
                  <a:lnTo>
                    <a:pt x="280" y="170"/>
                  </a:lnTo>
                  <a:lnTo>
                    <a:pt x="302" y="148"/>
                  </a:lnTo>
                  <a:lnTo>
                    <a:pt x="292" y="138"/>
                  </a:lnTo>
                  <a:lnTo>
                    <a:pt x="292" y="138"/>
                  </a:lnTo>
                  <a:lnTo>
                    <a:pt x="290" y="134"/>
                  </a:lnTo>
                  <a:lnTo>
                    <a:pt x="290" y="128"/>
                  </a:lnTo>
                  <a:lnTo>
                    <a:pt x="290" y="128"/>
                  </a:lnTo>
                  <a:lnTo>
                    <a:pt x="292" y="126"/>
                  </a:lnTo>
                  <a:lnTo>
                    <a:pt x="298" y="124"/>
                  </a:lnTo>
                  <a:lnTo>
                    <a:pt x="298" y="124"/>
                  </a:lnTo>
                  <a:lnTo>
                    <a:pt x="332" y="124"/>
                  </a:lnTo>
                  <a:lnTo>
                    <a:pt x="332" y="124"/>
                  </a:lnTo>
                  <a:lnTo>
                    <a:pt x="336" y="124"/>
                  </a:lnTo>
                  <a:lnTo>
                    <a:pt x="338" y="126"/>
                  </a:lnTo>
                  <a:lnTo>
                    <a:pt x="340" y="128"/>
                  </a:lnTo>
                  <a:lnTo>
                    <a:pt x="340" y="132"/>
                  </a:lnTo>
                  <a:lnTo>
                    <a:pt x="340" y="168"/>
                  </a:lnTo>
                  <a:close/>
                  <a:moveTo>
                    <a:pt x="138" y="88"/>
                  </a:moveTo>
                  <a:lnTo>
                    <a:pt x="138" y="88"/>
                  </a:lnTo>
                  <a:lnTo>
                    <a:pt x="136" y="88"/>
                  </a:lnTo>
                  <a:lnTo>
                    <a:pt x="46" y="68"/>
                  </a:lnTo>
                  <a:lnTo>
                    <a:pt x="46" y="68"/>
                  </a:lnTo>
                  <a:lnTo>
                    <a:pt x="42" y="66"/>
                  </a:lnTo>
                  <a:lnTo>
                    <a:pt x="40" y="62"/>
                  </a:lnTo>
                  <a:lnTo>
                    <a:pt x="38" y="60"/>
                  </a:lnTo>
                  <a:lnTo>
                    <a:pt x="38" y="56"/>
                  </a:lnTo>
                  <a:lnTo>
                    <a:pt x="38" y="56"/>
                  </a:lnTo>
                  <a:lnTo>
                    <a:pt x="40" y="52"/>
                  </a:lnTo>
                  <a:lnTo>
                    <a:pt x="42" y="50"/>
                  </a:lnTo>
                  <a:lnTo>
                    <a:pt x="46" y="48"/>
                  </a:lnTo>
                  <a:lnTo>
                    <a:pt x="50" y="48"/>
                  </a:lnTo>
                  <a:lnTo>
                    <a:pt x="140" y="68"/>
                  </a:lnTo>
                  <a:lnTo>
                    <a:pt x="140" y="68"/>
                  </a:lnTo>
                  <a:lnTo>
                    <a:pt x="144" y="70"/>
                  </a:lnTo>
                  <a:lnTo>
                    <a:pt x="146" y="72"/>
                  </a:lnTo>
                  <a:lnTo>
                    <a:pt x="148" y="76"/>
                  </a:lnTo>
                  <a:lnTo>
                    <a:pt x="148" y="80"/>
                  </a:lnTo>
                  <a:lnTo>
                    <a:pt x="148" y="80"/>
                  </a:lnTo>
                  <a:lnTo>
                    <a:pt x="144" y="86"/>
                  </a:lnTo>
                  <a:lnTo>
                    <a:pt x="138" y="88"/>
                  </a:lnTo>
                  <a:lnTo>
                    <a:pt x="138" y="88"/>
                  </a:lnTo>
                  <a:close/>
                  <a:moveTo>
                    <a:pt x="78" y="172"/>
                  </a:moveTo>
                  <a:lnTo>
                    <a:pt x="78" y="126"/>
                  </a:lnTo>
                  <a:lnTo>
                    <a:pt x="78" y="126"/>
                  </a:lnTo>
                  <a:lnTo>
                    <a:pt x="70" y="126"/>
                  </a:lnTo>
                  <a:lnTo>
                    <a:pt x="62" y="128"/>
                  </a:lnTo>
                  <a:lnTo>
                    <a:pt x="56" y="132"/>
                  </a:lnTo>
                  <a:lnTo>
                    <a:pt x="50" y="136"/>
                  </a:lnTo>
                  <a:lnTo>
                    <a:pt x="44" y="142"/>
                  </a:lnTo>
                  <a:lnTo>
                    <a:pt x="42" y="150"/>
                  </a:lnTo>
                  <a:lnTo>
                    <a:pt x="40" y="158"/>
                  </a:lnTo>
                  <a:lnTo>
                    <a:pt x="38" y="168"/>
                  </a:lnTo>
                  <a:lnTo>
                    <a:pt x="38" y="168"/>
                  </a:lnTo>
                  <a:lnTo>
                    <a:pt x="40" y="176"/>
                  </a:lnTo>
                  <a:lnTo>
                    <a:pt x="42" y="186"/>
                  </a:lnTo>
                  <a:lnTo>
                    <a:pt x="44" y="194"/>
                  </a:lnTo>
                  <a:lnTo>
                    <a:pt x="50" y="202"/>
                  </a:lnTo>
                  <a:lnTo>
                    <a:pt x="56" y="208"/>
                  </a:lnTo>
                  <a:lnTo>
                    <a:pt x="62" y="212"/>
                  </a:lnTo>
                  <a:lnTo>
                    <a:pt x="70" y="216"/>
                  </a:lnTo>
                  <a:lnTo>
                    <a:pt x="78" y="218"/>
                  </a:lnTo>
                  <a:lnTo>
                    <a:pt x="78" y="218"/>
                  </a:lnTo>
                  <a:lnTo>
                    <a:pt x="84" y="218"/>
                  </a:lnTo>
                  <a:lnTo>
                    <a:pt x="92" y="216"/>
                  </a:lnTo>
                  <a:lnTo>
                    <a:pt x="98" y="212"/>
                  </a:lnTo>
                  <a:lnTo>
                    <a:pt x="104" y="208"/>
                  </a:lnTo>
                  <a:lnTo>
                    <a:pt x="110" y="202"/>
                  </a:lnTo>
                  <a:lnTo>
                    <a:pt x="114" y="194"/>
                  </a:lnTo>
                  <a:lnTo>
                    <a:pt x="116" y="186"/>
                  </a:lnTo>
                  <a:lnTo>
                    <a:pt x="116" y="176"/>
                  </a:lnTo>
                  <a:lnTo>
                    <a:pt x="78" y="172"/>
                  </a:lnTo>
                  <a:close/>
                  <a:moveTo>
                    <a:pt x="128" y="166"/>
                  </a:moveTo>
                  <a:lnTo>
                    <a:pt x="128" y="166"/>
                  </a:lnTo>
                  <a:lnTo>
                    <a:pt x="126" y="156"/>
                  </a:lnTo>
                  <a:lnTo>
                    <a:pt x="124" y="146"/>
                  </a:lnTo>
                  <a:lnTo>
                    <a:pt x="122" y="138"/>
                  </a:lnTo>
                  <a:lnTo>
                    <a:pt x="116" y="132"/>
                  </a:lnTo>
                  <a:lnTo>
                    <a:pt x="110" y="126"/>
                  </a:lnTo>
                  <a:lnTo>
                    <a:pt x="104" y="120"/>
                  </a:lnTo>
                  <a:lnTo>
                    <a:pt x="96" y="116"/>
                  </a:lnTo>
                  <a:lnTo>
                    <a:pt x="88" y="114"/>
                  </a:lnTo>
                  <a:lnTo>
                    <a:pt x="88" y="160"/>
                  </a:lnTo>
                  <a:lnTo>
                    <a:pt x="128" y="166"/>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6" name="Rectangle 10">
              <a:extLst>
                <a:ext uri="{FF2B5EF4-FFF2-40B4-BE49-F238E27FC236}">
                  <a16:creationId xmlns:a16="http://schemas.microsoft.com/office/drawing/2014/main" id="{21B051B8-3B88-4D5B-B368-3FFFBFF87726}"/>
                </a:ext>
              </a:extLst>
            </p:cNvPr>
            <p:cNvSpPr>
              <a:spLocks noChangeArrowheads="1"/>
            </p:cNvSpPr>
            <p:nvPr/>
          </p:nvSpPr>
          <p:spPr bwMode="auto">
            <a:xfrm>
              <a:off x="7092693" y="2134649"/>
              <a:ext cx="1190354" cy="55399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defTabSz="798513" eaLnBrk="0" hangingPunct="0">
                <a:spcAft>
                  <a:spcPts val="200"/>
                </a:spcAft>
                <a:defRPr/>
              </a:pPr>
              <a:r>
                <a:rPr lang="en-GB" sz="1800" b="1" i="1" kern="0" dirty="0">
                  <a:solidFill>
                    <a:schemeClr val="tx1">
                      <a:lumMod val="95000"/>
                      <a:lumOff val="5000"/>
                    </a:schemeClr>
                  </a:solidFill>
                  <a:latin typeface="+mj-lt"/>
                </a:rPr>
                <a:t>Current State</a:t>
              </a:r>
              <a:endParaRPr lang="en-GB" sz="1800" kern="0" dirty="0">
                <a:solidFill>
                  <a:schemeClr val="tx1">
                    <a:lumMod val="95000"/>
                    <a:lumOff val="5000"/>
                  </a:schemeClr>
                </a:solidFill>
                <a:latin typeface="+mj-lt"/>
                <a:cs typeface="Arial" charset="0"/>
              </a:endParaRPr>
            </a:p>
          </p:txBody>
        </p:sp>
        <p:sp>
          <p:nvSpPr>
            <p:cNvPr id="77" name="Rectangle 10">
              <a:extLst>
                <a:ext uri="{FF2B5EF4-FFF2-40B4-BE49-F238E27FC236}">
                  <a16:creationId xmlns:a16="http://schemas.microsoft.com/office/drawing/2014/main" id="{E3B28252-D2E8-41BD-B7D0-E6D0DAC44D23}"/>
                </a:ext>
              </a:extLst>
            </p:cNvPr>
            <p:cNvSpPr>
              <a:spLocks noChangeArrowheads="1"/>
            </p:cNvSpPr>
            <p:nvPr/>
          </p:nvSpPr>
          <p:spPr bwMode="auto">
            <a:xfrm>
              <a:off x="8524124" y="3591571"/>
              <a:ext cx="1190354" cy="83099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defTabSz="798513" eaLnBrk="0" hangingPunct="0">
                <a:spcAft>
                  <a:spcPts val="200"/>
                </a:spcAft>
                <a:defRPr/>
              </a:pPr>
              <a:r>
                <a:rPr lang="en-GB" sz="1800" b="1" i="1" kern="0" dirty="0">
                  <a:solidFill>
                    <a:schemeClr val="tx1">
                      <a:lumMod val="95000"/>
                      <a:lumOff val="5000"/>
                    </a:schemeClr>
                  </a:solidFill>
                  <a:latin typeface="+mj-lt"/>
                  <a:cs typeface="Arial" charset="0"/>
                </a:rPr>
                <a:t>Short to Medium Term</a:t>
              </a:r>
              <a:endParaRPr lang="en-GB" sz="1800" kern="0" dirty="0">
                <a:solidFill>
                  <a:schemeClr val="tx1">
                    <a:lumMod val="95000"/>
                    <a:lumOff val="5000"/>
                  </a:schemeClr>
                </a:solidFill>
                <a:latin typeface="+mj-lt"/>
                <a:cs typeface="Arial" charset="0"/>
              </a:endParaRPr>
            </a:p>
          </p:txBody>
        </p:sp>
        <p:sp>
          <p:nvSpPr>
            <p:cNvPr id="78" name="Rectangle 10">
              <a:extLst>
                <a:ext uri="{FF2B5EF4-FFF2-40B4-BE49-F238E27FC236}">
                  <a16:creationId xmlns:a16="http://schemas.microsoft.com/office/drawing/2014/main" id="{7BE9D072-0D0B-4785-B2A5-CFA63215AC5F}"/>
                </a:ext>
              </a:extLst>
            </p:cNvPr>
            <p:cNvSpPr>
              <a:spLocks noChangeArrowheads="1"/>
            </p:cNvSpPr>
            <p:nvPr/>
          </p:nvSpPr>
          <p:spPr bwMode="auto">
            <a:xfrm>
              <a:off x="5628715" y="3549036"/>
              <a:ext cx="1190354" cy="19169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defTabSz="798513" eaLnBrk="0" hangingPunct="0">
                <a:spcAft>
                  <a:spcPts val="200"/>
                </a:spcAft>
                <a:defRPr/>
              </a:pPr>
              <a:r>
                <a:rPr lang="en-GB" sz="1800" b="1" kern="0" dirty="0">
                  <a:solidFill>
                    <a:schemeClr val="tx1">
                      <a:lumMod val="95000"/>
                      <a:lumOff val="5000"/>
                    </a:schemeClr>
                  </a:solidFill>
                  <a:latin typeface="+mj-lt"/>
                  <a:cs typeface="Arial" charset="0"/>
                </a:rPr>
                <a:t>Road Map</a:t>
              </a:r>
            </a:p>
          </p:txBody>
        </p:sp>
        <p:sp>
          <p:nvSpPr>
            <p:cNvPr id="79" name="Freeform 7">
              <a:extLst>
                <a:ext uri="{FF2B5EF4-FFF2-40B4-BE49-F238E27FC236}">
                  <a16:creationId xmlns:a16="http://schemas.microsoft.com/office/drawing/2014/main" id="{69AEF0A7-4AAD-491F-AA46-75DB0235EE85}"/>
                </a:ext>
              </a:extLst>
            </p:cNvPr>
            <p:cNvSpPr>
              <a:spLocks/>
            </p:cNvSpPr>
            <p:nvPr/>
          </p:nvSpPr>
          <p:spPr bwMode="auto">
            <a:xfrm>
              <a:off x="6491324" y="4379015"/>
              <a:ext cx="2474867" cy="2135323"/>
            </a:xfrm>
            <a:custGeom>
              <a:avLst/>
              <a:gdLst>
                <a:gd name="T0" fmla="*/ 1304 w 1363"/>
                <a:gd name="T1" fmla="*/ 366 h 1176"/>
                <a:gd name="T2" fmla="*/ 1211 w 1363"/>
                <a:gd name="T3" fmla="*/ 334 h 1176"/>
                <a:gd name="T4" fmla="*/ 1085 w 1363"/>
                <a:gd name="T5" fmla="*/ 265 h 1176"/>
                <a:gd name="T6" fmla="*/ 1034 w 1363"/>
                <a:gd name="T7" fmla="*/ 236 h 1176"/>
                <a:gd name="T8" fmla="*/ 1089 w 1363"/>
                <a:gd name="T9" fmla="*/ 337 h 1176"/>
                <a:gd name="T10" fmla="*/ 1111 w 1363"/>
                <a:gd name="T11" fmla="*/ 414 h 1176"/>
                <a:gd name="T12" fmla="*/ 1118 w 1363"/>
                <a:gd name="T13" fmla="*/ 494 h 1176"/>
                <a:gd name="T14" fmla="*/ 1113 w 1363"/>
                <a:gd name="T15" fmla="*/ 561 h 1176"/>
                <a:gd name="T16" fmla="*/ 1092 w 1363"/>
                <a:gd name="T17" fmla="*/ 644 h 1176"/>
                <a:gd name="T18" fmla="*/ 1054 w 1363"/>
                <a:gd name="T19" fmla="*/ 721 h 1176"/>
                <a:gd name="T20" fmla="*/ 1005 w 1363"/>
                <a:gd name="T21" fmla="*/ 788 h 1176"/>
                <a:gd name="T22" fmla="*/ 943 w 1363"/>
                <a:gd name="T23" fmla="*/ 845 h 1176"/>
                <a:gd name="T24" fmla="*/ 871 w 1363"/>
                <a:gd name="T25" fmla="*/ 888 h 1176"/>
                <a:gd name="T26" fmla="*/ 790 w 1363"/>
                <a:gd name="T27" fmla="*/ 917 h 1176"/>
                <a:gd name="T28" fmla="*/ 704 w 1363"/>
                <a:gd name="T29" fmla="*/ 930 h 1176"/>
                <a:gd name="T30" fmla="*/ 636 w 1363"/>
                <a:gd name="T31" fmla="*/ 928 h 1176"/>
                <a:gd name="T32" fmla="*/ 551 w 1363"/>
                <a:gd name="T33" fmla="*/ 911 h 1176"/>
                <a:gd name="T34" fmla="*/ 473 w 1363"/>
                <a:gd name="T35" fmla="*/ 878 h 1176"/>
                <a:gd name="T36" fmla="*/ 404 w 1363"/>
                <a:gd name="T37" fmla="*/ 832 h 1176"/>
                <a:gd name="T38" fmla="*/ 345 w 1363"/>
                <a:gd name="T39" fmla="*/ 772 h 1176"/>
                <a:gd name="T40" fmla="*/ 297 w 1363"/>
                <a:gd name="T41" fmla="*/ 702 h 1176"/>
                <a:gd name="T42" fmla="*/ 264 w 1363"/>
                <a:gd name="T43" fmla="*/ 624 h 1176"/>
                <a:gd name="T44" fmla="*/ 247 w 1363"/>
                <a:gd name="T45" fmla="*/ 539 h 1176"/>
                <a:gd name="T46" fmla="*/ 245 w 1363"/>
                <a:gd name="T47" fmla="*/ 474 h 1176"/>
                <a:gd name="T48" fmla="*/ 255 w 1363"/>
                <a:gd name="T49" fmla="*/ 393 h 1176"/>
                <a:gd name="T50" fmla="*/ 281 w 1363"/>
                <a:gd name="T51" fmla="*/ 320 h 1176"/>
                <a:gd name="T52" fmla="*/ 353 w 1363"/>
                <a:gd name="T53" fmla="*/ 206 h 1176"/>
                <a:gd name="T54" fmla="*/ 214 w 1363"/>
                <a:gd name="T55" fmla="*/ 0 h 1176"/>
                <a:gd name="T56" fmla="*/ 179 w 1363"/>
                <a:gd name="T57" fmla="*/ 33 h 1176"/>
                <a:gd name="T58" fmla="*/ 71 w 1363"/>
                <a:gd name="T59" fmla="*/ 190 h 1176"/>
                <a:gd name="T60" fmla="*/ 33 w 1363"/>
                <a:gd name="T61" fmla="*/ 279 h 1176"/>
                <a:gd name="T62" fmla="*/ 10 w 1363"/>
                <a:gd name="T63" fmla="*/ 376 h 1176"/>
                <a:gd name="T64" fmla="*/ 0 w 1363"/>
                <a:gd name="T65" fmla="*/ 464 h 1176"/>
                <a:gd name="T66" fmla="*/ 3 w 1363"/>
                <a:gd name="T67" fmla="*/ 563 h 1176"/>
                <a:gd name="T68" fmla="*/ 30 w 1363"/>
                <a:gd name="T69" fmla="*/ 696 h 1176"/>
                <a:gd name="T70" fmla="*/ 82 w 1363"/>
                <a:gd name="T71" fmla="*/ 819 h 1176"/>
                <a:gd name="T72" fmla="*/ 156 w 1363"/>
                <a:gd name="T73" fmla="*/ 928 h 1176"/>
                <a:gd name="T74" fmla="*/ 248 w 1363"/>
                <a:gd name="T75" fmla="*/ 1020 h 1176"/>
                <a:gd name="T76" fmla="*/ 356 w 1363"/>
                <a:gd name="T77" fmla="*/ 1094 h 1176"/>
                <a:gd name="T78" fmla="*/ 479 w 1363"/>
                <a:gd name="T79" fmla="*/ 1144 h 1176"/>
                <a:gd name="T80" fmla="*/ 612 w 1363"/>
                <a:gd name="T81" fmla="*/ 1172 h 1176"/>
                <a:gd name="T82" fmla="*/ 717 w 1363"/>
                <a:gd name="T83" fmla="*/ 1175 h 1176"/>
                <a:gd name="T84" fmla="*/ 852 w 1363"/>
                <a:gd name="T85" fmla="*/ 1154 h 1176"/>
                <a:gd name="T86" fmla="*/ 976 w 1363"/>
                <a:gd name="T87" fmla="*/ 1108 h 1176"/>
                <a:gd name="T88" fmla="*/ 1089 w 1363"/>
                <a:gd name="T89" fmla="*/ 1041 h 1176"/>
                <a:gd name="T90" fmla="*/ 1185 w 1363"/>
                <a:gd name="T91" fmla="*/ 953 h 1176"/>
                <a:gd name="T92" fmla="*/ 1265 w 1363"/>
                <a:gd name="T93" fmla="*/ 847 h 1176"/>
                <a:gd name="T94" fmla="*/ 1321 w 1363"/>
                <a:gd name="T95" fmla="*/ 728 h 1176"/>
                <a:gd name="T96" fmla="*/ 1356 w 1363"/>
                <a:gd name="T97" fmla="*/ 598 h 1176"/>
                <a:gd name="T98" fmla="*/ 1363 w 1363"/>
                <a:gd name="T99" fmla="*/ 494 h 1176"/>
                <a:gd name="T100" fmla="*/ 1353 w 1363"/>
                <a:gd name="T101" fmla="*/ 3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63" h="1176">
                  <a:moveTo>
                    <a:pt x="1353" y="376"/>
                  </a:moveTo>
                  <a:lnTo>
                    <a:pt x="1353" y="376"/>
                  </a:lnTo>
                  <a:lnTo>
                    <a:pt x="1328" y="370"/>
                  </a:lnTo>
                  <a:lnTo>
                    <a:pt x="1304" y="366"/>
                  </a:lnTo>
                  <a:lnTo>
                    <a:pt x="1281" y="359"/>
                  </a:lnTo>
                  <a:lnTo>
                    <a:pt x="1258" y="352"/>
                  </a:lnTo>
                  <a:lnTo>
                    <a:pt x="1235" y="343"/>
                  </a:lnTo>
                  <a:lnTo>
                    <a:pt x="1211" y="334"/>
                  </a:lnTo>
                  <a:lnTo>
                    <a:pt x="1188" y="326"/>
                  </a:lnTo>
                  <a:lnTo>
                    <a:pt x="1167" y="314"/>
                  </a:lnTo>
                  <a:lnTo>
                    <a:pt x="1125" y="291"/>
                  </a:lnTo>
                  <a:lnTo>
                    <a:pt x="1085" y="265"/>
                  </a:lnTo>
                  <a:lnTo>
                    <a:pt x="1046" y="238"/>
                  </a:lnTo>
                  <a:lnTo>
                    <a:pt x="1010" y="206"/>
                  </a:lnTo>
                  <a:lnTo>
                    <a:pt x="1010" y="206"/>
                  </a:lnTo>
                  <a:lnTo>
                    <a:pt x="1034" y="236"/>
                  </a:lnTo>
                  <a:lnTo>
                    <a:pt x="1056" y="268"/>
                  </a:lnTo>
                  <a:lnTo>
                    <a:pt x="1073" y="303"/>
                  </a:lnTo>
                  <a:lnTo>
                    <a:pt x="1082" y="320"/>
                  </a:lnTo>
                  <a:lnTo>
                    <a:pt x="1089" y="337"/>
                  </a:lnTo>
                  <a:lnTo>
                    <a:pt x="1096" y="356"/>
                  </a:lnTo>
                  <a:lnTo>
                    <a:pt x="1102" y="375"/>
                  </a:lnTo>
                  <a:lnTo>
                    <a:pt x="1106" y="393"/>
                  </a:lnTo>
                  <a:lnTo>
                    <a:pt x="1111" y="414"/>
                  </a:lnTo>
                  <a:lnTo>
                    <a:pt x="1113" y="434"/>
                  </a:lnTo>
                  <a:lnTo>
                    <a:pt x="1116" y="452"/>
                  </a:lnTo>
                  <a:lnTo>
                    <a:pt x="1118" y="474"/>
                  </a:lnTo>
                  <a:lnTo>
                    <a:pt x="1118" y="494"/>
                  </a:lnTo>
                  <a:lnTo>
                    <a:pt x="1118" y="494"/>
                  </a:lnTo>
                  <a:lnTo>
                    <a:pt x="1118" y="516"/>
                  </a:lnTo>
                  <a:lnTo>
                    <a:pt x="1116" y="539"/>
                  </a:lnTo>
                  <a:lnTo>
                    <a:pt x="1113" y="561"/>
                  </a:lnTo>
                  <a:lnTo>
                    <a:pt x="1109" y="582"/>
                  </a:lnTo>
                  <a:lnTo>
                    <a:pt x="1105" y="604"/>
                  </a:lnTo>
                  <a:lnTo>
                    <a:pt x="1099" y="624"/>
                  </a:lnTo>
                  <a:lnTo>
                    <a:pt x="1092" y="644"/>
                  </a:lnTo>
                  <a:lnTo>
                    <a:pt x="1083" y="664"/>
                  </a:lnTo>
                  <a:lnTo>
                    <a:pt x="1074" y="683"/>
                  </a:lnTo>
                  <a:lnTo>
                    <a:pt x="1066" y="702"/>
                  </a:lnTo>
                  <a:lnTo>
                    <a:pt x="1054" y="721"/>
                  </a:lnTo>
                  <a:lnTo>
                    <a:pt x="1044" y="738"/>
                  </a:lnTo>
                  <a:lnTo>
                    <a:pt x="1031" y="755"/>
                  </a:lnTo>
                  <a:lnTo>
                    <a:pt x="1018" y="772"/>
                  </a:lnTo>
                  <a:lnTo>
                    <a:pt x="1005" y="788"/>
                  </a:lnTo>
                  <a:lnTo>
                    <a:pt x="991" y="803"/>
                  </a:lnTo>
                  <a:lnTo>
                    <a:pt x="975" y="817"/>
                  </a:lnTo>
                  <a:lnTo>
                    <a:pt x="959" y="832"/>
                  </a:lnTo>
                  <a:lnTo>
                    <a:pt x="943" y="845"/>
                  </a:lnTo>
                  <a:lnTo>
                    <a:pt x="926" y="856"/>
                  </a:lnTo>
                  <a:lnTo>
                    <a:pt x="907" y="868"/>
                  </a:lnTo>
                  <a:lnTo>
                    <a:pt x="890" y="878"/>
                  </a:lnTo>
                  <a:lnTo>
                    <a:pt x="871" y="888"/>
                  </a:lnTo>
                  <a:lnTo>
                    <a:pt x="851" y="896"/>
                  </a:lnTo>
                  <a:lnTo>
                    <a:pt x="832" y="904"/>
                  </a:lnTo>
                  <a:lnTo>
                    <a:pt x="811" y="911"/>
                  </a:lnTo>
                  <a:lnTo>
                    <a:pt x="790" y="917"/>
                  </a:lnTo>
                  <a:lnTo>
                    <a:pt x="769" y="922"/>
                  </a:lnTo>
                  <a:lnTo>
                    <a:pt x="747" y="925"/>
                  </a:lnTo>
                  <a:lnTo>
                    <a:pt x="725" y="928"/>
                  </a:lnTo>
                  <a:lnTo>
                    <a:pt x="704" y="930"/>
                  </a:lnTo>
                  <a:lnTo>
                    <a:pt x="681" y="931"/>
                  </a:lnTo>
                  <a:lnTo>
                    <a:pt x="681" y="931"/>
                  </a:lnTo>
                  <a:lnTo>
                    <a:pt x="659" y="930"/>
                  </a:lnTo>
                  <a:lnTo>
                    <a:pt x="636" y="928"/>
                  </a:lnTo>
                  <a:lnTo>
                    <a:pt x="614" y="925"/>
                  </a:lnTo>
                  <a:lnTo>
                    <a:pt x="593" y="922"/>
                  </a:lnTo>
                  <a:lnTo>
                    <a:pt x="573" y="917"/>
                  </a:lnTo>
                  <a:lnTo>
                    <a:pt x="551" y="911"/>
                  </a:lnTo>
                  <a:lnTo>
                    <a:pt x="531" y="904"/>
                  </a:lnTo>
                  <a:lnTo>
                    <a:pt x="511" y="896"/>
                  </a:lnTo>
                  <a:lnTo>
                    <a:pt x="492" y="888"/>
                  </a:lnTo>
                  <a:lnTo>
                    <a:pt x="473" y="878"/>
                  </a:lnTo>
                  <a:lnTo>
                    <a:pt x="454" y="868"/>
                  </a:lnTo>
                  <a:lnTo>
                    <a:pt x="437" y="856"/>
                  </a:lnTo>
                  <a:lnTo>
                    <a:pt x="420" y="845"/>
                  </a:lnTo>
                  <a:lnTo>
                    <a:pt x="404" y="832"/>
                  </a:lnTo>
                  <a:lnTo>
                    <a:pt x="388" y="817"/>
                  </a:lnTo>
                  <a:lnTo>
                    <a:pt x="372" y="803"/>
                  </a:lnTo>
                  <a:lnTo>
                    <a:pt x="358" y="788"/>
                  </a:lnTo>
                  <a:lnTo>
                    <a:pt x="345" y="772"/>
                  </a:lnTo>
                  <a:lnTo>
                    <a:pt x="332" y="755"/>
                  </a:lnTo>
                  <a:lnTo>
                    <a:pt x="319" y="738"/>
                  </a:lnTo>
                  <a:lnTo>
                    <a:pt x="307" y="721"/>
                  </a:lnTo>
                  <a:lnTo>
                    <a:pt x="297" y="702"/>
                  </a:lnTo>
                  <a:lnTo>
                    <a:pt x="287" y="683"/>
                  </a:lnTo>
                  <a:lnTo>
                    <a:pt x="278" y="664"/>
                  </a:lnTo>
                  <a:lnTo>
                    <a:pt x="271" y="644"/>
                  </a:lnTo>
                  <a:lnTo>
                    <a:pt x="264" y="624"/>
                  </a:lnTo>
                  <a:lnTo>
                    <a:pt x="258" y="604"/>
                  </a:lnTo>
                  <a:lnTo>
                    <a:pt x="254" y="582"/>
                  </a:lnTo>
                  <a:lnTo>
                    <a:pt x="250" y="561"/>
                  </a:lnTo>
                  <a:lnTo>
                    <a:pt x="247" y="539"/>
                  </a:lnTo>
                  <a:lnTo>
                    <a:pt x="245" y="516"/>
                  </a:lnTo>
                  <a:lnTo>
                    <a:pt x="244" y="494"/>
                  </a:lnTo>
                  <a:lnTo>
                    <a:pt x="244" y="494"/>
                  </a:lnTo>
                  <a:lnTo>
                    <a:pt x="245" y="474"/>
                  </a:lnTo>
                  <a:lnTo>
                    <a:pt x="247" y="452"/>
                  </a:lnTo>
                  <a:lnTo>
                    <a:pt x="248" y="434"/>
                  </a:lnTo>
                  <a:lnTo>
                    <a:pt x="252" y="414"/>
                  </a:lnTo>
                  <a:lnTo>
                    <a:pt x="255" y="393"/>
                  </a:lnTo>
                  <a:lnTo>
                    <a:pt x="261" y="375"/>
                  </a:lnTo>
                  <a:lnTo>
                    <a:pt x="267" y="356"/>
                  </a:lnTo>
                  <a:lnTo>
                    <a:pt x="274" y="337"/>
                  </a:lnTo>
                  <a:lnTo>
                    <a:pt x="281" y="320"/>
                  </a:lnTo>
                  <a:lnTo>
                    <a:pt x="289" y="303"/>
                  </a:lnTo>
                  <a:lnTo>
                    <a:pt x="307" y="268"/>
                  </a:lnTo>
                  <a:lnTo>
                    <a:pt x="329" y="236"/>
                  </a:lnTo>
                  <a:lnTo>
                    <a:pt x="353" y="206"/>
                  </a:lnTo>
                  <a:lnTo>
                    <a:pt x="353" y="206"/>
                  </a:lnTo>
                  <a:lnTo>
                    <a:pt x="369" y="189"/>
                  </a:lnTo>
                  <a:lnTo>
                    <a:pt x="387" y="173"/>
                  </a:lnTo>
                  <a:lnTo>
                    <a:pt x="214" y="0"/>
                  </a:lnTo>
                  <a:lnTo>
                    <a:pt x="214" y="0"/>
                  </a:lnTo>
                  <a:lnTo>
                    <a:pt x="196" y="17"/>
                  </a:lnTo>
                  <a:lnTo>
                    <a:pt x="179" y="33"/>
                  </a:lnTo>
                  <a:lnTo>
                    <a:pt x="179" y="33"/>
                  </a:lnTo>
                  <a:lnTo>
                    <a:pt x="149" y="69"/>
                  </a:lnTo>
                  <a:lnTo>
                    <a:pt x="120" y="108"/>
                  </a:lnTo>
                  <a:lnTo>
                    <a:pt x="94" y="148"/>
                  </a:lnTo>
                  <a:lnTo>
                    <a:pt x="71" y="190"/>
                  </a:lnTo>
                  <a:lnTo>
                    <a:pt x="61" y="212"/>
                  </a:lnTo>
                  <a:lnTo>
                    <a:pt x="51" y="235"/>
                  </a:lnTo>
                  <a:lnTo>
                    <a:pt x="42" y="256"/>
                  </a:lnTo>
                  <a:lnTo>
                    <a:pt x="33" y="279"/>
                  </a:lnTo>
                  <a:lnTo>
                    <a:pt x="26" y="304"/>
                  </a:lnTo>
                  <a:lnTo>
                    <a:pt x="20" y="327"/>
                  </a:lnTo>
                  <a:lnTo>
                    <a:pt x="15" y="352"/>
                  </a:lnTo>
                  <a:lnTo>
                    <a:pt x="10" y="376"/>
                  </a:lnTo>
                  <a:lnTo>
                    <a:pt x="10" y="376"/>
                  </a:lnTo>
                  <a:lnTo>
                    <a:pt x="6" y="405"/>
                  </a:lnTo>
                  <a:lnTo>
                    <a:pt x="2" y="434"/>
                  </a:lnTo>
                  <a:lnTo>
                    <a:pt x="0" y="464"/>
                  </a:lnTo>
                  <a:lnTo>
                    <a:pt x="0" y="494"/>
                  </a:lnTo>
                  <a:lnTo>
                    <a:pt x="0" y="494"/>
                  </a:lnTo>
                  <a:lnTo>
                    <a:pt x="0" y="529"/>
                  </a:lnTo>
                  <a:lnTo>
                    <a:pt x="3" y="563"/>
                  </a:lnTo>
                  <a:lnTo>
                    <a:pt x="7" y="598"/>
                  </a:lnTo>
                  <a:lnTo>
                    <a:pt x="13" y="631"/>
                  </a:lnTo>
                  <a:lnTo>
                    <a:pt x="20" y="664"/>
                  </a:lnTo>
                  <a:lnTo>
                    <a:pt x="30" y="696"/>
                  </a:lnTo>
                  <a:lnTo>
                    <a:pt x="41" y="728"/>
                  </a:lnTo>
                  <a:lnTo>
                    <a:pt x="53" y="760"/>
                  </a:lnTo>
                  <a:lnTo>
                    <a:pt x="66" y="790"/>
                  </a:lnTo>
                  <a:lnTo>
                    <a:pt x="82" y="819"/>
                  </a:lnTo>
                  <a:lnTo>
                    <a:pt x="98" y="847"/>
                  </a:lnTo>
                  <a:lnTo>
                    <a:pt x="115" y="875"/>
                  </a:lnTo>
                  <a:lnTo>
                    <a:pt x="136" y="902"/>
                  </a:lnTo>
                  <a:lnTo>
                    <a:pt x="156" y="928"/>
                  </a:lnTo>
                  <a:lnTo>
                    <a:pt x="176" y="953"/>
                  </a:lnTo>
                  <a:lnTo>
                    <a:pt x="199" y="976"/>
                  </a:lnTo>
                  <a:lnTo>
                    <a:pt x="224" y="999"/>
                  </a:lnTo>
                  <a:lnTo>
                    <a:pt x="248" y="1020"/>
                  </a:lnTo>
                  <a:lnTo>
                    <a:pt x="274" y="1041"/>
                  </a:lnTo>
                  <a:lnTo>
                    <a:pt x="300" y="1059"/>
                  </a:lnTo>
                  <a:lnTo>
                    <a:pt x="327" y="1077"/>
                  </a:lnTo>
                  <a:lnTo>
                    <a:pt x="356" y="1094"/>
                  </a:lnTo>
                  <a:lnTo>
                    <a:pt x="385" y="1108"/>
                  </a:lnTo>
                  <a:lnTo>
                    <a:pt x="415" y="1121"/>
                  </a:lnTo>
                  <a:lnTo>
                    <a:pt x="447" y="1134"/>
                  </a:lnTo>
                  <a:lnTo>
                    <a:pt x="479" y="1144"/>
                  </a:lnTo>
                  <a:lnTo>
                    <a:pt x="511" y="1154"/>
                  </a:lnTo>
                  <a:lnTo>
                    <a:pt x="544" y="1162"/>
                  </a:lnTo>
                  <a:lnTo>
                    <a:pt x="577" y="1167"/>
                  </a:lnTo>
                  <a:lnTo>
                    <a:pt x="612" y="1172"/>
                  </a:lnTo>
                  <a:lnTo>
                    <a:pt x="646" y="1175"/>
                  </a:lnTo>
                  <a:lnTo>
                    <a:pt x="681" y="1176"/>
                  </a:lnTo>
                  <a:lnTo>
                    <a:pt x="681" y="1176"/>
                  </a:lnTo>
                  <a:lnTo>
                    <a:pt x="717" y="1175"/>
                  </a:lnTo>
                  <a:lnTo>
                    <a:pt x="751" y="1172"/>
                  </a:lnTo>
                  <a:lnTo>
                    <a:pt x="785" y="1167"/>
                  </a:lnTo>
                  <a:lnTo>
                    <a:pt x="819" y="1162"/>
                  </a:lnTo>
                  <a:lnTo>
                    <a:pt x="852" y="1154"/>
                  </a:lnTo>
                  <a:lnTo>
                    <a:pt x="884" y="1144"/>
                  </a:lnTo>
                  <a:lnTo>
                    <a:pt x="916" y="1134"/>
                  </a:lnTo>
                  <a:lnTo>
                    <a:pt x="946" y="1121"/>
                  </a:lnTo>
                  <a:lnTo>
                    <a:pt x="976" y="1108"/>
                  </a:lnTo>
                  <a:lnTo>
                    <a:pt x="1007" y="1094"/>
                  </a:lnTo>
                  <a:lnTo>
                    <a:pt x="1036" y="1077"/>
                  </a:lnTo>
                  <a:lnTo>
                    <a:pt x="1063" y="1059"/>
                  </a:lnTo>
                  <a:lnTo>
                    <a:pt x="1089" y="1041"/>
                  </a:lnTo>
                  <a:lnTo>
                    <a:pt x="1115" y="1020"/>
                  </a:lnTo>
                  <a:lnTo>
                    <a:pt x="1139" y="999"/>
                  </a:lnTo>
                  <a:lnTo>
                    <a:pt x="1164" y="976"/>
                  </a:lnTo>
                  <a:lnTo>
                    <a:pt x="1185" y="953"/>
                  </a:lnTo>
                  <a:lnTo>
                    <a:pt x="1207" y="928"/>
                  </a:lnTo>
                  <a:lnTo>
                    <a:pt x="1227" y="902"/>
                  </a:lnTo>
                  <a:lnTo>
                    <a:pt x="1246" y="875"/>
                  </a:lnTo>
                  <a:lnTo>
                    <a:pt x="1265" y="847"/>
                  </a:lnTo>
                  <a:lnTo>
                    <a:pt x="1281" y="819"/>
                  </a:lnTo>
                  <a:lnTo>
                    <a:pt x="1295" y="790"/>
                  </a:lnTo>
                  <a:lnTo>
                    <a:pt x="1310" y="760"/>
                  </a:lnTo>
                  <a:lnTo>
                    <a:pt x="1321" y="728"/>
                  </a:lnTo>
                  <a:lnTo>
                    <a:pt x="1333" y="696"/>
                  </a:lnTo>
                  <a:lnTo>
                    <a:pt x="1341" y="664"/>
                  </a:lnTo>
                  <a:lnTo>
                    <a:pt x="1350" y="631"/>
                  </a:lnTo>
                  <a:lnTo>
                    <a:pt x="1356" y="598"/>
                  </a:lnTo>
                  <a:lnTo>
                    <a:pt x="1360" y="563"/>
                  </a:lnTo>
                  <a:lnTo>
                    <a:pt x="1363" y="529"/>
                  </a:lnTo>
                  <a:lnTo>
                    <a:pt x="1363" y="494"/>
                  </a:lnTo>
                  <a:lnTo>
                    <a:pt x="1363" y="494"/>
                  </a:lnTo>
                  <a:lnTo>
                    <a:pt x="1363" y="464"/>
                  </a:lnTo>
                  <a:lnTo>
                    <a:pt x="1360" y="434"/>
                  </a:lnTo>
                  <a:lnTo>
                    <a:pt x="1357" y="405"/>
                  </a:lnTo>
                  <a:lnTo>
                    <a:pt x="1353" y="376"/>
                  </a:lnTo>
                  <a:lnTo>
                    <a:pt x="1353" y="376"/>
                  </a:lnTo>
                  <a:close/>
                </a:path>
              </a:pathLst>
            </a:custGeom>
            <a:solidFill>
              <a:srgbClr val="DC6900"/>
            </a:solidFill>
            <a:ln w="9525">
              <a:no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80" name="Rectangle 10">
              <a:extLst>
                <a:ext uri="{FF2B5EF4-FFF2-40B4-BE49-F238E27FC236}">
                  <a16:creationId xmlns:a16="http://schemas.microsoft.com/office/drawing/2014/main" id="{EDEE8E3C-4491-483E-B5FF-089F9843633F}"/>
                </a:ext>
              </a:extLst>
            </p:cNvPr>
            <p:cNvSpPr>
              <a:spLocks noChangeArrowheads="1"/>
            </p:cNvSpPr>
            <p:nvPr/>
          </p:nvSpPr>
          <p:spPr bwMode="auto">
            <a:xfrm>
              <a:off x="7075843" y="4976986"/>
              <a:ext cx="1190354" cy="38338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defTabSz="798513" eaLnBrk="0" hangingPunct="0">
                <a:spcAft>
                  <a:spcPts val="200"/>
                </a:spcAft>
                <a:defRPr/>
              </a:pPr>
              <a:r>
                <a:rPr lang="en-GB" sz="1800" b="1" i="1" kern="0" dirty="0">
                  <a:solidFill>
                    <a:schemeClr val="tx1">
                      <a:lumMod val="95000"/>
                      <a:lumOff val="5000"/>
                    </a:schemeClr>
                  </a:solidFill>
                  <a:latin typeface="+mj-lt"/>
                  <a:cs typeface="Arial" charset="0"/>
                </a:rPr>
                <a:t>Medium to Long Term</a:t>
              </a:r>
              <a:endParaRPr lang="en-GB" sz="1800" kern="0" dirty="0">
                <a:solidFill>
                  <a:schemeClr val="tx1">
                    <a:lumMod val="95000"/>
                    <a:lumOff val="5000"/>
                  </a:schemeClr>
                </a:solidFill>
                <a:latin typeface="+mj-lt"/>
                <a:cs typeface="Arial" charset="0"/>
              </a:endParaRPr>
            </a:p>
          </p:txBody>
        </p:sp>
        <p:sp>
          <p:nvSpPr>
            <p:cNvPr id="81" name="TextBox 80">
              <a:extLst>
                <a:ext uri="{FF2B5EF4-FFF2-40B4-BE49-F238E27FC236}">
                  <a16:creationId xmlns:a16="http://schemas.microsoft.com/office/drawing/2014/main" id="{5E259288-5792-4CAC-AF8D-AF24F43ECCE1}"/>
                </a:ext>
              </a:extLst>
            </p:cNvPr>
            <p:cNvSpPr txBox="1"/>
            <p:nvPr/>
          </p:nvSpPr>
          <p:spPr>
            <a:xfrm rot="197542">
              <a:off x="6671935" y="6081308"/>
              <a:ext cx="1917869" cy="322831"/>
            </a:xfrm>
            <a:prstGeom prst="rect">
              <a:avLst/>
            </a:prstGeom>
            <a:noFill/>
          </p:spPr>
          <p:txBody>
            <a:bodyPr wrap="square" lIns="0" tIns="0" rIns="0" bIns="0" rtlCol="0">
              <a:prstTxWarp prst="textArchDown">
                <a:avLst/>
              </a:prstTxWarp>
              <a:noAutofit/>
            </a:bodyPr>
            <a:lstStyle/>
            <a:p>
              <a:pPr algn="ctr">
                <a:spcAft>
                  <a:spcPts val="900"/>
                </a:spcAft>
              </a:pPr>
              <a:r>
                <a:rPr lang="en-GB" sz="2800" b="1" dirty="0">
                  <a:solidFill>
                    <a:schemeClr val="bg1"/>
                  </a:solidFill>
                  <a:latin typeface="+mj-lt"/>
                </a:rPr>
                <a:t>03</a:t>
              </a:r>
            </a:p>
          </p:txBody>
        </p:sp>
        <p:sp>
          <p:nvSpPr>
            <p:cNvPr id="82" name="TextBox 81">
              <a:extLst>
                <a:ext uri="{FF2B5EF4-FFF2-40B4-BE49-F238E27FC236}">
                  <a16:creationId xmlns:a16="http://schemas.microsoft.com/office/drawing/2014/main" id="{0C400780-1827-4F9C-8CBE-A2277882762C}"/>
                </a:ext>
              </a:extLst>
            </p:cNvPr>
            <p:cNvSpPr txBox="1"/>
            <p:nvPr/>
          </p:nvSpPr>
          <p:spPr>
            <a:xfrm rot="187485">
              <a:off x="6926250" y="1193631"/>
              <a:ext cx="1424985" cy="340536"/>
            </a:xfrm>
            <a:prstGeom prst="rect">
              <a:avLst/>
            </a:prstGeom>
            <a:noFill/>
          </p:spPr>
          <p:txBody>
            <a:bodyPr wrap="square" lIns="0" tIns="0" rIns="0" bIns="0" rtlCol="0">
              <a:prstTxWarp prst="textArchDown">
                <a:avLst/>
              </a:prstTxWarp>
              <a:noAutofit/>
            </a:bodyPr>
            <a:lstStyle/>
            <a:p>
              <a:pPr algn="ctr">
                <a:spcAft>
                  <a:spcPts val="900"/>
                </a:spcAft>
              </a:pPr>
              <a:r>
                <a:rPr lang="en-GB" sz="2800" b="1" dirty="0">
                  <a:solidFill>
                    <a:schemeClr val="bg1"/>
                  </a:solidFill>
                  <a:latin typeface="+mj-lt"/>
                </a:rPr>
                <a:t>01</a:t>
              </a:r>
            </a:p>
          </p:txBody>
        </p:sp>
      </p:grpSp>
    </p:spTree>
    <p:extLst>
      <p:ext uri="{BB962C8B-B14F-4D97-AF65-F5344CB8AC3E}">
        <p14:creationId xmlns:p14="http://schemas.microsoft.com/office/powerpoint/2010/main" val="310539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355" name="Picture 354" descr="Logo, company name&#10;&#10;Description automatically generated">
            <a:extLst>
              <a:ext uri="{FF2B5EF4-FFF2-40B4-BE49-F238E27FC236}">
                <a16:creationId xmlns:a16="http://schemas.microsoft.com/office/drawing/2014/main" id="{E4B7DDA8-F8BA-4836-8F26-63645E6AFE9C}"/>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550843" y="2523544"/>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t>Information Security Maturity Roadmap in View of NIST –Cyber Security Framework</a:t>
            </a:r>
            <a:br>
              <a:rPr lang="en-US" sz="3750" dirty="0"/>
            </a:br>
            <a:br>
              <a:rPr lang="en-US" sz="3750" dirty="0"/>
            </a:b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860AC760-4D7F-4E3E-B053-110FCB9BE45D}"/>
              </a:ext>
            </a:extLst>
          </p:cNvPr>
          <p:cNvSpPr txBox="1"/>
          <p:nvPr/>
        </p:nvSpPr>
        <p:spPr>
          <a:xfrm>
            <a:off x="17682938" y="10777812"/>
            <a:ext cx="2020901" cy="307777"/>
          </a:xfrm>
          <a:prstGeom prst="rect">
            <a:avLst/>
          </a:prstGeom>
          <a:solidFill>
            <a:schemeClr val="bg2">
              <a:lumMod val="60000"/>
              <a:lumOff val="40000"/>
            </a:schemeClr>
          </a:solidFill>
        </p:spPr>
        <p:txBody>
          <a:bodyPr wrap="square" rtlCol="0">
            <a:spAutoFit/>
          </a:bodyPr>
          <a:lstStyle/>
          <a:p>
            <a:r>
              <a:rPr lang="en-US" dirty="0"/>
              <a:t>Future Practice Score</a:t>
            </a:r>
            <a:endParaRPr lang="en-PK" dirty="0"/>
          </a:p>
        </p:txBody>
      </p:sp>
      <p:sp>
        <p:nvSpPr>
          <p:cNvPr id="30" name="TextBox 29">
            <a:extLst>
              <a:ext uri="{FF2B5EF4-FFF2-40B4-BE49-F238E27FC236}">
                <a16:creationId xmlns:a16="http://schemas.microsoft.com/office/drawing/2014/main" id="{595163F7-A992-4B7E-A9D6-2A4A3F92D80F}"/>
              </a:ext>
            </a:extLst>
          </p:cNvPr>
          <p:cNvSpPr txBox="1"/>
          <p:nvPr/>
        </p:nvSpPr>
        <p:spPr>
          <a:xfrm>
            <a:off x="17682937" y="10422145"/>
            <a:ext cx="2020901" cy="307777"/>
          </a:xfrm>
          <a:prstGeom prst="rect">
            <a:avLst/>
          </a:prstGeom>
          <a:solidFill>
            <a:srgbClr val="FFC000"/>
          </a:solidFill>
        </p:spPr>
        <p:txBody>
          <a:bodyPr wrap="square" rtlCol="0">
            <a:spAutoFit/>
          </a:bodyPr>
          <a:lstStyle/>
          <a:p>
            <a:r>
              <a:rPr lang="en-US" dirty="0"/>
              <a:t>Current Practice Score</a:t>
            </a:r>
            <a:endParaRPr lang="en-PK" dirty="0"/>
          </a:p>
        </p:txBody>
      </p:sp>
      <p:graphicFrame>
        <p:nvGraphicFramePr>
          <p:cNvPr id="31" name="Chart 30">
            <a:extLst>
              <a:ext uri="{FF2B5EF4-FFF2-40B4-BE49-F238E27FC236}">
                <a16:creationId xmlns:a16="http://schemas.microsoft.com/office/drawing/2014/main" id="{A514C808-BC45-E249-817A-670AFDA6FA47}"/>
              </a:ext>
            </a:extLst>
          </p:cNvPr>
          <p:cNvGraphicFramePr>
            <a:graphicFrameLocks/>
          </p:cNvGraphicFramePr>
          <p:nvPr>
            <p:extLst>
              <p:ext uri="{D42A27DB-BD31-4B8C-83A1-F6EECF244321}">
                <p14:modId xmlns:p14="http://schemas.microsoft.com/office/powerpoint/2010/main" val="3707628119"/>
              </p:ext>
            </p:extLst>
          </p:nvPr>
        </p:nvGraphicFramePr>
        <p:xfrm>
          <a:off x="400261" y="2572071"/>
          <a:ext cx="18637134" cy="828694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 name="Diagram 2">
            <a:extLst>
              <a:ext uri="{FF2B5EF4-FFF2-40B4-BE49-F238E27FC236}">
                <a16:creationId xmlns:a16="http://schemas.microsoft.com/office/drawing/2014/main" id="{5D171795-C3F1-4749-A8A5-B20082BEA390}"/>
              </a:ext>
            </a:extLst>
          </p:cNvPr>
          <p:cNvGraphicFramePr/>
          <p:nvPr>
            <p:extLst>
              <p:ext uri="{D42A27DB-BD31-4B8C-83A1-F6EECF244321}">
                <p14:modId xmlns:p14="http://schemas.microsoft.com/office/powerpoint/2010/main" val="432987837"/>
              </p:ext>
            </p:extLst>
          </p:nvPr>
        </p:nvGraphicFramePr>
        <p:xfrm>
          <a:off x="-266183" y="4434144"/>
          <a:ext cx="4251960" cy="610650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cxnSp>
        <p:nvCxnSpPr>
          <p:cNvPr id="5" name="Straight Connector 4">
            <a:extLst>
              <a:ext uri="{FF2B5EF4-FFF2-40B4-BE49-F238E27FC236}">
                <a16:creationId xmlns:a16="http://schemas.microsoft.com/office/drawing/2014/main" id="{ED21DB67-D095-4E60-8CF8-717AEC44C51D}"/>
              </a:ext>
            </a:extLst>
          </p:cNvPr>
          <p:cNvCxnSpPr/>
          <p:nvPr/>
        </p:nvCxnSpPr>
        <p:spPr>
          <a:xfrm>
            <a:off x="3818137" y="2743200"/>
            <a:ext cx="0" cy="8235709"/>
          </a:xfrm>
          <a:prstGeom prst="line">
            <a:avLst/>
          </a:prstGeom>
          <a:ln w="254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7822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550843" y="2523544"/>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effectLst>
                  <a:outerShdw blurRad="38100" dist="38100" dir="2700000" algn="tl">
                    <a:srgbClr val="000000">
                      <a:alpha val="43137"/>
                    </a:srgbClr>
                  </a:outerShdw>
                </a:effectLst>
              </a:rPr>
              <a:t>Objective 1 : Identify</a:t>
            </a:r>
            <a:br>
              <a:rPr lang="en-US" sz="3750" dirty="0"/>
            </a:br>
            <a:r>
              <a:rPr lang="en-US" sz="2400" b="1" i="1" dirty="0">
                <a:solidFill>
                  <a:schemeClr val="accent6">
                    <a:lumMod val="75000"/>
                  </a:schemeClr>
                </a:solidFill>
                <a:effectLst>
                  <a:outerShdw blurRad="38100" dist="38100" dir="2700000" algn="tl">
                    <a:srgbClr val="000000">
                      <a:alpha val="43137"/>
                    </a:srgbClr>
                  </a:outerShdw>
                </a:effectLst>
              </a:rPr>
              <a:t>“Effectively Manage People, Risk, Resources and Governance to address cyber security risks”</a:t>
            </a:r>
            <a:br>
              <a:rPr lang="en-US" sz="3750" dirty="0"/>
            </a:br>
            <a:br>
              <a:rPr lang="en-US" sz="3750" dirty="0"/>
            </a:b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912" name="Google Shape;912;p46"/>
          <p:cNvSpPr/>
          <p:nvPr/>
        </p:nvSpPr>
        <p:spPr>
          <a:xfrm>
            <a:off x="487912" y="2533359"/>
            <a:ext cx="18705981" cy="654261"/>
          </a:xfrm>
          <a:prstGeom prst="rect">
            <a:avLst/>
          </a:prstGeom>
          <a:noFill/>
          <a:ln w="6350">
            <a:noFill/>
            <a:prstDash val="sysDash"/>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800" b="1" dirty="0">
                <a:solidFill>
                  <a:schemeClr val="accent1">
                    <a:lumMod val="50000"/>
                  </a:schemeClr>
                </a:solidFill>
                <a:latin typeface="+mj-lt"/>
              </a:rPr>
              <a:t>The Bank will have the Governance and information needed to manage and oversee cyber security risk</a:t>
            </a:r>
          </a:p>
        </p:txBody>
      </p:sp>
      <p:grpSp>
        <p:nvGrpSpPr>
          <p:cNvPr id="72" name="Google Shape;2795;p183">
            <a:extLst>
              <a:ext uri="{FF2B5EF4-FFF2-40B4-BE49-F238E27FC236}">
                <a16:creationId xmlns:a16="http://schemas.microsoft.com/office/drawing/2014/main" id="{B2A4965D-4870-44DA-9ED1-DD9DA9C3EA9F}"/>
              </a:ext>
            </a:extLst>
          </p:cNvPr>
          <p:cNvGrpSpPr/>
          <p:nvPr/>
        </p:nvGrpSpPr>
        <p:grpSpPr>
          <a:xfrm>
            <a:off x="959670" y="3195473"/>
            <a:ext cx="18465195" cy="1828800"/>
            <a:chOff x="528183" y="2404385"/>
            <a:chExt cx="7159360" cy="809073"/>
          </a:xfrm>
        </p:grpSpPr>
        <p:sp>
          <p:nvSpPr>
            <p:cNvPr id="73" name="Google Shape;2796;p183">
              <a:extLst>
                <a:ext uri="{FF2B5EF4-FFF2-40B4-BE49-F238E27FC236}">
                  <a16:creationId xmlns:a16="http://schemas.microsoft.com/office/drawing/2014/main" id="{9F07649F-38B1-4C5E-B139-2EEB1B2B54BB}"/>
                </a:ext>
              </a:extLst>
            </p:cNvPr>
            <p:cNvSpPr/>
            <p:nvPr/>
          </p:nvSpPr>
          <p:spPr>
            <a:xfrm>
              <a:off x="528638" y="2404673"/>
              <a:ext cx="7158900" cy="320100"/>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OBJECTIVES</a:t>
              </a:r>
            </a:p>
          </p:txBody>
        </p:sp>
        <p:sp>
          <p:nvSpPr>
            <p:cNvPr id="74" name="Google Shape;2797;p183">
              <a:extLst>
                <a:ext uri="{FF2B5EF4-FFF2-40B4-BE49-F238E27FC236}">
                  <a16:creationId xmlns:a16="http://schemas.microsoft.com/office/drawing/2014/main" id="{654E65AF-B7FE-416D-A0ED-8FF41EBE20AE}"/>
                </a:ext>
              </a:extLst>
            </p:cNvPr>
            <p:cNvSpPr/>
            <p:nvPr/>
          </p:nvSpPr>
          <p:spPr>
            <a:xfrm>
              <a:off x="528643" y="2734058"/>
              <a:ext cx="7158900" cy="479400"/>
            </a:xfrm>
            <a:prstGeom prst="rect">
              <a:avLst/>
            </a:prstGeom>
            <a:noFill/>
            <a:ln>
              <a:noFill/>
            </a:ln>
          </p:spPr>
          <p:txBody>
            <a:bodyPr spcFirstLastPara="1" wrap="square" lIns="0" tIns="45700" rIns="91425" bIns="45700" anchor="t" anchorCtr="0">
              <a:noAutofit/>
            </a:bodyPr>
            <a:lstStyle/>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1800" dirty="0"/>
                <a:t>Governance &amp; Risk Management Processes enable effective management and oversight of Cyber security risks and risk-based decision making</a:t>
              </a:r>
            </a:p>
            <a:p>
              <a:pPr marL="342900" indent="-342900">
                <a:spcBef>
                  <a:spcPts val="600"/>
                </a:spcBef>
                <a:spcAft>
                  <a:spcPts val="600"/>
                </a:spcAft>
                <a:buClr>
                  <a:schemeClr val="accent6">
                    <a:lumMod val="75000"/>
                  </a:schemeClr>
                </a:buClr>
                <a:buFont typeface="Wingdings" panose="05000000000000000000" pitchFamily="2" charset="2"/>
                <a:buChar char="§"/>
              </a:pPr>
              <a:r>
                <a:rPr lang="en-US" sz="1800" dirty="0"/>
                <a:t>Cyber Security risks to critical operations, including those from third parties are understood and effectively assessed</a:t>
              </a:r>
            </a:p>
            <a:p>
              <a:pPr marL="342900" indent="-342900">
                <a:spcBef>
                  <a:spcPts val="600"/>
                </a:spcBef>
                <a:spcAft>
                  <a:spcPts val="600"/>
                </a:spcAft>
                <a:buClr>
                  <a:schemeClr val="accent6">
                    <a:lumMod val="75000"/>
                  </a:schemeClr>
                </a:buClr>
                <a:buFont typeface="Wingdings" panose="05000000000000000000" pitchFamily="2" charset="2"/>
                <a:buChar char="§"/>
              </a:pPr>
              <a:r>
                <a:rPr lang="en-US" sz="1800" dirty="0"/>
                <a:t>The Bank has access to the right cyber / information security skills and talent at the right time</a:t>
              </a:r>
            </a:p>
            <a:p>
              <a:pPr marL="285750" marR="0" lvl="0" indent="-285750" algn="l" rtl="0">
                <a:spcBef>
                  <a:spcPts val="0"/>
                </a:spcBef>
                <a:spcAft>
                  <a:spcPts val="0"/>
                </a:spcAft>
                <a:buFont typeface="Arial" panose="020B0604020202020204" pitchFamily="34" charset="0"/>
                <a:buChar char="•"/>
              </a:pPr>
              <a:endParaRPr lang="en-US" sz="1800" dirty="0"/>
            </a:p>
          </p:txBody>
        </p:sp>
        <p:sp>
          <p:nvSpPr>
            <p:cNvPr id="75" name="Google Shape;2798;p183">
              <a:extLst>
                <a:ext uri="{FF2B5EF4-FFF2-40B4-BE49-F238E27FC236}">
                  <a16:creationId xmlns:a16="http://schemas.microsoft.com/office/drawing/2014/main" id="{A7F1727A-A01B-4B64-9833-09AEEA5428BF}"/>
                </a:ext>
              </a:extLst>
            </p:cNvPr>
            <p:cNvSpPr/>
            <p:nvPr/>
          </p:nvSpPr>
          <p:spPr>
            <a:xfrm>
              <a:off x="528183" y="2404385"/>
              <a:ext cx="558525" cy="320100"/>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2799;p183">
              <a:extLst>
                <a:ext uri="{FF2B5EF4-FFF2-40B4-BE49-F238E27FC236}">
                  <a16:creationId xmlns:a16="http://schemas.microsoft.com/office/drawing/2014/main" id="{59E6391A-2A8D-447E-9DA1-B54ABE49A156}"/>
                </a:ext>
              </a:extLst>
            </p:cNvPr>
            <p:cNvSpPr/>
            <p:nvPr/>
          </p:nvSpPr>
          <p:spPr>
            <a:xfrm>
              <a:off x="627824" y="2443734"/>
              <a:ext cx="234997" cy="234990"/>
            </a:xfrm>
            <a:custGeom>
              <a:avLst/>
              <a:gdLst/>
              <a:ahLst/>
              <a:cxnLst/>
              <a:rect l="l" t="t" r="r" b="b"/>
              <a:pathLst>
                <a:path w="5191" h="5190" extrusionOk="0">
                  <a:moveTo>
                    <a:pt x="2595" y="0"/>
                  </a:moveTo>
                  <a:cubicBezTo>
                    <a:pt x="1168" y="0"/>
                    <a:pt x="0" y="1168"/>
                    <a:pt x="0" y="2595"/>
                  </a:cubicBezTo>
                  <a:cubicBezTo>
                    <a:pt x="0" y="4022"/>
                    <a:pt x="1168" y="5190"/>
                    <a:pt x="2595" y="5190"/>
                  </a:cubicBezTo>
                  <a:cubicBezTo>
                    <a:pt x="4023" y="5190"/>
                    <a:pt x="5191" y="4022"/>
                    <a:pt x="5191" y="2595"/>
                  </a:cubicBezTo>
                  <a:cubicBezTo>
                    <a:pt x="5191" y="1168"/>
                    <a:pt x="4023" y="0"/>
                    <a:pt x="2595" y="0"/>
                  </a:cubicBezTo>
                  <a:close/>
                  <a:moveTo>
                    <a:pt x="4386" y="1561"/>
                  </a:moveTo>
                  <a:cubicBezTo>
                    <a:pt x="3652" y="1561"/>
                    <a:pt x="3652" y="1561"/>
                    <a:pt x="3652" y="1561"/>
                  </a:cubicBezTo>
                  <a:cubicBezTo>
                    <a:pt x="3648" y="1541"/>
                    <a:pt x="3643" y="1527"/>
                    <a:pt x="3639" y="1510"/>
                  </a:cubicBezTo>
                  <a:cubicBezTo>
                    <a:pt x="3557" y="1222"/>
                    <a:pt x="3444" y="931"/>
                    <a:pt x="3303" y="646"/>
                  </a:cubicBezTo>
                  <a:cubicBezTo>
                    <a:pt x="3301" y="642"/>
                    <a:pt x="3299" y="640"/>
                    <a:pt x="3297" y="636"/>
                  </a:cubicBezTo>
                  <a:cubicBezTo>
                    <a:pt x="3753" y="819"/>
                    <a:pt x="4157" y="1125"/>
                    <a:pt x="4386" y="1561"/>
                  </a:cubicBezTo>
                  <a:close/>
                  <a:moveTo>
                    <a:pt x="1988" y="3117"/>
                  </a:moveTo>
                  <a:cubicBezTo>
                    <a:pt x="1961" y="2945"/>
                    <a:pt x="1947" y="2779"/>
                    <a:pt x="1947" y="2615"/>
                  </a:cubicBezTo>
                  <a:cubicBezTo>
                    <a:pt x="1947" y="2440"/>
                    <a:pt x="1963" y="2261"/>
                    <a:pt x="1994" y="2077"/>
                  </a:cubicBezTo>
                  <a:cubicBezTo>
                    <a:pt x="3204" y="2077"/>
                    <a:pt x="3204" y="2077"/>
                    <a:pt x="3204" y="2077"/>
                  </a:cubicBezTo>
                  <a:cubicBezTo>
                    <a:pt x="3232" y="2249"/>
                    <a:pt x="3246" y="2420"/>
                    <a:pt x="3246" y="2586"/>
                  </a:cubicBezTo>
                  <a:cubicBezTo>
                    <a:pt x="3246" y="2759"/>
                    <a:pt x="3231" y="2937"/>
                    <a:pt x="3201" y="3117"/>
                  </a:cubicBezTo>
                  <a:lnTo>
                    <a:pt x="1988" y="3117"/>
                  </a:lnTo>
                  <a:close/>
                  <a:moveTo>
                    <a:pt x="2821" y="910"/>
                  </a:moveTo>
                  <a:cubicBezTo>
                    <a:pt x="2927" y="1125"/>
                    <a:pt x="3014" y="1341"/>
                    <a:pt x="3081" y="1561"/>
                  </a:cubicBezTo>
                  <a:cubicBezTo>
                    <a:pt x="2121" y="1561"/>
                    <a:pt x="2121" y="1561"/>
                    <a:pt x="2121" y="1561"/>
                  </a:cubicBezTo>
                  <a:cubicBezTo>
                    <a:pt x="2187" y="1353"/>
                    <a:pt x="2272" y="1145"/>
                    <a:pt x="2373" y="940"/>
                  </a:cubicBezTo>
                  <a:cubicBezTo>
                    <a:pt x="2452" y="780"/>
                    <a:pt x="2532" y="640"/>
                    <a:pt x="2601" y="528"/>
                  </a:cubicBezTo>
                  <a:cubicBezTo>
                    <a:pt x="2622" y="560"/>
                    <a:pt x="2645" y="593"/>
                    <a:pt x="2668" y="625"/>
                  </a:cubicBezTo>
                  <a:cubicBezTo>
                    <a:pt x="2717" y="709"/>
                    <a:pt x="2769" y="805"/>
                    <a:pt x="2821" y="910"/>
                  </a:cubicBezTo>
                  <a:close/>
                  <a:moveTo>
                    <a:pt x="2373" y="4291"/>
                  </a:moveTo>
                  <a:cubicBezTo>
                    <a:pt x="2266" y="4074"/>
                    <a:pt x="2178" y="3853"/>
                    <a:pt x="2110" y="3637"/>
                  </a:cubicBezTo>
                  <a:cubicBezTo>
                    <a:pt x="3074" y="3637"/>
                    <a:pt x="3074" y="3637"/>
                    <a:pt x="3074" y="3637"/>
                  </a:cubicBezTo>
                  <a:cubicBezTo>
                    <a:pt x="3008" y="3845"/>
                    <a:pt x="2923" y="4053"/>
                    <a:pt x="2821" y="4261"/>
                  </a:cubicBezTo>
                  <a:cubicBezTo>
                    <a:pt x="2742" y="4421"/>
                    <a:pt x="2663" y="4559"/>
                    <a:pt x="2594" y="4670"/>
                  </a:cubicBezTo>
                  <a:cubicBezTo>
                    <a:pt x="2566" y="4628"/>
                    <a:pt x="2537" y="4587"/>
                    <a:pt x="2508" y="4544"/>
                  </a:cubicBezTo>
                  <a:cubicBezTo>
                    <a:pt x="2464" y="4467"/>
                    <a:pt x="2418" y="4383"/>
                    <a:pt x="2373" y="4291"/>
                  </a:cubicBezTo>
                  <a:close/>
                  <a:moveTo>
                    <a:pt x="1916" y="626"/>
                  </a:moveTo>
                  <a:cubicBezTo>
                    <a:pt x="1908" y="643"/>
                    <a:pt x="1899" y="659"/>
                    <a:pt x="1891" y="676"/>
                  </a:cubicBezTo>
                  <a:cubicBezTo>
                    <a:pt x="1749" y="961"/>
                    <a:pt x="1636" y="1253"/>
                    <a:pt x="1555" y="1541"/>
                  </a:cubicBezTo>
                  <a:cubicBezTo>
                    <a:pt x="1553" y="1547"/>
                    <a:pt x="1552" y="1553"/>
                    <a:pt x="1550" y="1561"/>
                  </a:cubicBezTo>
                  <a:cubicBezTo>
                    <a:pt x="805" y="1561"/>
                    <a:pt x="805" y="1561"/>
                    <a:pt x="805" y="1561"/>
                  </a:cubicBezTo>
                  <a:cubicBezTo>
                    <a:pt x="1063" y="1121"/>
                    <a:pt x="1451" y="808"/>
                    <a:pt x="1916" y="626"/>
                  </a:cubicBezTo>
                  <a:close/>
                  <a:moveTo>
                    <a:pt x="597" y="3117"/>
                  </a:moveTo>
                  <a:cubicBezTo>
                    <a:pt x="545" y="2961"/>
                    <a:pt x="519" y="2779"/>
                    <a:pt x="519" y="2597"/>
                  </a:cubicBezTo>
                  <a:cubicBezTo>
                    <a:pt x="519" y="2415"/>
                    <a:pt x="545" y="2233"/>
                    <a:pt x="597" y="2077"/>
                  </a:cubicBezTo>
                  <a:cubicBezTo>
                    <a:pt x="1440" y="2077"/>
                    <a:pt x="1440" y="2077"/>
                    <a:pt x="1440" y="2077"/>
                  </a:cubicBezTo>
                  <a:cubicBezTo>
                    <a:pt x="1414" y="2261"/>
                    <a:pt x="1400" y="2439"/>
                    <a:pt x="1400" y="2616"/>
                  </a:cubicBezTo>
                  <a:cubicBezTo>
                    <a:pt x="1400" y="2780"/>
                    <a:pt x="1412" y="2949"/>
                    <a:pt x="1435" y="3117"/>
                  </a:cubicBezTo>
                  <a:lnTo>
                    <a:pt x="597" y="3117"/>
                  </a:lnTo>
                  <a:close/>
                  <a:moveTo>
                    <a:pt x="805" y="3637"/>
                  </a:moveTo>
                  <a:cubicBezTo>
                    <a:pt x="1540" y="3637"/>
                    <a:pt x="1540" y="3637"/>
                    <a:pt x="1540" y="3637"/>
                  </a:cubicBezTo>
                  <a:cubicBezTo>
                    <a:pt x="1545" y="3653"/>
                    <a:pt x="1550" y="3672"/>
                    <a:pt x="1555" y="3691"/>
                  </a:cubicBezTo>
                  <a:cubicBezTo>
                    <a:pt x="1636" y="3979"/>
                    <a:pt x="1749" y="4268"/>
                    <a:pt x="1891" y="4554"/>
                  </a:cubicBezTo>
                  <a:cubicBezTo>
                    <a:pt x="1892" y="4555"/>
                    <a:pt x="1892" y="4557"/>
                    <a:pt x="1893" y="4559"/>
                  </a:cubicBezTo>
                  <a:cubicBezTo>
                    <a:pt x="1437" y="4376"/>
                    <a:pt x="1034" y="4069"/>
                    <a:pt x="805" y="3637"/>
                  </a:cubicBezTo>
                  <a:close/>
                  <a:moveTo>
                    <a:pt x="3283" y="4564"/>
                  </a:moveTo>
                  <a:cubicBezTo>
                    <a:pt x="3289" y="4551"/>
                    <a:pt x="3296" y="4537"/>
                    <a:pt x="3303" y="4523"/>
                  </a:cubicBezTo>
                  <a:cubicBezTo>
                    <a:pt x="3444" y="4238"/>
                    <a:pt x="3557" y="3950"/>
                    <a:pt x="3639" y="3661"/>
                  </a:cubicBezTo>
                  <a:cubicBezTo>
                    <a:pt x="3641" y="3653"/>
                    <a:pt x="3643" y="3645"/>
                    <a:pt x="3646" y="3637"/>
                  </a:cubicBezTo>
                  <a:cubicBezTo>
                    <a:pt x="4386" y="3637"/>
                    <a:pt x="4386" y="3637"/>
                    <a:pt x="4386" y="3637"/>
                  </a:cubicBezTo>
                  <a:cubicBezTo>
                    <a:pt x="4155" y="4073"/>
                    <a:pt x="3745" y="4382"/>
                    <a:pt x="3283" y="4564"/>
                  </a:cubicBezTo>
                  <a:close/>
                  <a:moveTo>
                    <a:pt x="3755" y="3117"/>
                  </a:moveTo>
                  <a:cubicBezTo>
                    <a:pt x="3780" y="2937"/>
                    <a:pt x="3793" y="2760"/>
                    <a:pt x="3793" y="2586"/>
                  </a:cubicBezTo>
                  <a:cubicBezTo>
                    <a:pt x="3793" y="2419"/>
                    <a:pt x="3781" y="2249"/>
                    <a:pt x="3758" y="2077"/>
                  </a:cubicBezTo>
                  <a:cubicBezTo>
                    <a:pt x="4620" y="2077"/>
                    <a:pt x="4620" y="2077"/>
                    <a:pt x="4620" y="2077"/>
                  </a:cubicBezTo>
                  <a:cubicBezTo>
                    <a:pt x="4672" y="2233"/>
                    <a:pt x="4698" y="2415"/>
                    <a:pt x="4698" y="2597"/>
                  </a:cubicBezTo>
                  <a:cubicBezTo>
                    <a:pt x="4698" y="2779"/>
                    <a:pt x="4672" y="2961"/>
                    <a:pt x="4620" y="3117"/>
                  </a:cubicBezTo>
                  <a:lnTo>
                    <a:pt x="3755" y="311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8" name="Google Shape;2796;p183">
            <a:extLst>
              <a:ext uri="{FF2B5EF4-FFF2-40B4-BE49-F238E27FC236}">
                <a16:creationId xmlns:a16="http://schemas.microsoft.com/office/drawing/2014/main" id="{CD292E03-C789-43F8-AA3C-E525896D3688}"/>
              </a:ext>
            </a:extLst>
          </p:cNvPr>
          <p:cNvSpPr/>
          <p:nvPr/>
        </p:nvSpPr>
        <p:spPr>
          <a:xfrm>
            <a:off x="988398" y="5929540"/>
            <a:ext cx="8711206" cy="723543"/>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STRATEGIC ACTIONS (2022-2025)</a:t>
            </a:r>
          </a:p>
        </p:txBody>
      </p:sp>
      <p:sp>
        <p:nvSpPr>
          <p:cNvPr id="79" name="Google Shape;2797;p183">
            <a:extLst>
              <a:ext uri="{FF2B5EF4-FFF2-40B4-BE49-F238E27FC236}">
                <a16:creationId xmlns:a16="http://schemas.microsoft.com/office/drawing/2014/main" id="{E8F3DC9A-9777-4E10-B170-6283E1A997C7}"/>
              </a:ext>
            </a:extLst>
          </p:cNvPr>
          <p:cNvSpPr/>
          <p:nvPr/>
        </p:nvSpPr>
        <p:spPr>
          <a:xfrm>
            <a:off x="988404" y="6674067"/>
            <a:ext cx="8831445" cy="1845596"/>
          </a:xfrm>
          <a:prstGeom prst="rect">
            <a:avLst/>
          </a:prstGeom>
          <a:noFill/>
          <a:ln>
            <a:noFill/>
          </a:ln>
        </p:spPr>
        <p:txBody>
          <a:bodyPr spcFirstLastPara="1" wrap="square" lIns="0" tIns="45700" rIns="91425" bIns="45700" anchor="t" anchorCtr="0">
            <a:noAutofit/>
          </a:bodyPr>
          <a:lstStyle/>
          <a:p>
            <a:pPr marL="342900" indent="-342900" algn="just">
              <a:spcBef>
                <a:spcPts val="400"/>
              </a:spcBef>
              <a:spcAft>
                <a:spcPts val="1200"/>
              </a:spcAft>
              <a:buFont typeface="Arial" panose="020B0604020202020204" pitchFamily="34" charset="0"/>
              <a:buChar char="•"/>
            </a:pPr>
            <a:r>
              <a:rPr lang="en-US" sz="1800" dirty="0"/>
              <a:t>The Data, Personnel's, Devices, Systems and facilities that enable the organization to achieve business purposes are identified, managed consistent with their relative importance to organizational objectives and the organization’s risk strategy. </a:t>
            </a:r>
          </a:p>
          <a:p>
            <a:pPr marL="342900" indent="-342900" algn="just">
              <a:spcBef>
                <a:spcPts val="400"/>
              </a:spcBef>
              <a:spcAft>
                <a:spcPts val="1200"/>
              </a:spcAft>
              <a:buFont typeface="Arial" panose="020B0604020202020204" pitchFamily="34" charset="0"/>
              <a:buChar char="•"/>
            </a:pPr>
            <a:r>
              <a:rPr lang="en-US" sz="1800" dirty="0"/>
              <a:t>Enrichment of Infosec Governance, Risk and Compliance structure in lieu of standardized and industry best practices</a:t>
            </a:r>
          </a:p>
          <a:p>
            <a:pPr marL="342900" indent="-342900" algn="just">
              <a:spcBef>
                <a:spcPts val="400"/>
              </a:spcBef>
              <a:spcAft>
                <a:spcPts val="1200"/>
              </a:spcAft>
              <a:buFont typeface="Arial" panose="020B0604020202020204" pitchFamily="34" charset="0"/>
              <a:buChar char="•"/>
            </a:pPr>
            <a:r>
              <a:rPr lang="en-US" sz="1800" dirty="0"/>
              <a:t>Develop Cyber resilience roadmap and implement mechanism for determining the cyber security attack surface from internal and external threats. </a:t>
            </a:r>
          </a:p>
          <a:p>
            <a:pPr marL="342900" indent="-342900" algn="just">
              <a:spcBef>
                <a:spcPts val="400"/>
              </a:spcBef>
              <a:spcAft>
                <a:spcPts val="1200"/>
              </a:spcAft>
              <a:buFont typeface="Arial" panose="020B0604020202020204" pitchFamily="34" charset="0"/>
              <a:buChar char="•"/>
            </a:pPr>
            <a:r>
              <a:rPr lang="en-US" sz="1800" dirty="0"/>
              <a:t>Automation of existing Security Assessment and Posture for both internal and external threats, vulnerabilities, risks and threat actors. </a:t>
            </a:r>
          </a:p>
          <a:p>
            <a:pPr algn="just">
              <a:spcBef>
                <a:spcPts val="400"/>
              </a:spcBef>
              <a:spcAft>
                <a:spcPts val="1200"/>
              </a:spcAft>
            </a:pPr>
            <a:endParaRPr lang="en-US" sz="2000" dirty="0"/>
          </a:p>
          <a:p>
            <a:pPr algn="just">
              <a:spcBef>
                <a:spcPts val="400"/>
              </a:spcBef>
              <a:spcAft>
                <a:spcPts val="1200"/>
              </a:spcAft>
            </a:pPr>
            <a:endParaRPr lang="en-US" sz="2000" dirty="0"/>
          </a:p>
          <a:p>
            <a:pPr algn="just">
              <a:spcBef>
                <a:spcPts val="400"/>
              </a:spcBef>
              <a:spcAft>
                <a:spcPts val="1200"/>
              </a:spcAft>
            </a:pPr>
            <a:endParaRPr lang="en-PK" sz="2000" dirty="0"/>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lvl="0"/>
            <a:endParaRPr lang="en-US" sz="1800" dirty="0">
              <a:latin typeface="Arial" panose="020B0604020202020204" pitchFamily="34" charset="0"/>
              <a:cs typeface="Arial" panose="020B0604020202020204" pitchFamily="34" charset="0"/>
            </a:endParaRPr>
          </a:p>
          <a:p>
            <a:pPr lvl="0"/>
            <a:endParaRPr lang="en-PK" sz="1800" dirty="0">
              <a:latin typeface="Arial" panose="020B0604020202020204" pitchFamily="34" charset="0"/>
              <a:cs typeface="Arial" panose="020B0604020202020204" pitchFamily="34" charset="0"/>
            </a:endParaRPr>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endParaRPr lang="en-PK" sz="1800" dirty="0">
              <a:latin typeface="Arial" panose="020B0604020202020204" pitchFamily="34" charset="0"/>
              <a:cs typeface="Arial" panose="020B0604020202020204" pitchFamily="34" charset="0"/>
            </a:endParaRPr>
          </a:p>
          <a:p>
            <a:pPr marL="342900" marR="0" lvl="0" indent="-342900" algn="l" rtl="0">
              <a:spcBef>
                <a:spcPts val="400"/>
              </a:spcBef>
              <a:spcAft>
                <a:spcPts val="400"/>
              </a:spcAft>
              <a:buFont typeface="Wingdings" panose="05000000000000000000" pitchFamily="2" charset="2"/>
              <a:buChar char="§"/>
            </a:pPr>
            <a:endParaRPr lang="en-US" sz="1800" dirty="0"/>
          </a:p>
        </p:txBody>
      </p:sp>
      <p:sp>
        <p:nvSpPr>
          <p:cNvPr id="80" name="Google Shape;2798;p183">
            <a:extLst>
              <a:ext uri="{FF2B5EF4-FFF2-40B4-BE49-F238E27FC236}">
                <a16:creationId xmlns:a16="http://schemas.microsoft.com/office/drawing/2014/main" id="{5BD3B4F0-0DAB-40F4-B558-F21B1DBC892C}"/>
              </a:ext>
            </a:extLst>
          </p:cNvPr>
          <p:cNvSpPr/>
          <p:nvPr/>
        </p:nvSpPr>
        <p:spPr>
          <a:xfrm>
            <a:off x="987843" y="5915390"/>
            <a:ext cx="1362493" cy="73023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2815;p183">
            <a:extLst>
              <a:ext uri="{FF2B5EF4-FFF2-40B4-BE49-F238E27FC236}">
                <a16:creationId xmlns:a16="http://schemas.microsoft.com/office/drawing/2014/main" id="{3072879F-3225-4995-9278-A41E009E05FE}"/>
              </a:ext>
            </a:extLst>
          </p:cNvPr>
          <p:cNvSpPr/>
          <p:nvPr/>
        </p:nvSpPr>
        <p:spPr>
          <a:xfrm>
            <a:off x="1252102" y="5997118"/>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 name="Google Shape;2796;p183">
            <a:extLst>
              <a:ext uri="{FF2B5EF4-FFF2-40B4-BE49-F238E27FC236}">
                <a16:creationId xmlns:a16="http://schemas.microsoft.com/office/drawing/2014/main" id="{5C047C8B-4E21-4E64-8D58-7E8453C28D60}"/>
              </a:ext>
            </a:extLst>
          </p:cNvPr>
          <p:cNvSpPr/>
          <p:nvPr/>
        </p:nvSpPr>
        <p:spPr>
          <a:xfrm>
            <a:off x="10192822" y="5946706"/>
            <a:ext cx="4371773" cy="706378"/>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1800" b="1" i="0" u="none" strike="noStrike" cap="none" dirty="0">
                <a:solidFill>
                  <a:schemeClr val="tx1"/>
                </a:solidFill>
                <a:latin typeface="Arial"/>
                <a:ea typeface="Arial"/>
                <a:cs typeface="Arial"/>
                <a:sym typeface="Arial"/>
              </a:rPr>
              <a:t>Key Outputs Short to Medium Term</a:t>
            </a:r>
          </a:p>
        </p:txBody>
      </p:sp>
      <p:sp>
        <p:nvSpPr>
          <p:cNvPr id="39" name="Google Shape;2797;p183">
            <a:extLst>
              <a:ext uri="{FF2B5EF4-FFF2-40B4-BE49-F238E27FC236}">
                <a16:creationId xmlns:a16="http://schemas.microsoft.com/office/drawing/2014/main" id="{E730A3B4-7920-42DC-BD55-51F81A5E09BD}"/>
              </a:ext>
            </a:extLst>
          </p:cNvPr>
          <p:cNvSpPr/>
          <p:nvPr/>
        </p:nvSpPr>
        <p:spPr>
          <a:xfrm>
            <a:off x="10192829" y="6691232"/>
            <a:ext cx="4371766" cy="1083619"/>
          </a:xfrm>
          <a:prstGeom prst="rect">
            <a:avLst/>
          </a:prstGeom>
          <a:noFill/>
          <a:ln>
            <a:noFill/>
          </a:ln>
        </p:spPr>
        <p:txBody>
          <a:bodyPr spcFirstLastPara="1" wrap="square" lIns="0" tIns="45700" rIns="91425" bIns="45700" anchor="t" anchorCtr="0">
            <a:noAutofit/>
          </a:bodyPr>
          <a:lstStyle/>
          <a:p>
            <a:pPr marL="342900" indent="-342900" algn="just">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Update and Develop Information security documentation inline with regulatory requirements and industry best practices where applicable.</a:t>
            </a:r>
          </a:p>
          <a:p>
            <a:pPr marL="342900" indent="-342900">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Implement Resources classification based on CIA Triad.</a:t>
            </a:r>
          </a:p>
          <a:p>
            <a:pPr marL="342900" lvl="0" indent="-342900" algn="just">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Review of Security Baseline configurations of technology assets.  </a:t>
            </a:r>
            <a:endParaRPr lang="en-US" sz="1600" dirty="0"/>
          </a:p>
          <a:p>
            <a:pPr marR="0" lvl="0" algn="l" rtl="0">
              <a:spcBef>
                <a:spcPts val="400"/>
              </a:spcBef>
              <a:spcAft>
                <a:spcPts val="400"/>
              </a:spcAft>
            </a:pPr>
            <a:endParaRPr lang="en-US" sz="1600" dirty="0"/>
          </a:p>
          <a:p>
            <a:pPr marL="342900" marR="0" lvl="0" indent="-342900" algn="l" rtl="0">
              <a:spcBef>
                <a:spcPts val="400"/>
              </a:spcBef>
              <a:spcAft>
                <a:spcPts val="400"/>
              </a:spcAft>
              <a:buFont typeface="Wingdings" panose="05000000000000000000" pitchFamily="2" charset="2"/>
              <a:buChar char="§"/>
            </a:pPr>
            <a:r>
              <a:rPr lang="en-US" sz="1600" dirty="0"/>
              <a:t>Automation of Risk Assessment activities through Risk Management Software</a:t>
            </a:r>
          </a:p>
          <a:p>
            <a:pPr marL="342900" marR="0" lvl="0" indent="-342900" algn="just" rtl="0">
              <a:spcBef>
                <a:spcPts val="400"/>
              </a:spcBef>
              <a:spcAft>
                <a:spcPts val="400"/>
              </a:spcAft>
              <a:buFont typeface="Wingdings" panose="05000000000000000000" pitchFamily="2" charset="2"/>
              <a:buChar char="§"/>
            </a:pPr>
            <a:endParaRPr lang="en-US" sz="1600" dirty="0">
              <a:highlight>
                <a:srgbClr val="C0C0C0"/>
              </a:highlight>
            </a:endParaRPr>
          </a:p>
          <a:p>
            <a:pPr marL="342900" marR="0" lvl="0" indent="-342900" algn="just" rtl="0">
              <a:spcBef>
                <a:spcPts val="400"/>
              </a:spcBef>
              <a:spcAft>
                <a:spcPts val="400"/>
              </a:spcAft>
              <a:buFont typeface="Wingdings" panose="05000000000000000000" pitchFamily="2" charset="2"/>
              <a:buChar char="§"/>
            </a:pPr>
            <a:r>
              <a:rPr lang="en-US" sz="1600" dirty="0"/>
              <a:t>Enhancement of Vulnerability Assessment Practice through augmentation of Vulnerability Management Solution</a:t>
            </a:r>
          </a:p>
          <a:p>
            <a:pPr marR="0" lvl="0" algn="l" rtl="0">
              <a:spcBef>
                <a:spcPts val="400"/>
              </a:spcBef>
              <a:spcAft>
                <a:spcPts val="400"/>
              </a:spcAft>
            </a:pPr>
            <a:endParaRPr lang="en-US" sz="1600" dirty="0"/>
          </a:p>
          <a:p>
            <a:pPr marL="342900" marR="0" lvl="0" indent="-342900" algn="l" rtl="0">
              <a:spcBef>
                <a:spcPts val="400"/>
              </a:spcBef>
              <a:spcAft>
                <a:spcPts val="400"/>
              </a:spcAft>
              <a:buFont typeface="Wingdings" panose="05000000000000000000" pitchFamily="2" charset="2"/>
              <a:buChar char="§"/>
            </a:pPr>
            <a:endParaRPr lang="en-US" dirty="0"/>
          </a:p>
        </p:txBody>
      </p:sp>
      <p:sp>
        <p:nvSpPr>
          <p:cNvPr id="40" name="Google Shape;2798;p183">
            <a:extLst>
              <a:ext uri="{FF2B5EF4-FFF2-40B4-BE49-F238E27FC236}">
                <a16:creationId xmlns:a16="http://schemas.microsoft.com/office/drawing/2014/main" id="{56900DB4-7982-4422-B2D5-05FA5998A90F}"/>
              </a:ext>
            </a:extLst>
          </p:cNvPr>
          <p:cNvSpPr/>
          <p:nvPr/>
        </p:nvSpPr>
        <p:spPr>
          <a:xfrm>
            <a:off x="10192268" y="5948751"/>
            <a:ext cx="1242248" cy="68970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2815;p183">
            <a:extLst>
              <a:ext uri="{FF2B5EF4-FFF2-40B4-BE49-F238E27FC236}">
                <a16:creationId xmlns:a16="http://schemas.microsoft.com/office/drawing/2014/main" id="{4D1DCB09-6A70-4002-AB29-EB433B78F2B4}"/>
              </a:ext>
            </a:extLst>
          </p:cNvPr>
          <p:cNvSpPr/>
          <p:nvPr/>
        </p:nvSpPr>
        <p:spPr>
          <a:xfrm>
            <a:off x="10448940" y="6034156"/>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 name="Google Shape;2796;p183">
            <a:extLst>
              <a:ext uri="{FF2B5EF4-FFF2-40B4-BE49-F238E27FC236}">
                <a16:creationId xmlns:a16="http://schemas.microsoft.com/office/drawing/2014/main" id="{3DA8C180-893F-4B6E-AEC5-E9B31943C75F}"/>
              </a:ext>
            </a:extLst>
          </p:cNvPr>
          <p:cNvSpPr/>
          <p:nvPr/>
        </p:nvSpPr>
        <p:spPr>
          <a:xfrm>
            <a:off x="15081266" y="5929878"/>
            <a:ext cx="4371773" cy="706378"/>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1800" b="1" i="0" u="none" strike="noStrike" cap="none" dirty="0">
                <a:solidFill>
                  <a:schemeClr val="tx1"/>
                </a:solidFill>
                <a:latin typeface="Arial"/>
                <a:ea typeface="Arial"/>
                <a:cs typeface="Arial"/>
                <a:sym typeface="Arial"/>
              </a:rPr>
              <a:t>Key Outputs Medium to Long term</a:t>
            </a:r>
          </a:p>
        </p:txBody>
      </p:sp>
      <p:sp>
        <p:nvSpPr>
          <p:cNvPr id="43" name="Google Shape;2797;p183">
            <a:extLst>
              <a:ext uri="{FF2B5EF4-FFF2-40B4-BE49-F238E27FC236}">
                <a16:creationId xmlns:a16="http://schemas.microsoft.com/office/drawing/2014/main" id="{FDC8394D-8AE7-4D88-9BA3-FCEB959C35D6}"/>
              </a:ext>
            </a:extLst>
          </p:cNvPr>
          <p:cNvSpPr/>
          <p:nvPr/>
        </p:nvSpPr>
        <p:spPr>
          <a:xfrm>
            <a:off x="15081272" y="6674404"/>
            <a:ext cx="4371767" cy="1083619"/>
          </a:xfrm>
          <a:prstGeom prst="rect">
            <a:avLst/>
          </a:prstGeom>
          <a:noFill/>
          <a:ln>
            <a:noFill/>
          </a:ln>
        </p:spPr>
        <p:txBody>
          <a:bodyPr spcFirstLastPara="1" wrap="square" lIns="0" tIns="45700" rIns="91425" bIns="45700" anchor="t" anchorCtr="0">
            <a:noAutofit/>
          </a:bodyPr>
          <a:lstStyle/>
          <a:p>
            <a:pPr lvl="0" algn="just"/>
            <a:endParaRPr lang="en-US" sz="1800" dirty="0">
              <a:latin typeface="Arial" panose="020B0604020202020204" pitchFamily="34" charset="0"/>
              <a:cs typeface="Arial" panose="020B0604020202020204" pitchFamily="34" charset="0"/>
            </a:endParaRPr>
          </a:p>
          <a:p>
            <a:pPr marL="342900" indent="-342900" algn="just">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Develop, and Implement Centralized Information Asset Management mechanism.  </a:t>
            </a:r>
          </a:p>
          <a:p>
            <a:pPr lvl="0" algn="just">
              <a:spcBef>
                <a:spcPts val="400"/>
              </a:spcBef>
              <a:spcAft>
                <a:spcPts val="400"/>
              </a:spcAft>
            </a:pPr>
            <a:endParaRPr lang="en-US" sz="1600" dirty="0">
              <a:latin typeface="Arial" panose="020B0604020202020204" pitchFamily="34" charset="0"/>
              <a:cs typeface="Arial" panose="020B0604020202020204" pitchFamily="34" charset="0"/>
            </a:endParaRPr>
          </a:p>
          <a:p>
            <a:pPr marL="342900" lvl="0" indent="-342900" algn="just">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Augment and implement regulatory compliances &amp; Frameworks.</a:t>
            </a:r>
          </a:p>
          <a:p>
            <a:pPr lvl="0" algn="just">
              <a:spcBef>
                <a:spcPts val="400"/>
              </a:spcBef>
              <a:spcAft>
                <a:spcPts val="400"/>
              </a:spcAft>
            </a:pPr>
            <a:endParaRPr lang="en-US" sz="1600" dirty="0">
              <a:latin typeface="Arial" panose="020B0604020202020204" pitchFamily="34" charset="0"/>
              <a:cs typeface="Arial" panose="020B0604020202020204" pitchFamily="34" charset="0"/>
            </a:endParaRPr>
          </a:p>
          <a:p>
            <a:pPr marL="342900" lvl="0" indent="-342900" algn="just">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Cultivate and test Cyber Resilience process and mechanism.</a:t>
            </a:r>
          </a:p>
          <a:p>
            <a:pPr lvl="0" algn="just">
              <a:spcBef>
                <a:spcPts val="400"/>
              </a:spcBef>
              <a:spcAft>
                <a:spcPts val="400"/>
              </a:spcAft>
            </a:pPr>
            <a:endParaRPr lang="en-US" sz="1600" dirty="0">
              <a:latin typeface="Arial" panose="020B0604020202020204" pitchFamily="34" charset="0"/>
              <a:cs typeface="Arial" panose="020B0604020202020204" pitchFamily="34" charset="0"/>
            </a:endParaRPr>
          </a:p>
          <a:p>
            <a:pPr marL="342900" lvl="0" indent="-342900" algn="just">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Enhancement of key security dashboards for layered reporting and through development of workflows. </a:t>
            </a:r>
          </a:p>
        </p:txBody>
      </p:sp>
      <p:sp>
        <p:nvSpPr>
          <p:cNvPr id="44" name="Google Shape;2798;p183">
            <a:extLst>
              <a:ext uri="{FF2B5EF4-FFF2-40B4-BE49-F238E27FC236}">
                <a16:creationId xmlns:a16="http://schemas.microsoft.com/office/drawing/2014/main" id="{14FE5E6D-194F-4F03-9B63-C58B919D49F8}"/>
              </a:ext>
            </a:extLst>
          </p:cNvPr>
          <p:cNvSpPr/>
          <p:nvPr/>
        </p:nvSpPr>
        <p:spPr>
          <a:xfrm>
            <a:off x="15080712" y="5950211"/>
            <a:ext cx="1242248" cy="68970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2815;p183">
            <a:extLst>
              <a:ext uri="{FF2B5EF4-FFF2-40B4-BE49-F238E27FC236}">
                <a16:creationId xmlns:a16="http://schemas.microsoft.com/office/drawing/2014/main" id="{EE9DB42E-87B1-4981-9A0C-8CE5D1693DD4}"/>
              </a:ext>
            </a:extLst>
          </p:cNvPr>
          <p:cNvSpPr/>
          <p:nvPr/>
        </p:nvSpPr>
        <p:spPr>
          <a:xfrm>
            <a:off x="15233961" y="6020356"/>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69228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4">
            <a:clrChange>
              <a:clrFrom>
                <a:srgbClr val="F36F21"/>
              </a:clrFrom>
              <a:clrTo>
                <a:srgbClr val="F36F21">
                  <a:alpha val="0"/>
                </a:srgbClr>
              </a:clrTo>
            </a:clrChange>
            <a:alphaModFix amt="4000"/>
          </a:blip>
          <a:srcRect b="15280"/>
          <a:stretch/>
        </p:blipFill>
        <p:spPr>
          <a:xfrm rot="21222363">
            <a:off x="9550843" y="2523544"/>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mn-lt"/>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effectLst>
                  <a:outerShdw blurRad="38100" dist="38100" dir="2700000" algn="tl">
                    <a:srgbClr val="000000">
                      <a:alpha val="43137"/>
                    </a:srgbClr>
                  </a:outerShdw>
                </a:effectLst>
                <a:latin typeface="+mn-lt"/>
              </a:rPr>
              <a:t>Objective 2 : Protect</a:t>
            </a:r>
            <a:br>
              <a:rPr lang="en-US" sz="3750" dirty="0">
                <a:latin typeface="+mn-lt"/>
              </a:rPr>
            </a:br>
            <a:r>
              <a:rPr lang="en-US" sz="2400" b="1" i="1" dirty="0">
                <a:solidFill>
                  <a:schemeClr val="accent6">
                    <a:lumMod val="75000"/>
                  </a:schemeClr>
                </a:solidFill>
                <a:effectLst>
                  <a:outerShdw blurRad="38100" dist="38100" dir="2700000" algn="tl">
                    <a:srgbClr val="000000">
                      <a:alpha val="43137"/>
                    </a:srgbClr>
                  </a:outerShdw>
                </a:effectLst>
                <a:latin typeface="+mn-lt"/>
              </a:rPr>
              <a:t>“Establish a proactive posture against cyber attacks”</a:t>
            </a:r>
            <a:br>
              <a:rPr lang="en-US" sz="3750" dirty="0">
                <a:latin typeface="+mn-lt"/>
              </a:rPr>
            </a:br>
            <a:br>
              <a:rPr lang="en-US" sz="3750" dirty="0">
                <a:latin typeface="+mn-lt"/>
              </a:rPr>
            </a:br>
            <a:endParaRPr lang="en-US" sz="3750" dirty="0">
              <a:latin typeface="+mn-lt"/>
            </a:endParaRPr>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n-lt"/>
                <a:ea typeface="Calibri"/>
                <a:cs typeface="Calibri"/>
                <a:sym typeface="Calibri"/>
              </a:endParaRPr>
            </a:p>
          </p:txBody>
        </p:sp>
      </p:grpSp>
      <p:sp>
        <p:nvSpPr>
          <p:cNvPr id="912" name="Google Shape;912;p46"/>
          <p:cNvSpPr/>
          <p:nvPr/>
        </p:nvSpPr>
        <p:spPr>
          <a:xfrm>
            <a:off x="409153" y="2313712"/>
            <a:ext cx="18705981" cy="654261"/>
          </a:xfrm>
          <a:prstGeom prst="rect">
            <a:avLst/>
          </a:prstGeom>
          <a:noFill/>
          <a:ln w="6350">
            <a:noFill/>
            <a:prstDash val="sysDash"/>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800" b="1" dirty="0">
                <a:solidFill>
                  <a:schemeClr val="accent1">
                    <a:lumMod val="50000"/>
                  </a:schemeClr>
                </a:solidFill>
                <a:latin typeface="+mn-lt"/>
              </a:rPr>
              <a:t>How do we protect the mission-critical and critical digital assets also known as the Crown Jewels?</a:t>
            </a:r>
          </a:p>
        </p:txBody>
      </p:sp>
      <p:grpSp>
        <p:nvGrpSpPr>
          <p:cNvPr id="72" name="Google Shape;2795;p183">
            <a:extLst>
              <a:ext uri="{FF2B5EF4-FFF2-40B4-BE49-F238E27FC236}">
                <a16:creationId xmlns:a16="http://schemas.microsoft.com/office/drawing/2014/main" id="{B2A4965D-4870-44DA-9ED1-DD9DA9C3EA9F}"/>
              </a:ext>
            </a:extLst>
          </p:cNvPr>
          <p:cNvGrpSpPr/>
          <p:nvPr/>
        </p:nvGrpSpPr>
        <p:grpSpPr>
          <a:xfrm>
            <a:off x="909087" y="3063659"/>
            <a:ext cx="18543952" cy="1828800"/>
            <a:chOff x="528183" y="2404385"/>
            <a:chExt cx="7159360" cy="809073"/>
          </a:xfrm>
        </p:grpSpPr>
        <p:sp>
          <p:nvSpPr>
            <p:cNvPr id="73" name="Google Shape;2796;p183">
              <a:extLst>
                <a:ext uri="{FF2B5EF4-FFF2-40B4-BE49-F238E27FC236}">
                  <a16:creationId xmlns:a16="http://schemas.microsoft.com/office/drawing/2014/main" id="{9F07649F-38B1-4C5E-B139-2EEB1B2B54BB}"/>
                </a:ext>
              </a:extLst>
            </p:cNvPr>
            <p:cNvSpPr/>
            <p:nvPr/>
          </p:nvSpPr>
          <p:spPr>
            <a:xfrm>
              <a:off x="528638" y="2404673"/>
              <a:ext cx="7158900" cy="320100"/>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mn-lt"/>
                  <a:ea typeface="Arial"/>
                  <a:cs typeface="Arial"/>
                  <a:sym typeface="Arial"/>
                </a:rPr>
                <a:t>OBJECTIVES</a:t>
              </a:r>
            </a:p>
          </p:txBody>
        </p:sp>
        <p:sp>
          <p:nvSpPr>
            <p:cNvPr id="74" name="Google Shape;2797;p183">
              <a:extLst>
                <a:ext uri="{FF2B5EF4-FFF2-40B4-BE49-F238E27FC236}">
                  <a16:creationId xmlns:a16="http://schemas.microsoft.com/office/drawing/2014/main" id="{654E65AF-B7FE-416D-A0ED-8FF41EBE20AE}"/>
                </a:ext>
              </a:extLst>
            </p:cNvPr>
            <p:cNvSpPr/>
            <p:nvPr/>
          </p:nvSpPr>
          <p:spPr>
            <a:xfrm>
              <a:off x="528643" y="2734058"/>
              <a:ext cx="7158900" cy="479400"/>
            </a:xfrm>
            <a:prstGeom prst="rect">
              <a:avLst/>
            </a:prstGeom>
            <a:noFill/>
            <a:ln>
              <a:noFill/>
            </a:ln>
          </p:spPr>
          <p:txBody>
            <a:bodyPr spcFirstLastPara="1" wrap="square" lIns="0" tIns="45700" rIns="91425" bIns="45700" anchor="t" anchorCtr="0">
              <a:noAutofit/>
            </a:bodyPr>
            <a:lstStyle/>
            <a:p>
              <a:pPr marL="342900" lvl="0" indent="-342900">
                <a:spcBef>
                  <a:spcPts val="600"/>
                </a:spcBef>
                <a:spcAft>
                  <a:spcPts val="600"/>
                </a:spcAft>
                <a:buClr>
                  <a:schemeClr val="accent6">
                    <a:lumMod val="75000"/>
                  </a:schemeClr>
                </a:buClr>
                <a:buFont typeface="Wingdings" panose="05000000000000000000" pitchFamily="2" charset="2"/>
                <a:buChar char="§"/>
              </a:pPr>
              <a:r>
                <a:rPr lang="en-US" sz="1800" dirty="0"/>
                <a:t>Access to assets and systems is effectively managed and limited to authorized users and usage</a:t>
              </a:r>
            </a:p>
            <a:p>
              <a:pPr marL="342900" lvl="0" indent="-342900">
                <a:spcBef>
                  <a:spcPts val="600"/>
                </a:spcBef>
                <a:spcAft>
                  <a:spcPts val="600"/>
                </a:spcAft>
                <a:buClr>
                  <a:schemeClr val="accent6">
                    <a:lumMod val="75000"/>
                  </a:schemeClr>
                </a:buClr>
                <a:buFont typeface="Wingdings" panose="05000000000000000000" pitchFamily="2" charset="2"/>
                <a:buChar char="§"/>
              </a:pPr>
              <a:r>
                <a:rPr lang="en-US" sz="1800" dirty="0"/>
                <a:t>Vulnerabilities are rapidly identified, impact is understood and appropriate mitigations are applied</a:t>
              </a:r>
            </a:p>
            <a:p>
              <a:pPr marL="342900" lvl="0" indent="-342900">
                <a:spcBef>
                  <a:spcPts val="600"/>
                </a:spcBef>
                <a:spcAft>
                  <a:spcPts val="600"/>
                </a:spcAft>
                <a:buClr>
                  <a:schemeClr val="accent6">
                    <a:lumMod val="75000"/>
                  </a:schemeClr>
                </a:buClr>
                <a:buFont typeface="Wingdings" panose="05000000000000000000" pitchFamily="2" charset="2"/>
                <a:buChar char="§"/>
              </a:pPr>
              <a:r>
                <a:rPr lang="en-US" sz="1800" dirty="0"/>
                <a:t>Data is appropriately categorized and safe guarded</a:t>
              </a:r>
            </a:p>
            <a:p>
              <a:pPr marL="342900" lvl="0" indent="-342900">
                <a:spcBef>
                  <a:spcPts val="600"/>
                </a:spcBef>
                <a:spcAft>
                  <a:spcPts val="600"/>
                </a:spcAft>
                <a:buClr>
                  <a:schemeClr val="accent6">
                    <a:lumMod val="75000"/>
                  </a:schemeClr>
                </a:buClr>
                <a:buFont typeface="Wingdings" panose="05000000000000000000" pitchFamily="2" charset="2"/>
                <a:buChar char="§"/>
              </a:pPr>
              <a:r>
                <a:rPr lang="en-US" sz="1800" dirty="0"/>
                <a:t>Employees’ Cyber / Information security awareness exceeds peer organizations </a:t>
              </a:r>
            </a:p>
            <a:p>
              <a:pPr marL="342900" lvl="0" indent="-342900">
                <a:spcBef>
                  <a:spcPts val="600"/>
                </a:spcBef>
                <a:spcAft>
                  <a:spcPts val="600"/>
                </a:spcAft>
                <a:buClr>
                  <a:schemeClr val="accent6">
                    <a:lumMod val="75000"/>
                  </a:schemeClr>
                </a:buClr>
                <a:buFont typeface="Wingdings" panose="05000000000000000000" pitchFamily="2" charset="2"/>
                <a:buChar char="§"/>
              </a:pPr>
              <a:r>
                <a:rPr lang="en-US" sz="1800" dirty="0"/>
                <a:t>Workforce planning for cyber resources to meet future cyber security skills and talent needs</a:t>
              </a:r>
            </a:p>
            <a:p>
              <a:pPr marL="285750" marR="0" lvl="0" indent="-285750" algn="l" rtl="0">
                <a:spcBef>
                  <a:spcPts val="0"/>
                </a:spcBef>
                <a:spcAft>
                  <a:spcPts val="0"/>
                </a:spcAft>
                <a:buFont typeface="Arial" panose="020B0604020202020204" pitchFamily="34" charset="0"/>
                <a:buChar char="•"/>
              </a:pPr>
              <a:endParaRPr lang="en-US" sz="1800" dirty="0">
                <a:latin typeface="+mn-lt"/>
              </a:endParaRPr>
            </a:p>
          </p:txBody>
        </p:sp>
        <p:sp>
          <p:nvSpPr>
            <p:cNvPr id="75" name="Google Shape;2798;p183">
              <a:extLst>
                <a:ext uri="{FF2B5EF4-FFF2-40B4-BE49-F238E27FC236}">
                  <a16:creationId xmlns:a16="http://schemas.microsoft.com/office/drawing/2014/main" id="{A7F1727A-A01B-4B64-9833-09AEEA5428BF}"/>
                </a:ext>
              </a:extLst>
            </p:cNvPr>
            <p:cNvSpPr/>
            <p:nvPr/>
          </p:nvSpPr>
          <p:spPr>
            <a:xfrm>
              <a:off x="528183" y="2404385"/>
              <a:ext cx="558525" cy="320100"/>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76" name="Google Shape;2799;p183">
              <a:extLst>
                <a:ext uri="{FF2B5EF4-FFF2-40B4-BE49-F238E27FC236}">
                  <a16:creationId xmlns:a16="http://schemas.microsoft.com/office/drawing/2014/main" id="{59E6391A-2A8D-447E-9DA1-B54ABE49A156}"/>
                </a:ext>
              </a:extLst>
            </p:cNvPr>
            <p:cNvSpPr/>
            <p:nvPr/>
          </p:nvSpPr>
          <p:spPr>
            <a:xfrm>
              <a:off x="627824" y="2443734"/>
              <a:ext cx="234997" cy="234990"/>
            </a:xfrm>
            <a:custGeom>
              <a:avLst/>
              <a:gdLst/>
              <a:ahLst/>
              <a:cxnLst/>
              <a:rect l="l" t="t" r="r" b="b"/>
              <a:pathLst>
                <a:path w="5191" h="5190" extrusionOk="0">
                  <a:moveTo>
                    <a:pt x="2595" y="0"/>
                  </a:moveTo>
                  <a:cubicBezTo>
                    <a:pt x="1168" y="0"/>
                    <a:pt x="0" y="1168"/>
                    <a:pt x="0" y="2595"/>
                  </a:cubicBezTo>
                  <a:cubicBezTo>
                    <a:pt x="0" y="4022"/>
                    <a:pt x="1168" y="5190"/>
                    <a:pt x="2595" y="5190"/>
                  </a:cubicBezTo>
                  <a:cubicBezTo>
                    <a:pt x="4023" y="5190"/>
                    <a:pt x="5191" y="4022"/>
                    <a:pt x="5191" y="2595"/>
                  </a:cubicBezTo>
                  <a:cubicBezTo>
                    <a:pt x="5191" y="1168"/>
                    <a:pt x="4023" y="0"/>
                    <a:pt x="2595" y="0"/>
                  </a:cubicBezTo>
                  <a:close/>
                  <a:moveTo>
                    <a:pt x="4386" y="1561"/>
                  </a:moveTo>
                  <a:cubicBezTo>
                    <a:pt x="3652" y="1561"/>
                    <a:pt x="3652" y="1561"/>
                    <a:pt x="3652" y="1561"/>
                  </a:cubicBezTo>
                  <a:cubicBezTo>
                    <a:pt x="3648" y="1541"/>
                    <a:pt x="3643" y="1527"/>
                    <a:pt x="3639" y="1510"/>
                  </a:cubicBezTo>
                  <a:cubicBezTo>
                    <a:pt x="3557" y="1222"/>
                    <a:pt x="3444" y="931"/>
                    <a:pt x="3303" y="646"/>
                  </a:cubicBezTo>
                  <a:cubicBezTo>
                    <a:pt x="3301" y="642"/>
                    <a:pt x="3299" y="640"/>
                    <a:pt x="3297" y="636"/>
                  </a:cubicBezTo>
                  <a:cubicBezTo>
                    <a:pt x="3753" y="819"/>
                    <a:pt x="4157" y="1125"/>
                    <a:pt x="4386" y="1561"/>
                  </a:cubicBezTo>
                  <a:close/>
                  <a:moveTo>
                    <a:pt x="1988" y="3117"/>
                  </a:moveTo>
                  <a:cubicBezTo>
                    <a:pt x="1961" y="2945"/>
                    <a:pt x="1947" y="2779"/>
                    <a:pt x="1947" y="2615"/>
                  </a:cubicBezTo>
                  <a:cubicBezTo>
                    <a:pt x="1947" y="2440"/>
                    <a:pt x="1963" y="2261"/>
                    <a:pt x="1994" y="2077"/>
                  </a:cubicBezTo>
                  <a:cubicBezTo>
                    <a:pt x="3204" y="2077"/>
                    <a:pt x="3204" y="2077"/>
                    <a:pt x="3204" y="2077"/>
                  </a:cubicBezTo>
                  <a:cubicBezTo>
                    <a:pt x="3232" y="2249"/>
                    <a:pt x="3246" y="2420"/>
                    <a:pt x="3246" y="2586"/>
                  </a:cubicBezTo>
                  <a:cubicBezTo>
                    <a:pt x="3246" y="2759"/>
                    <a:pt x="3231" y="2937"/>
                    <a:pt x="3201" y="3117"/>
                  </a:cubicBezTo>
                  <a:lnTo>
                    <a:pt x="1988" y="3117"/>
                  </a:lnTo>
                  <a:close/>
                  <a:moveTo>
                    <a:pt x="2821" y="910"/>
                  </a:moveTo>
                  <a:cubicBezTo>
                    <a:pt x="2927" y="1125"/>
                    <a:pt x="3014" y="1341"/>
                    <a:pt x="3081" y="1561"/>
                  </a:cubicBezTo>
                  <a:cubicBezTo>
                    <a:pt x="2121" y="1561"/>
                    <a:pt x="2121" y="1561"/>
                    <a:pt x="2121" y="1561"/>
                  </a:cubicBezTo>
                  <a:cubicBezTo>
                    <a:pt x="2187" y="1353"/>
                    <a:pt x="2272" y="1145"/>
                    <a:pt x="2373" y="940"/>
                  </a:cubicBezTo>
                  <a:cubicBezTo>
                    <a:pt x="2452" y="780"/>
                    <a:pt x="2532" y="640"/>
                    <a:pt x="2601" y="528"/>
                  </a:cubicBezTo>
                  <a:cubicBezTo>
                    <a:pt x="2622" y="560"/>
                    <a:pt x="2645" y="593"/>
                    <a:pt x="2668" y="625"/>
                  </a:cubicBezTo>
                  <a:cubicBezTo>
                    <a:pt x="2717" y="709"/>
                    <a:pt x="2769" y="805"/>
                    <a:pt x="2821" y="910"/>
                  </a:cubicBezTo>
                  <a:close/>
                  <a:moveTo>
                    <a:pt x="2373" y="4291"/>
                  </a:moveTo>
                  <a:cubicBezTo>
                    <a:pt x="2266" y="4074"/>
                    <a:pt x="2178" y="3853"/>
                    <a:pt x="2110" y="3637"/>
                  </a:cubicBezTo>
                  <a:cubicBezTo>
                    <a:pt x="3074" y="3637"/>
                    <a:pt x="3074" y="3637"/>
                    <a:pt x="3074" y="3637"/>
                  </a:cubicBezTo>
                  <a:cubicBezTo>
                    <a:pt x="3008" y="3845"/>
                    <a:pt x="2923" y="4053"/>
                    <a:pt x="2821" y="4261"/>
                  </a:cubicBezTo>
                  <a:cubicBezTo>
                    <a:pt x="2742" y="4421"/>
                    <a:pt x="2663" y="4559"/>
                    <a:pt x="2594" y="4670"/>
                  </a:cubicBezTo>
                  <a:cubicBezTo>
                    <a:pt x="2566" y="4628"/>
                    <a:pt x="2537" y="4587"/>
                    <a:pt x="2508" y="4544"/>
                  </a:cubicBezTo>
                  <a:cubicBezTo>
                    <a:pt x="2464" y="4467"/>
                    <a:pt x="2418" y="4383"/>
                    <a:pt x="2373" y="4291"/>
                  </a:cubicBezTo>
                  <a:close/>
                  <a:moveTo>
                    <a:pt x="1916" y="626"/>
                  </a:moveTo>
                  <a:cubicBezTo>
                    <a:pt x="1908" y="643"/>
                    <a:pt x="1899" y="659"/>
                    <a:pt x="1891" y="676"/>
                  </a:cubicBezTo>
                  <a:cubicBezTo>
                    <a:pt x="1749" y="961"/>
                    <a:pt x="1636" y="1253"/>
                    <a:pt x="1555" y="1541"/>
                  </a:cubicBezTo>
                  <a:cubicBezTo>
                    <a:pt x="1553" y="1547"/>
                    <a:pt x="1552" y="1553"/>
                    <a:pt x="1550" y="1561"/>
                  </a:cubicBezTo>
                  <a:cubicBezTo>
                    <a:pt x="805" y="1561"/>
                    <a:pt x="805" y="1561"/>
                    <a:pt x="805" y="1561"/>
                  </a:cubicBezTo>
                  <a:cubicBezTo>
                    <a:pt x="1063" y="1121"/>
                    <a:pt x="1451" y="808"/>
                    <a:pt x="1916" y="626"/>
                  </a:cubicBezTo>
                  <a:close/>
                  <a:moveTo>
                    <a:pt x="597" y="3117"/>
                  </a:moveTo>
                  <a:cubicBezTo>
                    <a:pt x="545" y="2961"/>
                    <a:pt x="519" y="2779"/>
                    <a:pt x="519" y="2597"/>
                  </a:cubicBezTo>
                  <a:cubicBezTo>
                    <a:pt x="519" y="2415"/>
                    <a:pt x="545" y="2233"/>
                    <a:pt x="597" y="2077"/>
                  </a:cubicBezTo>
                  <a:cubicBezTo>
                    <a:pt x="1440" y="2077"/>
                    <a:pt x="1440" y="2077"/>
                    <a:pt x="1440" y="2077"/>
                  </a:cubicBezTo>
                  <a:cubicBezTo>
                    <a:pt x="1414" y="2261"/>
                    <a:pt x="1400" y="2439"/>
                    <a:pt x="1400" y="2616"/>
                  </a:cubicBezTo>
                  <a:cubicBezTo>
                    <a:pt x="1400" y="2780"/>
                    <a:pt x="1412" y="2949"/>
                    <a:pt x="1435" y="3117"/>
                  </a:cubicBezTo>
                  <a:lnTo>
                    <a:pt x="597" y="3117"/>
                  </a:lnTo>
                  <a:close/>
                  <a:moveTo>
                    <a:pt x="805" y="3637"/>
                  </a:moveTo>
                  <a:cubicBezTo>
                    <a:pt x="1540" y="3637"/>
                    <a:pt x="1540" y="3637"/>
                    <a:pt x="1540" y="3637"/>
                  </a:cubicBezTo>
                  <a:cubicBezTo>
                    <a:pt x="1545" y="3653"/>
                    <a:pt x="1550" y="3672"/>
                    <a:pt x="1555" y="3691"/>
                  </a:cubicBezTo>
                  <a:cubicBezTo>
                    <a:pt x="1636" y="3979"/>
                    <a:pt x="1749" y="4268"/>
                    <a:pt x="1891" y="4554"/>
                  </a:cubicBezTo>
                  <a:cubicBezTo>
                    <a:pt x="1892" y="4555"/>
                    <a:pt x="1892" y="4557"/>
                    <a:pt x="1893" y="4559"/>
                  </a:cubicBezTo>
                  <a:cubicBezTo>
                    <a:pt x="1437" y="4376"/>
                    <a:pt x="1034" y="4069"/>
                    <a:pt x="805" y="3637"/>
                  </a:cubicBezTo>
                  <a:close/>
                  <a:moveTo>
                    <a:pt x="3283" y="4564"/>
                  </a:moveTo>
                  <a:cubicBezTo>
                    <a:pt x="3289" y="4551"/>
                    <a:pt x="3296" y="4537"/>
                    <a:pt x="3303" y="4523"/>
                  </a:cubicBezTo>
                  <a:cubicBezTo>
                    <a:pt x="3444" y="4238"/>
                    <a:pt x="3557" y="3950"/>
                    <a:pt x="3639" y="3661"/>
                  </a:cubicBezTo>
                  <a:cubicBezTo>
                    <a:pt x="3641" y="3653"/>
                    <a:pt x="3643" y="3645"/>
                    <a:pt x="3646" y="3637"/>
                  </a:cubicBezTo>
                  <a:cubicBezTo>
                    <a:pt x="4386" y="3637"/>
                    <a:pt x="4386" y="3637"/>
                    <a:pt x="4386" y="3637"/>
                  </a:cubicBezTo>
                  <a:cubicBezTo>
                    <a:pt x="4155" y="4073"/>
                    <a:pt x="3745" y="4382"/>
                    <a:pt x="3283" y="4564"/>
                  </a:cubicBezTo>
                  <a:close/>
                  <a:moveTo>
                    <a:pt x="3755" y="3117"/>
                  </a:moveTo>
                  <a:cubicBezTo>
                    <a:pt x="3780" y="2937"/>
                    <a:pt x="3793" y="2760"/>
                    <a:pt x="3793" y="2586"/>
                  </a:cubicBezTo>
                  <a:cubicBezTo>
                    <a:pt x="3793" y="2419"/>
                    <a:pt x="3781" y="2249"/>
                    <a:pt x="3758" y="2077"/>
                  </a:cubicBezTo>
                  <a:cubicBezTo>
                    <a:pt x="4620" y="2077"/>
                    <a:pt x="4620" y="2077"/>
                    <a:pt x="4620" y="2077"/>
                  </a:cubicBezTo>
                  <a:cubicBezTo>
                    <a:pt x="4672" y="2233"/>
                    <a:pt x="4698" y="2415"/>
                    <a:pt x="4698" y="2597"/>
                  </a:cubicBezTo>
                  <a:cubicBezTo>
                    <a:pt x="4698" y="2779"/>
                    <a:pt x="4672" y="2961"/>
                    <a:pt x="4620" y="3117"/>
                  </a:cubicBezTo>
                  <a:lnTo>
                    <a:pt x="3755" y="311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p:txBody>
        </p:sp>
      </p:grpSp>
      <p:sp>
        <p:nvSpPr>
          <p:cNvPr id="82" name="Google Shape;2815;p183">
            <a:extLst>
              <a:ext uri="{FF2B5EF4-FFF2-40B4-BE49-F238E27FC236}">
                <a16:creationId xmlns:a16="http://schemas.microsoft.com/office/drawing/2014/main" id="{3072879F-3225-4995-9278-A41E009E05FE}"/>
              </a:ext>
            </a:extLst>
          </p:cNvPr>
          <p:cNvSpPr/>
          <p:nvPr/>
        </p:nvSpPr>
        <p:spPr>
          <a:xfrm>
            <a:off x="1097493" y="5992957"/>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p:txBody>
      </p:sp>
      <p:sp>
        <p:nvSpPr>
          <p:cNvPr id="36" name="Google Shape;2796;p183">
            <a:extLst>
              <a:ext uri="{FF2B5EF4-FFF2-40B4-BE49-F238E27FC236}">
                <a16:creationId xmlns:a16="http://schemas.microsoft.com/office/drawing/2014/main" id="{C12E3A0A-020A-4381-B47C-2F430630B15E}"/>
              </a:ext>
            </a:extLst>
          </p:cNvPr>
          <p:cNvSpPr/>
          <p:nvPr/>
        </p:nvSpPr>
        <p:spPr>
          <a:xfrm>
            <a:off x="909087" y="6179551"/>
            <a:ext cx="8711206" cy="723543"/>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mn-lt"/>
                <a:ea typeface="Arial"/>
                <a:cs typeface="Arial"/>
                <a:sym typeface="Arial"/>
              </a:rPr>
              <a:t>STRATEGIC ACTIONS (2022-2025)</a:t>
            </a:r>
          </a:p>
        </p:txBody>
      </p:sp>
      <p:sp>
        <p:nvSpPr>
          <p:cNvPr id="37" name="Google Shape;2797;p183">
            <a:extLst>
              <a:ext uri="{FF2B5EF4-FFF2-40B4-BE49-F238E27FC236}">
                <a16:creationId xmlns:a16="http://schemas.microsoft.com/office/drawing/2014/main" id="{6677BC77-AD73-42B8-B756-88FED5C8A2A3}"/>
              </a:ext>
            </a:extLst>
          </p:cNvPr>
          <p:cNvSpPr/>
          <p:nvPr/>
        </p:nvSpPr>
        <p:spPr>
          <a:xfrm>
            <a:off x="779129" y="6818906"/>
            <a:ext cx="8831445" cy="1083619"/>
          </a:xfrm>
          <a:prstGeom prst="rect">
            <a:avLst/>
          </a:prstGeom>
          <a:noFill/>
          <a:ln>
            <a:noFill/>
          </a:ln>
        </p:spPr>
        <p:txBody>
          <a:bodyPr spcFirstLastPara="1" wrap="square" lIns="0" tIns="45700" rIns="91425" bIns="45700" anchor="t" anchorCtr="0">
            <a:noAutofit/>
          </a:bodyPr>
          <a:lstStyle/>
          <a:p>
            <a:pPr marL="285750" lvl="0" indent="-285750">
              <a:buFont typeface="Arial" panose="020B0604020202020204" pitchFamily="34" charset="0"/>
              <a:buChar char="•"/>
            </a:pPr>
            <a:endParaRPr lang="en-US" sz="1800" dirty="0">
              <a:latin typeface="+mn-lt"/>
              <a:cs typeface="Arial" panose="020B0604020202020204" pitchFamily="34" charset="0"/>
            </a:endParaRPr>
          </a:p>
          <a:p>
            <a:pPr marL="285750" lvl="0" indent="-285750" algn="just">
              <a:spcBef>
                <a:spcPts val="400"/>
              </a:spcBef>
              <a:spcAft>
                <a:spcPts val="1200"/>
              </a:spcAft>
              <a:buFont typeface="Arial" panose="020B0604020202020204" pitchFamily="34" charset="0"/>
              <a:buChar char="•"/>
            </a:pPr>
            <a:r>
              <a:rPr lang="en-US" sz="1800" dirty="0"/>
              <a:t>Enhancement of secure authentication mechanisms across the board.</a:t>
            </a:r>
          </a:p>
          <a:p>
            <a:pPr marL="285750" lvl="0" indent="-285750" algn="just">
              <a:spcBef>
                <a:spcPts val="400"/>
              </a:spcBef>
              <a:spcAft>
                <a:spcPts val="1200"/>
              </a:spcAft>
              <a:buFont typeface="Arial" panose="020B0604020202020204" pitchFamily="34" charset="0"/>
              <a:buChar char="•"/>
            </a:pPr>
            <a:endParaRPr lang="en-US" sz="1800" dirty="0"/>
          </a:p>
          <a:p>
            <a:pPr marL="285750" indent="-285750" algn="just">
              <a:spcBef>
                <a:spcPts val="400"/>
              </a:spcBef>
              <a:spcAft>
                <a:spcPts val="1200"/>
              </a:spcAft>
              <a:buFont typeface="Arial" panose="020B0604020202020204" pitchFamily="34" charset="0"/>
              <a:buChar char="•"/>
            </a:pPr>
            <a:r>
              <a:rPr lang="en-US" sz="1800" dirty="0"/>
              <a:t>Initiation and launch of Information Security training program for enrichment of end-user cyber hygiene  </a:t>
            </a:r>
            <a:endParaRPr lang="en-PK" sz="1800" dirty="0"/>
          </a:p>
          <a:p>
            <a:pPr marL="1528788" algn="just" defTabSz="1507846">
              <a:spcBef>
                <a:spcPts val="400"/>
              </a:spcBef>
              <a:spcAft>
                <a:spcPts val="1200"/>
              </a:spcAft>
              <a:defRPr/>
            </a:pPr>
            <a:endParaRPr lang="en-PK" sz="1800" dirty="0"/>
          </a:p>
          <a:p>
            <a:pPr marL="285750" indent="-285750" algn="just">
              <a:spcBef>
                <a:spcPts val="400"/>
              </a:spcBef>
              <a:spcAft>
                <a:spcPts val="1200"/>
              </a:spcAft>
              <a:buFont typeface="Arial" panose="020B0604020202020204" pitchFamily="34" charset="0"/>
              <a:buChar char="•"/>
            </a:pPr>
            <a:r>
              <a:rPr lang="en-US" sz="1800" dirty="0"/>
              <a:t>Enrichment of information and data security practices and controls based on confidentiality, Integrity and availability. </a:t>
            </a:r>
            <a:endParaRPr lang="en-PK" sz="1800" dirty="0"/>
          </a:p>
          <a:p>
            <a:pPr marL="342900" marR="0" lvl="0" indent="-342900" algn="l" rtl="0">
              <a:spcBef>
                <a:spcPts val="400"/>
              </a:spcBef>
              <a:spcAft>
                <a:spcPts val="400"/>
              </a:spcAft>
              <a:buFont typeface="Wingdings" panose="05000000000000000000" pitchFamily="2" charset="2"/>
              <a:buChar char="§"/>
            </a:pPr>
            <a:endParaRPr lang="en-US" sz="1800" dirty="0">
              <a:latin typeface="+mn-lt"/>
            </a:endParaRPr>
          </a:p>
        </p:txBody>
      </p:sp>
      <p:sp>
        <p:nvSpPr>
          <p:cNvPr id="38" name="Google Shape;2798;p183">
            <a:extLst>
              <a:ext uri="{FF2B5EF4-FFF2-40B4-BE49-F238E27FC236}">
                <a16:creationId xmlns:a16="http://schemas.microsoft.com/office/drawing/2014/main" id="{8850ADBC-0BD3-45AE-8ECD-0279A8363092}"/>
              </a:ext>
            </a:extLst>
          </p:cNvPr>
          <p:cNvSpPr/>
          <p:nvPr/>
        </p:nvSpPr>
        <p:spPr>
          <a:xfrm>
            <a:off x="909087" y="6147608"/>
            <a:ext cx="1362493" cy="73023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39" name="Google Shape;2815;p183">
            <a:extLst>
              <a:ext uri="{FF2B5EF4-FFF2-40B4-BE49-F238E27FC236}">
                <a16:creationId xmlns:a16="http://schemas.microsoft.com/office/drawing/2014/main" id="{E93866A0-5824-43BC-BDA8-A4FB7B9E7FB8}"/>
              </a:ext>
            </a:extLst>
          </p:cNvPr>
          <p:cNvSpPr/>
          <p:nvPr/>
        </p:nvSpPr>
        <p:spPr>
          <a:xfrm>
            <a:off x="1217368" y="6236283"/>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p:txBody>
      </p:sp>
      <p:sp>
        <p:nvSpPr>
          <p:cNvPr id="44" name="Google Shape;2796;p183">
            <a:extLst>
              <a:ext uri="{FF2B5EF4-FFF2-40B4-BE49-F238E27FC236}">
                <a16:creationId xmlns:a16="http://schemas.microsoft.com/office/drawing/2014/main" id="{FF21C895-95C6-4126-87BA-300F82B8B921}"/>
              </a:ext>
            </a:extLst>
          </p:cNvPr>
          <p:cNvSpPr/>
          <p:nvPr/>
        </p:nvSpPr>
        <p:spPr>
          <a:xfrm>
            <a:off x="10136970" y="6168597"/>
            <a:ext cx="4371773" cy="706378"/>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1800" b="1" i="0" u="none" strike="noStrike" cap="none" dirty="0">
                <a:solidFill>
                  <a:schemeClr val="tx1"/>
                </a:solidFill>
                <a:latin typeface="+mn-lt"/>
                <a:ea typeface="Arial"/>
                <a:cs typeface="Arial"/>
                <a:sym typeface="Arial"/>
              </a:rPr>
              <a:t>Key Outputs Short to Medium Term</a:t>
            </a:r>
          </a:p>
        </p:txBody>
      </p:sp>
      <p:sp>
        <p:nvSpPr>
          <p:cNvPr id="45" name="Google Shape;2797;p183">
            <a:extLst>
              <a:ext uri="{FF2B5EF4-FFF2-40B4-BE49-F238E27FC236}">
                <a16:creationId xmlns:a16="http://schemas.microsoft.com/office/drawing/2014/main" id="{D96EACCB-434C-4CB0-B235-A93BEC9AE9B5}"/>
              </a:ext>
            </a:extLst>
          </p:cNvPr>
          <p:cNvSpPr/>
          <p:nvPr/>
        </p:nvSpPr>
        <p:spPr>
          <a:xfrm>
            <a:off x="10192828" y="6691232"/>
            <a:ext cx="4371767" cy="1083619"/>
          </a:xfrm>
          <a:prstGeom prst="rect">
            <a:avLst/>
          </a:prstGeom>
          <a:noFill/>
          <a:ln>
            <a:noFill/>
          </a:ln>
        </p:spPr>
        <p:txBody>
          <a:bodyPr spcFirstLastPara="1" wrap="square" lIns="0" tIns="45700" rIns="91425" bIns="45700" anchor="t" anchorCtr="0">
            <a:noAutofit/>
          </a:bodyPr>
          <a:lstStyle/>
          <a:p>
            <a:pPr marL="285750" lvl="0" indent="-285750">
              <a:buFont typeface="Arial" panose="020B0604020202020204" pitchFamily="34" charset="0"/>
              <a:buChar char="•"/>
            </a:pPr>
            <a:endParaRPr lang="en-US" sz="1800" dirty="0">
              <a:latin typeface="+mn-lt"/>
              <a:cs typeface="Arial" panose="020B0604020202020204" pitchFamily="34" charset="0"/>
            </a:endParaRPr>
          </a:p>
          <a:p>
            <a:pPr marL="342900" indent="-342900" algn="just">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Enhancement of Privilege access management for critical Systems. </a:t>
            </a:r>
            <a:endParaRPr lang="en-PK" sz="1600" dirty="0">
              <a:latin typeface="Arial" panose="020B0604020202020204" pitchFamily="34" charset="0"/>
              <a:cs typeface="Arial" panose="020B0604020202020204" pitchFamily="34" charset="0"/>
            </a:endParaRPr>
          </a:p>
          <a:p>
            <a:pPr algn="just">
              <a:spcBef>
                <a:spcPts val="400"/>
              </a:spcBef>
              <a:spcAft>
                <a:spcPts val="400"/>
              </a:spcAft>
            </a:pPr>
            <a:endParaRPr lang="en-PK" sz="1600" dirty="0">
              <a:latin typeface="Arial" panose="020B0604020202020204" pitchFamily="34" charset="0"/>
              <a:cs typeface="Arial" panose="020B0604020202020204" pitchFamily="34" charset="0"/>
            </a:endParaRPr>
          </a:p>
          <a:p>
            <a:pPr marL="342900" lvl="0" indent="-342900" algn="just">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Acquisition of IS awareness platform and launch of training program for Executives, Privileged admins, Developers &amp; Customers. </a:t>
            </a:r>
          </a:p>
          <a:p>
            <a:pPr marL="342900" lvl="0" indent="-342900" algn="just">
              <a:spcBef>
                <a:spcPts val="400"/>
              </a:spcBef>
              <a:spcAft>
                <a:spcPts val="400"/>
              </a:spcAft>
              <a:buFont typeface="Wingdings" panose="05000000000000000000" pitchFamily="2" charset="2"/>
              <a:buChar char="§"/>
            </a:pPr>
            <a:endParaRPr lang="en-US" sz="1600" dirty="0">
              <a:latin typeface="Arial" panose="020B0604020202020204" pitchFamily="34" charset="0"/>
              <a:cs typeface="Arial" panose="020B0604020202020204" pitchFamily="34" charset="0"/>
            </a:endParaRPr>
          </a:p>
          <a:p>
            <a:pPr marL="342900" indent="-342900" algn="just">
              <a:spcBef>
                <a:spcPts val="400"/>
              </a:spcBef>
              <a:spcAft>
                <a:spcPts val="400"/>
              </a:spcAft>
              <a:buFont typeface="Wingdings" panose="05000000000000000000" pitchFamily="2" charset="2"/>
              <a:buChar char="§"/>
            </a:pPr>
            <a:r>
              <a:rPr lang="en-US" sz="1600" dirty="0"/>
              <a:t>Enhancement of  Security Assessment Practices.</a:t>
            </a:r>
            <a:r>
              <a:rPr lang="en-US" sz="1600" dirty="0">
                <a:latin typeface="Arial" panose="020B0604020202020204" pitchFamily="34" charset="0"/>
                <a:cs typeface="Arial" panose="020B0604020202020204" pitchFamily="34" charset="0"/>
              </a:rPr>
              <a:t>  </a:t>
            </a:r>
          </a:p>
        </p:txBody>
      </p:sp>
      <p:sp>
        <p:nvSpPr>
          <p:cNvPr id="46" name="Google Shape;2798;p183">
            <a:extLst>
              <a:ext uri="{FF2B5EF4-FFF2-40B4-BE49-F238E27FC236}">
                <a16:creationId xmlns:a16="http://schemas.microsoft.com/office/drawing/2014/main" id="{982B5F3E-9E5B-4068-80F9-04E7AAF39F0C}"/>
              </a:ext>
            </a:extLst>
          </p:cNvPr>
          <p:cNvSpPr/>
          <p:nvPr/>
        </p:nvSpPr>
        <p:spPr>
          <a:xfrm>
            <a:off x="10181646" y="6172888"/>
            <a:ext cx="1242248" cy="68970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47" name="Google Shape;2815;p183">
            <a:extLst>
              <a:ext uri="{FF2B5EF4-FFF2-40B4-BE49-F238E27FC236}">
                <a16:creationId xmlns:a16="http://schemas.microsoft.com/office/drawing/2014/main" id="{7ACA8D38-A964-40F3-8582-A19C6EA6FAE7}"/>
              </a:ext>
            </a:extLst>
          </p:cNvPr>
          <p:cNvSpPr/>
          <p:nvPr/>
        </p:nvSpPr>
        <p:spPr>
          <a:xfrm>
            <a:off x="10432500" y="6189570"/>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p:txBody>
      </p:sp>
      <p:sp>
        <p:nvSpPr>
          <p:cNvPr id="48" name="Google Shape;2796;p183">
            <a:extLst>
              <a:ext uri="{FF2B5EF4-FFF2-40B4-BE49-F238E27FC236}">
                <a16:creationId xmlns:a16="http://schemas.microsoft.com/office/drawing/2014/main" id="{9DCF72BC-45EC-424A-98FF-9B2CB78F9514}"/>
              </a:ext>
            </a:extLst>
          </p:cNvPr>
          <p:cNvSpPr/>
          <p:nvPr/>
        </p:nvSpPr>
        <p:spPr>
          <a:xfrm>
            <a:off x="15136564" y="6124075"/>
            <a:ext cx="4371773" cy="706378"/>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1800" b="1" i="0" u="none" strike="noStrike" cap="none" dirty="0">
                <a:solidFill>
                  <a:schemeClr val="tx1"/>
                </a:solidFill>
                <a:latin typeface="+mn-lt"/>
                <a:ea typeface="Arial"/>
                <a:cs typeface="Arial"/>
                <a:sym typeface="Arial"/>
              </a:rPr>
              <a:t>Key Outputs Medium to Long term</a:t>
            </a:r>
          </a:p>
        </p:txBody>
      </p:sp>
      <p:sp>
        <p:nvSpPr>
          <p:cNvPr id="49" name="Google Shape;2797;p183">
            <a:extLst>
              <a:ext uri="{FF2B5EF4-FFF2-40B4-BE49-F238E27FC236}">
                <a16:creationId xmlns:a16="http://schemas.microsoft.com/office/drawing/2014/main" id="{9D560BFF-300A-4EAE-895D-D6A96814C604}"/>
              </a:ext>
            </a:extLst>
          </p:cNvPr>
          <p:cNvSpPr/>
          <p:nvPr/>
        </p:nvSpPr>
        <p:spPr>
          <a:xfrm>
            <a:off x="15081272" y="6674404"/>
            <a:ext cx="4371755" cy="1083619"/>
          </a:xfrm>
          <a:prstGeom prst="rect">
            <a:avLst/>
          </a:prstGeom>
          <a:noFill/>
          <a:ln>
            <a:noFill/>
          </a:ln>
        </p:spPr>
        <p:txBody>
          <a:bodyPr spcFirstLastPara="1" wrap="square" lIns="0" tIns="45700" rIns="91425" bIns="45700" anchor="t" anchorCtr="0">
            <a:noAutofit/>
          </a:bodyPr>
          <a:lstStyle/>
          <a:p>
            <a:pPr marL="285750" lvl="0" indent="-285750">
              <a:buFont typeface="Arial" panose="020B0604020202020204" pitchFamily="34" charset="0"/>
              <a:buChar char="•"/>
            </a:pPr>
            <a:endParaRPr lang="en-US" sz="1600" dirty="0">
              <a:latin typeface="+mn-lt"/>
              <a:cs typeface="Arial" panose="020B0604020202020204" pitchFamily="34" charset="0"/>
            </a:endParaRPr>
          </a:p>
          <a:p>
            <a:pPr marL="285750" lvl="0" indent="-285750" algn="just">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Establishment of Identity &amp; Access Management Program Bank Wide.</a:t>
            </a:r>
          </a:p>
          <a:p>
            <a:pPr lvl="0" algn="just">
              <a:spcBef>
                <a:spcPts val="400"/>
              </a:spcBef>
              <a:spcAft>
                <a:spcPts val="400"/>
              </a:spcAft>
            </a:pPr>
            <a:endParaRPr lang="en-US" sz="1600" dirty="0">
              <a:latin typeface="Arial" panose="020B0604020202020204" pitchFamily="34" charset="0"/>
              <a:cs typeface="Arial" panose="020B0604020202020204" pitchFamily="34" charset="0"/>
            </a:endParaRPr>
          </a:p>
          <a:p>
            <a:pPr lvl="0" algn="just">
              <a:spcBef>
                <a:spcPts val="400"/>
              </a:spcBef>
              <a:spcAft>
                <a:spcPts val="400"/>
              </a:spcAft>
            </a:pPr>
            <a:endParaRPr lang="en-US" sz="1600" dirty="0">
              <a:latin typeface="Arial" panose="020B0604020202020204" pitchFamily="34" charset="0"/>
              <a:cs typeface="Arial" panose="020B0604020202020204" pitchFamily="34" charset="0"/>
            </a:endParaRPr>
          </a:p>
          <a:p>
            <a:pPr marL="285750" lvl="0" indent="-285750" algn="just">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Enhancement of IS Awareness program for majority of ABL users. </a:t>
            </a:r>
          </a:p>
          <a:p>
            <a:pPr lvl="0" algn="just">
              <a:spcBef>
                <a:spcPts val="400"/>
              </a:spcBef>
              <a:spcAft>
                <a:spcPts val="400"/>
              </a:spcAft>
            </a:pPr>
            <a:endParaRPr lang="en-US" sz="1600" dirty="0">
              <a:latin typeface="Arial" panose="020B0604020202020204" pitchFamily="34" charset="0"/>
              <a:cs typeface="Arial" panose="020B0604020202020204" pitchFamily="34" charset="0"/>
            </a:endParaRPr>
          </a:p>
          <a:p>
            <a:pPr marL="285750" lvl="0" indent="-285750" algn="just">
              <a:spcBef>
                <a:spcPts val="400"/>
              </a:spcBef>
              <a:spcAft>
                <a:spcPts val="4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lvl="0" indent="-285750" algn="just">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Establishment Data leakages Prevention Program. </a:t>
            </a:r>
          </a:p>
          <a:p>
            <a:pPr marL="285750" lvl="0" indent="-285750" algn="just">
              <a:buFont typeface="Arial" panose="020B0604020202020204" pitchFamily="34" charset="0"/>
              <a:buChar char="•"/>
            </a:pPr>
            <a:endParaRPr lang="en-US" sz="1600" dirty="0">
              <a:latin typeface="+mn-lt"/>
              <a:cs typeface="Arial" panose="020B0604020202020204" pitchFamily="34" charset="0"/>
            </a:endParaRPr>
          </a:p>
          <a:p>
            <a:pPr marL="285750" lvl="0" indent="-285750" algn="just">
              <a:buFont typeface="Arial" panose="020B0604020202020204" pitchFamily="34" charset="0"/>
              <a:buChar char="•"/>
            </a:pPr>
            <a:endParaRPr lang="en-PK" sz="1600" dirty="0">
              <a:latin typeface="+mn-lt"/>
              <a:cs typeface="Arial" panose="020B0604020202020204" pitchFamily="34" charset="0"/>
            </a:endParaRPr>
          </a:p>
          <a:p>
            <a:pPr marL="1528788" defTabSz="1507846">
              <a:lnSpc>
                <a:spcPts val="3413"/>
              </a:lnSpc>
              <a:spcBef>
                <a:spcPts val="1583"/>
              </a:spcBef>
              <a:buClrTx/>
              <a:defRPr/>
            </a:pPr>
            <a:endParaRPr lang="en-PK" sz="1400" i="1" kern="1200" dirty="0">
              <a:solidFill>
                <a:srgbClr val="ED7D31"/>
              </a:solidFill>
              <a:latin typeface="+mn-lt"/>
              <a:ea typeface="Times New Roman" panose="02020603050405020304" pitchFamily="18"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endParaRPr lang="en-PK" sz="1800" dirty="0">
              <a:latin typeface="+mn-lt"/>
              <a:cs typeface="Arial" panose="020B0604020202020204" pitchFamily="34" charset="0"/>
            </a:endParaRPr>
          </a:p>
          <a:p>
            <a:pPr marL="342900" marR="0" lvl="0" indent="-342900" algn="l" rtl="0">
              <a:spcBef>
                <a:spcPts val="400"/>
              </a:spcBef>
              <a:spcAft>
                <a:spcPts val="400"/>
              </a:spcAft>
              <a:buFont typeface="Wingdings" panose="05000000000000000000" pitchFamily="2" charset="2"/>
              <a:buChar char="§"/>
            </a:pPr>
            <a:endParaRPr lang="en-US" sz="1800" dirty="0">
              <a:latin typeface="+mn-lt"/>
            </a:endParaRPr>
          </a:p>
        </p:txBody>
      </p:sp>
      <p:sp>
        <p:nvSpPr>
          <p:cNvPr id="50" name="Google Shape;2798;p183">
            <a:extLst>
              <a:ext uri="{FF2B5EF4-FFF2-40B4-BE49-F238E27FC236}">
                <a16:creationId xmlns:a16="http://schemas.microsoft.com/office/drawing/2014/main" id="{EAA93611-1EF0-41BF-BF1F-A4908B4BE8B5}"/>
              </a:ext>
            </a:extLst>
          </p:cNvPr>
          <p:cNvSpPr/>
          <p:nvPr/>
        </p:nvSpPr>
        <p:spPr>
          <a:xfrm>
            <a:off x="15161477" y="6140747"/>
            <a:ext cx="1242248" cy="68970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51" name="Google Shape;2815;p183">
            <a:extLst>
              <a:ext uri="{FF2B5EF4-FFF2-40B4-BE49-F238E27FC236}">
                <a16:creationId xmlns:a16="http://schemas.microsoft.com/office/drawing/2014/main" id="{35BB7AEB-4B56-479E-8F13-4C7BBBBD6A45}"/>
              </a:ext>
            </a:extLst>
          </p:cNvPr>
          <p:cNvSpPr/>
          <p:nvPr/>
        </p:nvSpPr>
        <p:spPr>
          <a:xfrm>
            <a:off x="15274905" y="6211280"/>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p:txBody>
      </p:sp>
    </p:spTree>
    <p:extLst>
      <p:ext uri="{BB962C8B-B14F-4D97-AF65-F5344CB8AC3E}">
        <p14:creationId xmlns:p14="http://schemas.microsoft.com/office/powerpoint/2010/main" val="2116357055"/>
      </p:ext>
    </p:extLst>
  </p:cSld>
  <p:clrMapOvr>
    <a:overrideClrMapping bg1="lt1" tx1="dk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712888" y="2545627"/>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effectLst>
                  <a:outerShdw blurRad="38100" dist="38100" dir="2700000" algn="tl">
                    <a:srgbClr val="000000">
                      <a:alpha val="43137"/>
                    </a:srgbClr>
                  </a:outerShdw>
                </a:effectLst>
              </a:rPr>
              <a:t>Objective 3 : Detect</a:t>
            </a:r>
            <a:br>
              <a:rPr lang="en-US" sz="3750" dirty="0"/>
            </a:br>
            <a:r>
              <a:rPr lang="en-US" sz="2400" b="1" i="1" dirty="0">
                <a:solidFill>
                  <a:schemeClr val="accent6">
                    <a:lumMod val="75000"/>
                  </a:schemeClr>
                </a:solidFill>
                <a:effectLst>
                  <a:outerShdw blurRad="38100" dist="38100" dir="2700000" algn="tl">
                    <a:srgbClr val="000000">
                      <a:alpha val="43137"/>
                    </a:srgbClr>
                  </a:outerShdw>
                </a:effectLst>
              </a:rPr>
              <a:t>“Strengthen systems to identify a cyber security event”</a:t>
            </a:r>
            <a:br>
              <a:rPr lang="en-US" sz="3750" dirty="0"/>
            </a:br>
            <a:br>
              <a:rPr lang="en-US" sz="3750" dirty="0"/>
            </a:b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912" name="Google Shape;912;p46"/>
          <p:cNvSpPr/>
          <p:nvPr/>
        </p:nvSpPr>
        <p:spPr>
          <a:xfrm>
            <a:off x="466858" y="2489292"/>
            <a:ext cx="18705981" cy="654261"/>
          </a:xfrm>
          <a:prstGeom prst="rect">
            <a:avLst/>
          </a:prstGeom>
          <a:noFill/>
          <a:ln w="6350">
            <a:noFill/>
            <a:prstDash val="sysDash"/>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800" b="1" dirty="0">
                <a:solidFill>
                  <a:schemeClr val="accent1">
                    <a:lumMod val="50000"/>
                  </a:schemeClr>
                </a:solidFill>
                <a:latin typeface="+mj-lt"/>
              </a:rPr>
              <a:t>The Bank will expand cyber defense capabilities to find a problem when it does occur</a:t>
            </a:r>
          </a:p>
        </p:txBody>
      </p:sp>
      <p:grpSp>
        <p:nvGrpSpPr>
          <p:cNvPr id="72" name="Google Shape;2795;p183">
            <a:extLst>
              <a:ext uri="{FF2B5EF4-FFF2-40B4-BE49-F238E27FC236}">
                <a16:creationId xmlns:a16="http://schemas.microsoft.com/office/drawing/2014/main" id="{B2A4965D-4870-44DA-9ED1-DD9DA9C3EA9F}"/>
              </a:ext>
            </a:extLst>
          </p:cNvPr>
          <p:cNvGrpSpPr/>
          <p:nvPr/>
        </p:nvGrpSpPr>
        <p:grpSpPr>
          <a:xfrm>
            <a:off x="987843" y="3240192"/>
            <a:ext cx="18465193" cy="1828800"/>
            <a:chOff x="528183" y="2404385"/>
            <a:chExt cx="7159360" cy="809073"/>
          </a:xfrm>
        </p:grpSpPr>
        <p:sp>
          <p:nvSpPr>
            <p:cNvPr id="73" name="Google Shape;2796;p183">
              <a:extLst>
                <a:ext uri="{FF2B5EF4-FFF2-40B4-BE49-F238E27FC236}">
                  <a16:creationId xmlns:a16="http://schemas.microsoft.com/office/drawing/2014/main" id="{9F07649F-38B1-4C5E-B139-2EEB1B2B54BB}"/>
                </a:ext>
              </a:extLst>
            </p:cNvPr>
            <p:cNvSpPr/>
            <p:nvPr/>
          </p:nvSpPr>
          <p:spPr>
            <a:xfrm>
              <a:off x="528638" y="2404673"/>
              <a:ext cx="7158900" cy="320100"/>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OBJECTIVES</a:t>
              </a:r>
            </a:p>
          </p:txBody>
        </p:sp>
        <p:sp>
          <p:nvSpPr>
            <p:cNvPr id="74" name="Google Shape;2797;p183">
              <a:extLst>
                <a:ext uri="{FF2B5EF4-FFF2-40B4-BE49-F238E27FC236}">
                  <a16:creationId xmlns:a16="http://schemas.microsoft.com/office/drawing/2014/main" id="{654E65AF-B7FE-416D-A0ED-8FF41EBE20AE}"/>
                </a:ext>
              </a:extLst>
            </p:cNvPr>
            <p:cNvSpPr/>
            <p:nvPr/>
          </p:nvSpPr>
          <p:spPr>
            <a:xfrm>
              <a:off x="528643" y="2734058"/>
              <a:ext cx="7158900" cy="479400"/>
            </a:xfrm>
            <a:prstGeom prst="rect">
              <a:avLst/>
            </a:prstGeom>
            <a:noFill/>
            <a:ln>
              <a:noFill/>
            </a:ln>
          </p:spPr>
          <p:txBody>
            <a:bodyPr spcFirstLastPara="1" wrap="square" lIns="0" tIns="45700" rIns="91425" bIns="45700" anchor="t" anchorCtr="0">
              <a:noAutofit/>
            </a:bodyPr>
            <a:lstStyle/>
            <a:p>
              <a:pPr marL="342900" indent="-342900">
                <a:spcBef>
                  <a:spcPts val="600"/>
                </a:spcBef>
                <a:spcAft>
                  <a:spcPts val="600"/>
                </a:spcAft>
                <a:buClr>
                  <a:schemeClr val="accent6">
                    <a:lumMod val="75000"/>
                  </a:schemeClr>
                </a:buClr>
                <a:buFont typeface="Wingdings" panose="05000000000000000000" pitchFamily="2" charset="2"/>
                <a:buChar char="§"/>
              </a:pPr>
              <a:r>
                <a:rPr lang="en-US" sz="1800" dirty="0"/>
                <a:t>Cyber / Security attacks are rapidly detected and appropriately managed</a:t>
              </a:r>
            </a:p>
            <a:p>
              <a:pPr marL="342900" indent="-342900">
                <a:spcBef>
                  <a:spcPts val="600"/>
                </a:spcBef>
                <a:spcAft>
                  <a:spcPts val="600"/>
                </a:spcAft>
                <a:buClr>
                  <a:schemeClr val="accent6">
                    <a:lumMod val="75000"/>
                  </a:schemeClr>
                </a:buClr>
                <a:buFont typeface="Wingdings" panose="05000000000000000000" pitchFamily="2" charset="2"/>
                <a:buChar char="§"/>
              </a:pPr>
              <a:r>
                <a:rPr lang="en-US" sz="1800" dirty="0"/>
                <a:t>Security configurations are consistently applied and monitored</a:t>
              </a:r>
            </a:p>
            <a:p>
              <a:pPr marL="342900" indent="-342900">
                <a:spcBef>
                  <a:spcPts val="600"/>
                </a:spcBef>
                <a:spcAft>
                  <a:spcPts val="600"/>
                </a:spcAft>
                <a:buClr>
                  <a:schemeClr val="accent6">
                    <a:lumMod val="75000"/>
                  </a:schemeClr>
                </a:buClr>
                <a:buFont typeface="Wingdings" panose="05000000000000000000" pitchFamily="2" charset="2"/>
                <a:buChar char="§"/>
              </a:pPr>
              <a:r>
                <a:rPr lang="en-US" sz="1800" dirty="0"/>
                <a:t>Timely Threat Intelligence supports effective Cyber / Information Security Incident Management  </a:t>
              </a:r>
            </a:p>
            <a:p>
              <a:pPr marL="342900" indent="-342900">
                <a:spcBef>
                  <a:spcPts val="600"/>
                </a:spcBef>
                <a:spcAft>
                  <a:spcPts val="600"/>
                </a:spcAft>
                <a:buClr>
                  <a:schemeClr val="accent6">
                    <a:lumMod val="75000"/>
                  </a:schemeClr>
                </a:buClr>
                <a:buFont typeface="Wingdings" panose="05000000000000000000" pitchFamily="2" charset="2"/>
                <a:buChar char="§"/>
              </a:pPr>
              <a:r>
                <a:rPr lang="en-US" sz="1800" dirty="0"/>
                <a:t>Cyber / Information Security services are updated and security is built in system design</a:t>
              </a:r>
            </a:p>
            <a:p>
              <a:pPr marL="342900" indent="-342900">
                <a:spcBef>
                  <a:spcPts val="600"/>
                </a:spcBef>
                <a:spcAft>
                  <a:spcPts val="600"/>
                </a:spcAft>
                <a:buClr>
                  <a:schemeClr val="accent6">
                    <a:lumMod val="75000"/>
                  </a:schemeClr>
                </a:buClr>
                <a:buFont typeface="Wingdings" panose="05000000000000000000" pitchFamily="2" charset="2"/>
                <a:buChar char="§"/>
              </a:pPr>
              <a:r>
                <a:rPr lang="en-US" sz="1800" dirty="0"/>
                <a:t>Workforce planning for cyber resources to meet future cyber security skills and talent needs</a:t>
              </a:r>
            </a:p>
            <a:p>
              <a:pPr marL="342900" marR="0" lvl="0" indent="-342900" algn="l" rtl="0">
                <a:buClr>
                  <a:schemeClr val="accent6">
                    <a:lumMod val="75000"/>
                  </a:schemeClr>
                </a:buClr>
                <a:buFont typeface="Wingdings" panose="05000000000000000000" pitchFamily="2" charset="2"/>
                <a:buChar char="§"/>
              </a:pPr>
              <a:endParaRPr lang="en-US" sz="1800" dirty="0"/>
            </a:p>
          </p:txBody>
        </p:sp>
        <p:sp>
          <p:nvSpPr>
            <p:cNvPr id="75" name="Google Shape;2798;p183">
              <a:extLst>
                <a:ext uri="{FF2B5EF4-FFF2-40B4-BE49-F238E27FC236}">
                  <a16:creationId xmlns:a16="http://schemas.microsoft.com/office/drawing/2014/main" id="{A7F1727A-A01B-4B64-9833-09AEEA5428BF}"/>
                </a:ext>
              </a:extLst>
            </p:cNvPr>
            <p:cNvSpPr/>
            <p:nvPr/>
          </p:nvSpPr>
          <p:spPr>
            <a:xfrm>
              <a:off x="528183" y="2404385"/>
              <a:ext cx="558525" cy="320100"/>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2799;p183">
              <a:extLst>
                <a:ext uri="{FF2B5EF4-FFF2-40B4-BE49-F238E27FC236}">
                  <a16:creationId xmlns:a16="http://schemas.microsoft.com/office/drawing/2014/main" id="{59E6391A-2A8D-447E-9DA1-B54ABE49A156}"/>
                </a:ext>
              </a:extLst>
            </p:cNvPr>
            <p:cNvSpPr/>
            <p:nvPr/>
          </p:nvSpPr>
          <p:spPr>
            <a:xfrm>
              <a:off x="627824" y="2443734"/>
              <a:ext cx="234997" cy="234990"/>
            </a:xfrm>
            <a:custGeom>
              <a:avLst/>
              <a:gdLst/>
              <a:ahLst/>
              <a:cxnLst/>
              <a:rect l="l" t="t" r="r" b="b"/>
              <a:pathLst>
                <a:path w="5191" h="5190" extrusionOk="0">
                  <a:moveTo>
                    <a:pt x="2595" y="0"/>
                  </a:moveTo>
                  <a:cubicBezTo>
                    <a:pt x="1168" y="0"/>
                    <a:pt x="0" y="1168"/>
                    <a:pt x="0" y="2595"/>
                  </a:cubicBezTo>
                  <a:cubicBezTo>
                    <a:pt x="0" y="4022"/>
                    <a:pt x="1168" y="5190"/>
                    <a:pt x="2595" y="5190"/>
                  </a:cubicBezTo>
                  <a:cubicBezTo>
                    <a:pt x="4023" y="5190"/>
                    <a:pt x="5191" y="4022"/>
                    <a:pt x="5191" y="2595"/>
                  </a:cubicBezTo>
                  <a:cubicBezTo>
                    <a:pt x="5191" y="1168"/>
                    <a:pt x="4023" y="0"/>
                    <a:pt x="2595" y="0"/>
                  </a:cubicBezTo>
                  <a:close/>
                  <a:moveTo>
                    <a:pt x="4386" y="1561"/>
                  </a:moveTo>
                  <a:cubicBezTo>
                    <a:pt x="3652" y="1561"/>
                    <a:pt x="3652" y="1561"/>
                    <a:pt x="3652" y="1561"/>
                  </a:cubicBezTo>
                  <a:cubicBezTo>
                    <a:pt x="3648" y="1541"/>
                    <a:pt x="3643" y="1527"/>
                    <a:pt x="3639" y="1510"/>
                  </a:cubicBezTo>
                  <a:cubicBezTo>
                    <a:pt x="3557" y="1222"/>
                    <a:pt x="3444" y="931"/>
                    <a:pt x="3303" y="646"/>
                  </a:cubicBezTo>
                  <a:cubicBezTo>
                    <a:pt x="3301" y="642"/>
                    <a:pt x="3299" y="640"/>
                    <a:pt x="3297" y="636"/>
                  </a:cubicBezTo>
                  <a:cubicBezTo>
                    <a:pt x="3753" y="819"/>
                    <a:pt x="4157" y="1125"/>
                    <a:pt x="4386" y="1561"/>
                  </a:cubicBezTo>
                  <a:close/>
                  <a:moveTo>
                    <a:pt x="1988" y="3117"/>
                  </a:moveTo>
                  <a:cubicBezTo>
                    <a:pt x="1961" y="2945"/>
                    <a:pt x="1947" y="2779"/>
                    <a:pt x="1947" y="2615"/>
                  </a:cubicBezTo>
                  <a:cubicBezTo>
                    <a:pt x="1947" y="2440"/>
                    <a:pt x="1963" y="2261"/>
                    <a:pt x="1994" y="2077"/>
                  </a:cubicBezTo>
                  <a:cubicBezTo>
                    <a:pt x="3204" y="2077"/>
                    <a:pt x="3204" y="2077"/>
                    <a:pt x="3204" y="2077"/>
                  </a:cubicBezTo>
                  <a:cubicBezTo>
                    <a:pt x="3232" y="2249"/>
                    <a:pt x="3246" y="2420"/>
                    <a:pt x="3246" y="2586"/>
                  </a:cubicBezTo>
                  <a:cubicBezTo>
                    <a:pt x="3246" y="2759"/>
                    <a:pt x="3231" y="2937"/>
                    <a:pt x="3201" y="3117"/>
                  </a:cubicBezTo>
                  <a:lnTo>
                    <a:pt x="1988" y="3117"/>
                  </a:lnTo>
                  <a:close/>
                  <a:moveTo>
                    <a:pt x="2821" y="910"/>
                  </a:moveTo>
                  <a:cubicBezTo>
                    <a:pt x="2927" y="1125"/>
                    <a:pt x="3014" y="1341"/>
                    <a:pt x="3081" y="1561"/>
                  </a:cubicBezTo>
                  <a:cubicBezTo>
                    <a:pt x="2121" y="1561"/>
                    <a:pt x="2121" y="1561"/>
                    <a:pt x="2121" y="1561"/>
                  </a:cubicBezTo>
                  <a:cubicBezTo>
                    <a:pt x="2187" y="1353"/>
                    <a:pt x="2272" y="1145"/>
                    <a:pt x="2373" y="940"/>
                  </a:cubicBezTo>
                  <a:cubicBezTo>
                    <a:pt x="2452" y="780"/>
                    <a:pt x="2532" y="640"/>
                    <a:pt x="2601" y="528"/>
                  </a:cubicBezTo>
                  <a:cubicBezTo>
                    <a:pt x="2622" y="560"/>
                    <a:pt x="2645" y="593"/>
                    <a:pt x="2668" y="625"/>
                  </a:cubicBezTo>
                  <a:cubicBezTo>
                    <a:pt x="2717" y="709"/>
                    <a:pt x="2769" y="805"/>
                    <a:pt x="2821" y="910"/>
                  </a:cubicBezTo>
                  <a:close/>
                  <a:moveTo>
                    <a:pt x="2373" y="4291"/>
                  </a:moveTo>
                  <a:cubicBezTo>
                    <a:pt x="2266" y="4074"/>
                    <a:pt x="2178" y="3853"/>
                    <a:pt x="2110" y="3637"/>
                  </a:cubicBezTo>
                  <a:cubicBezTo>
                    <a:pt x="3074" y="3637"/>
                    <a:pt x="3074" y="3637"/>
                    <a:pt x="3074" y="3637"/>
                  </a:cubicBezTo>
                  <a:cubicBezTo>
                    <a:pt x="3008" y="3845"/>
                    <a:pt x="2923" y="4053"/>
                    <a:pt x="2821" y="4261"/>
                  </a:cubicBezTo>
                  <a:cubicBezTo>
                    <a:pt x="2742" y="4421"/>
                    <a:pt x="2663" y="4559"/>
                    <a:pt x="2594" y="4670"/>
                  </a:cubicBezTo>
                  <a:cubicBezTo>
                    <a:pt x="2566" y="4628"/>
                    <a:pt x="2537" y="4587"/>
                    <a:pt x="2508" y="4544"/>
                  </a:cubicBezTo>
                  <a:cubicBezTo>
                    <a:pt x="2464" y="4467"/>
                    <a:pt x="2418" y="4383"/>
                    <a:pt x="2373" y="4291"/>
                  </a:cubicBezTo>
                  <a:close/>
                  <a:moveTo>
                    <a:pt x="1916" y="626"/>
                  </a:moveTo>
                  <a:cubicBezTo>
                    <a:pt x="1908" y="643"/>
                    <a:pt x="1899" y="659"/>
                    <a:pt x="1891" y="676"/>
                  </a:cubicBezTo>
                  <a:cubicBezTo>
                    <a:pt x="1749" y="961"/>
                    <a:pt x="1636" y="1253"/>
                    <a:pt x="1555" y="1541"/>
                  </a:cubicBezTo>
                  <a:cubicBezTo>
                    <a:pt x="1553" y="1547"/>
                    <a:pt x="1552" y="1553"/>
                    <a:pt x="1550" y="1561"/>
                  </a:cubicBezTo>
                  <a:cubicBezTo>
                    <a:pt x="805" y="1561"/>
                    <a:pt x="805" y="1561"/>
                    <a:pt x="805" y="1561"/>
                  </a:cubicBezTo>
                  <a:cubicBezTo>
                    <a:pt x="1063" y="1121"/>
                    <a:pt x="1451" y="808"/>
                    <a:pt x="1916" y="626"/>
                  </a:cubicBezTo>
                  <a:close/>
                  <a:moveTo>
                    <a:pt x="597" y="3117"/>
                  </a:moveTo>
                  <a:cubicBezTo>
                    <a:pt x="545" y="2961"/>
                    <a:pt x="519" y="2779"/>
                    <a:pt x="519" y="2597"/>
                  </a:cubicBezTo>
                  <a:cubicBezTo>
                    <a:pt x="519" y="2415"/>
                    <a:pt x="545" y="2233"/>
                    <a:pt x="597" y="2077"/>
                  </a:cubicBezTo>
                  <a:cubicBezTo>
                    <a:pt x="1440" y="2077"/>
                    <a:pt x="1440" y="2077"/>
                    <a:pt x="1440" y="2077"/>
                  </a:cubicBezTo>
                  <a:cubicBezTo>
                    <a:pt x="1414" y="2261"/>
                    <a:pt x="1400" y="2439"/>
                    <a:pt x="1400" y="2616"/>
                  </a:cubicBezTo>
                  <a:cubicBezTo>
                    <a:pt x="1400" y="2780"/>
                    <a:pt x="1412" y="2949"/>
                    <a:pt x="1435" y="3117"/>
                  </a:cubicBezTo>
                  <a:lnTo>
                    <a:pt x="597" y="3117"/>
                  </a:lnTo>
                  <a:close/>
                  <a:moveTo>
                    <a:pt x="805" y="3637"/>
                  </a:moveTo>
                  <a:cubicBezTo>
                    <a:pt x="1540" y="3637"/>
                    <a:pt x="1540" y="3637"/>
                    <a:pt x="1540" y="3637"/>
                  </a:cubicBezTo>
                  <a:cubicBezTo>
                    <a:pt x="1545" y="3653"/>
                    <a:pt x="1550" y="3672"/>
                    <a:pt x="1555" y="3691"/>
                  </a:cubicBezTo>
                  <a:cubicBezTo>
                    <a:pt x="1636" y="3979"/>
                    <a:pt x="1749" y="4268"/>
                    <a:pt x="1891" y="4554"/>
                  </a:cubicBezTo>
                  <a:cubicBezTo>
                    <a:pt x="1892" y="4555"/>
                    <a:pt x="1892" y="4557"/>
                    <a:pt x="1893" y="4559"/>
                  </a:cubicBezTo>
                  <a:cubicBezTo>
                    <a:pt x="1437" y="4376"/>
                    <a:pt x="1034" y="4069"/>
                    <a:pt x="805" y="3637"/>
                  </a:cubicBezTo>
                  <a:close/>
                  <a:moveTo>
                    <a:pt x="3283" y="4564"/>
                  </a:moveTo>
                  <a:cubicBezTo>
                    <a:pt x="3289" y="4551"/>
                    <a:pt x="3296" y="4537"/>
                    <a:pt x="3303" y="4523"/>
                  </a:cubicBezTo>
                  <a:cubicBezTo>
                    <a:pt x="3444" y="4238"/>
                    <a:pt x="3557" y="3950"/>
                    <a:pt x="3639" y="3661"/>
                  </a:cubicBezTo>
                  <a:cubicBezTo>
                    <a:pt x="3641" y="3653"/>
                    <a:pt x="3643" y="3645"/>
                    <a:pt x="3646" y="3637"/>
                  </a:cubicBezTo>
                  <a:cubicBezTo>
                    <a:pt x="4386" y="3637"/>
                    <a:pt x="4386" y="3637"/>
                    <a:pt x="4386" y="3637"/>
                  </a:cubicBezTo>
                  <a:cubicBezTo>
                    <a:pt x="4155" y="4073"/>
                    <a:pt x="3745" y="4382"/>
                    <a:pt x="3283" y="4564"/>
                  </a:cubicBezTo>
                  <a:close/>
                  <a:moveTo>
                    <a:pt x="3755" y="3117"/>
                  </a:moveTo>
                  <a:cubicBezTo>
                    <a:pt x="3780" y="2937"/>
                    <a:pt x="3793" y="2760"/>
                    <a:pt x="3793" y="2586"/>
                  </a:cubicBezTo>
                  <a:cubicBezTo>
                    <a:pt x="3793" y="2419"/>
                    <a:pt x="3781" y="2249"/>
                    <a:pt x="3758" y="2077"/>
                  </a:cubicBezTo>
                  <a:cubicBezTo>
                    <a:pt x="4620" y="2077"/>
                    <a:pt x="4620" y="2077"/>
                    <a:pt x="4620" y="2077"/>
                  </a:cubicBezTo>
                  <a:cubicBezTo>
                    <a:pt x="4672" y="2233"/>
                    <a:pt x="4698" y="2415"/>
                    <a:pt x="4698" y="2597"/>
                  </a:cubicBezTo>
                  <a:cubicBezTo>
                    <a:pt x="4698" y="2779"/>
                    <a:pt x="4672" y="2961"/>
                    <a:pt x="4620" y="3117"/>
                  </a:cubicBezTo>
                  <a:lnTo>
                    <a:pt x="3755" y="311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2" name="Google Shape;2815;p183">
            <a:extLst>
              <a:ext uri="{FF2B5EF4-FFF2-40B4-BE49-F238E27FC236}">
                <a16:creationId xmlns:a16="http://schemas.microsoft.com/office/drawing/2014/main" id="{3072879F-3225-4995-9278-A41E009E05FE}"/>
              </a:ext>
            </a:extLst>
          </p:cNvPr>
          <p:cNvSpPr/>
          <p:nvPr/>
        </p:nvSpPr>
        <p:spPr>
          <a:xfrm>
            <a:off x="1255008" y="6645132"/>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 name="Google Shape;2796;p183">
            <a:extLst>
              <a:ext uri="{FF2B5EF4-FFF2-40B4-BE49-F238E27FC236}">
                <a16:creationId xmlns:a16="http://schemas.microsoft.com/office/drawing/2014/main" id="{D8068C15-D68D-48E1-9C29-9B70128325E6}"/>
              </a:ext>
            </a:extLst>
          </p:cNvPr>
          <p:cNvSpPr/>
          <p:nvPr/>
        </p:nvSpPr>
        <p:spPr>
          <a:xfrm>
            <a:off x="940703" y="6255966"/>
            <a:ext cx="8711206" cy="723543"/>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STRATEGIC ACTIONS (2022-2025)</a:t>
            </a:r>
          </a:p>
        </p:txBody>
      </p:sp>
      <p:sp>
        <p:nvSpPr>
          <p:cNvPr id="37" name="Google Shape;2797;p183">
            <a:extLst>
              <a:ext uri="{FF2B5EF4-FFF2-40B4-BE49-F238E27FC236}">
                <a16:creationId xmlns:a16="http://schemas.microsoft.com/office/drawing/2014/main" id="{962CC054-AC39-44CD-A28B-9E44B47D4DC8}"/>
              </a:ext>
            </a:extLst>
          </p:cNvPr>
          <p:cNvSpPr/>
          <p:nvPr/>
        </p:nvSpPr>
        <p:spPr>
          <a:xfrm>
            <a:off x="887801" y="7064613"/>
            <a:ext cx="8831445" cy="1083619"/>
          </a:xfrm>
          <a:prstGeom prst="rect">
            <a:avLst/>
          </a:prstGeom>
          <a:noFill/>
          <a:ln>
            <a:noFill/>
          </a:ln>
        </p:spPr>
        <p:txBody>
          <a:bodyPr spcFirstLastPara="1" wrap="square" lIns="0" tIns="45700" rIns="91425" bIns="45700" anchor="t" anchorCtr="0">
            <a:noAutofit/>
          </a:bodyPr>
          <a:lstStyle/>
          <a:p>
            <a:pPr lvl="0"/>
            <a:endParaRPr lang="en-US" sz="1800" dirty="0">
              <a:latin typeface="Arial" panose="020B0604020202020204" pitchFamily="34" charset="0"/>
              <a:cs typeface="Arial" panose="020B0604020202020204" pitchFamily="34" charset="0"/>
            </a:endParaRPr>
          </a:p>
          <a:p>
            <a:pPr marL="285750" lvl="0" indent="-285750" algn="just">
              <a:spcBef>
                <a:spcPts val="400"/>
              </a:spcBef>
              <a:spcAft>
                <a:spcPts val="1200"/>
              </a:spcAft>
              <a:buFont typeface="Arial" panose="020B0604020202020204" pitchFamily="34" charset="0"/>
              <a:buChar char="•"/>
            </a:pPr>
            <a:r>
              <a:rPr lang="en-US" sz="1800" dirty="0"/>
              <a:t>Anomalous activity is detected and the potential impact of events is understood.</a:t>
            </a:r>
          </a:p>
          <a:p>
            <a:pPr lvl="0" algn="just">
              <a:spcBef>
                <a:spcPts val="400"/>
              </a:spcBef>
              <a:spcAft>
                <a:spcPts val="1200"/>
              </a:spcAft>
            </a:pPr>
            <a:endParaRPr lang="en-US" sz="1800" dirty="0"/>
          </a:p>
          <a:p>
            <a:pPr marL="285750" lvl="0" indent="-285750" algn="just">
              <a:spcBef>
                <a:spcPts val="400"/>
              </a:spcBef>
              <a:spcAft>
                <a:spcPts val="1200"/>
              </a:spcAft>
              <a:buFont typeface="Arial" panose="020B0604020202020204" pitchFamily="34" charset="0"/>
              <a:buChar char="•"/>
            </a:pPr>
            <a:r>
              <a:rPr lang="en-US" sz="1800" dirty="0"/>
              <a:t>The information system and assets are monitored to identify cybersecurity events and verify the effectiveness of protective measures.</a:t>
            </a:r>
          </a:p>
          <a:p>
            <a:pPr lvl="0" algn="just">
              <a:spcBef>
                <a:spcPts val="400"/>
              </a:spcBef>
              <a:spcAft>
                <a:spcPts val="1200"/>
              </a:spcAft>
            </a:pPr>
            <a:endParaRPr lang="en-US" sz="1800" dirty="0"/>
          </a:p>
          <a:p>
            <a:pPr marL="285750" lvl="0" indent="-285750" algn="just">
              <a:spcBef>
                <a:spcPts val="400"/>
              </a:spcBef>
              <a:spcAft>
                <a:spcPts val="1200"/>
              </a:spcAft>
              <a:buFont typeface="Arial" panose="020B0604020202020204" pitchFamily="34" charset="0"/>
              <a:buChar char="•"/>
            </a:pPr>
            <a:r>
              <a:rPr lang="en-US" sz="1800" dirty="0"/>
              <a:t>Detection processes are maintained and tested to ensure awareness of anomalous events.</a:t>
            </a:r>
            <a:endParaRPr lang="en-PK" sz="1800" dirty="0"/>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endParaRPr lang="en-PK" sz="1800" dirty="0">
              <a:latin typeface="Arial" panose="020B0604020202020204" pitchFamily="34" charset="0"/>
              <a:cs typeface="Arial" panose="020B0604020202020204" pitchFamily="34" charset="0"/>
            </a:endParaRPr>
          </a:p>
          <a:p>
            <a:pPr marL="342900" marR="0" lvl="0" indent="-342900" algn="l" rtl="0">
              <a:spcBef>
                <a:spcPts val="400"/>
              </a:spcBef>
              <a:spcAft>
                <a:spcPts val="400"/>
              </a:spcAft>
              <a:buFont typeface="Wingdings" panose="05000000000000000000" pitchFamily="2" charset="2"/>
              <a:buChar char="§"/>
            </a:pPr>
            <a:endParaRPr lang="en-US" sz="1800" dirty="0"/>
          </a:p>
        </p:txBody>
      </p:sp>
      <p:sp>
        <p:nvSpPr>
          <p:cNvPr id="38" name="Google Shape;2798;p183">
            <a:extLst>
              <a:ext uri="{FF2B5EF4-FFF2-40B4-BE49-F238E27FC236}">
                <a16:creationId xmlns:a16="http://schemas.microsoft.com/office/drawing/2014/main" id="{D53B4343-D83E-4A19-8F49-55B0C69F11EB}"/>
              </a:ext>
            </a:extLst>
          </p:cNvPr>
          <p:cNvSpPr/>
          <p:nvPr/>
        </p:nvSpPr>
        <p:spPr>
          <a:xfrm>
            <a:off x="987843" y="6242475"/>
            <a:ext cx="1362493" cy="73023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2815;p183">
            <a:extLst>
              <a:ext uri="{FF2B5EF4-FFF2-40B4-BE49-F238E27FC236}">
                <a16:creationId xmlns:a16="http://schemas.microsoft.com/office/drawing/2014/main" id="{FF991544-F1BD-4583-9B74-B2348FD4EFD0}"/>
              </a:ext>
            </a:extLst>
          </p:cNvPr>
          <p:cNvSpPr/>
          <p:nvPr/>
        </p:nvSpPr>
        <p:spPr>
          <a:xfrm>
            <a:off x="1159468" y="6293604"/>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 name="Google Shape;2796;p183">
            <a:extLst>
              <a:ext uri="{FF2B5EF4-FFF2-40B4-BE49-F238E27FC236}">
                <a16:creationId xmlns:a16="http://schemas.microsoft.com/office/drawing/2014/main" id="{6D099912-3AB1-49F1-B37C-E007B32B23D2}"/>
              </a:ext>
            </a:extLst>
          </p:cNvPr>
          <p:cNvSpPr/>
          <p:nvPr/>
        </p:nvSpPr>
        <p:spPr>
          <a:xfrm>
            <a:off x="10180424" y="6256282"/>
            <a:ext cx="4371773" cy="706378"/>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1800" b="1" i="0" u="none" strike="noStrike" cap="none" dirty="0">
                <a:solidFill>
                  <a:schemeClr val="tx1"/>
                </a:solidFill>
                <a:latin typeface="Arial"/>
                <a:ea typeface="Arial"/>
                <a:cs typeface="Arial"/>
                <a:sym typeface="Arial"/>
              </a:rPr>
              <a:t>Key Outputs Short to Medium Term</a:t>
            </a:r>
          </a:p>
        </p:txBody>
      </p:sp>
      <p:sp>
        <p:nvSpPr>
          <p:cNvPr id="45" name="Google Shape;2797;p183">
            <a:extLst>
              <a:ext uri="{FF2B5EF4-FFF2-40B4-BE49-F238E27FC236}">
                <a16:creationId xmlns:a16="http://schemas.microsoft.com/office/drawing/2014/main" id="{AF04AC96-561C-4611-B096-7F679212A17D}"/>
              </a:ext>
            </a:extLst>
          </p:cNvPr>
          <p:cNvSpPr/>
          <p:nvPr/>
        </p:nvSpPr>
        <p:spPr>
          <a:xfrm>
            <a:off x="10162071" y="7088496"/>
            <a:ext cx="4371774" cy="4067251"/>
          </a:xfrm>
          <a:prstGeom prst="rect">
            <a:avLst/>
          </a:prstGeom>
          <a:noFill/>
          <a:ln>
            <a:noFill/>
          </a:ln>
        </p:spPr>
        <p:txBody>
          <a:bodyPr spcFirstLastPara="1" wrap="square" lIns="0" tIns="45700" rIns="91425" bIns="45700" anchor="t" anchorCtr="0">
            <a:noAutofit/>
          </a:bodyPr>
          <a:lstStyle/>
          <a:p>
            <a:pPr marL="285750" lvl="0" indent="-285750">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Roll-out of EDR on Data Center Servers Stack. </a:t>
            </a:r>
          </a:p>
          <a:p>
            <a:pPr marL="285750" lvl="0" indent="-285750">
              <a:spcBef>
                <a:spcPts val="400"/>
              </a:spcBef>
              <a:spcAft>
                <a:spcPts val="4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lvl="0" indent="-285750">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Enrichment of Network Security detection platform. (NDR)</a:t>
            </a:r>
          </a:p>
          <a:p>
            <a:pPr lvl="0">
              <a:spcBef>
                <a:spcPts val="400"/>
              </a:spcBef>
              <a:spcAft>
                <a:spcPts val="400"/>
              </a:spcAft>
            </a:pPr>
            <a:endParaRPr lang="en-US" sz="1600" dirty="0">
              <a:latin typeface="Arial" panose="020B0604020202020204" pitchFamily="34" charset="0"/>
              <a:cs typeface="Arial" panose="020B0604020202020204" pitchFamily="34" charset="0"/>
            </a:endParaRPr>
          </a:p>
          <a:p>
            <a:pPr marL="285750" lvl="0" indent="-285750">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Integration of Privileged Access Management solution with SOC. </a:t>
            </a:r>
          </a:p>
          <a:p>
            <a:pPr marL="285750" indent="-285750">
              <a:spcBef>
                <a:spcPts val="400"/>
              </a:spcBef>
              <a:spcAft>
                <a:spcPts val="4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Devise Breach and Attack Simulations. </a:t>
            </a:r>
          </a:p>
          <a:p>
            <a:pPr lvl="0">
              <a:spcBef>
                <a:spcPts val="400"/>
              </a:spcBef>
              <a:spcAft>
                <a:spcPts val="400"/>
              </a:spcAft>
            </a:pPr>
            <a:endParaRPr lang="en-PK" sz="1600" dirty="0">
              <a:latin typeface="Arial" panose="020B0604020202020204" pitchFamily="34" charset="0"/>
              <a:cs typeface="Arial" panose="020B0604020202020204" pitchFamily="34" charset="0"/>
            </a:endParaRPr>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endParaRPr lang="en-PK" sz="1800" dirty="0">
              <a:latin typeface="Arial" panose="020B0604020202020204" pitchFamily="34" charset="0"/>
              <a:cs typeface="Arial" panose="020B0604020202020204" pitchFamily="34" charset="0"/>
            </a:endParaRPr>
          </a:p>
          <a:p>
            <a:pPr marL="342900" marR="0" lvl="0" indent="-342900" algn="l" rtl="0">
              <a:spcBef>
                <a:spcPts val="400"/>
              </a:spcBef>
              <a:spcAft>
                <a:spcPts val="400"/>
              </a:spcAft>
              <a:buFont typeface="Wingdings" panose="05000000000000000000" pitchFamily="2" charset="2"/>
              <a:buChar char="§"/>
            </a:pPr>
            <a:endParaRPr lang="en-US" sz="1800" dirty="0"/>
          </a:p>
        </p:txBody>
      </p:sp>
      <p:sp>
        <p:nvSpPr>
          <p:cNvPr id="46" name="Google Shape;2798;p183">
            <a:extLst>
              <a:ext uri="{FF2B5EF4-FFF2-40B4-BE49-F238E27FC236}">
                <a16:creationId xmlns:a16="http://schemas.microsoft.com/office/drawing/2014/main" id="{3B6A0732-1EB4-4256-B06C-D869727D30C5}"/>
              </a:ext>
            </a:extLst>
          </p:cNvPr>
          <p:cNvSpPr/>
          <p:nvPr/>
        </p:nvSpPr>
        <p:spPr>
          <a:xfrm>
            <a:off x="10201654" y="6272954"/>
            <a:ext cx="1242248" cy="68970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2815;p183">
            <a:extLst>
              <a:ext uri="{FF2B5EF4-FFF2-40B4-BE49-F238E27FC236}">
                <a16:creationId xmlns:a16="http://schemas.microsoft.com/office/drawing/2014/main" id="{5478071F-37E1-4B31-9478-BD994F98EB6E}"/>
              </a:ext>
            </a:extLst>
          </p:cNvPr>
          <p:cNvSpPr/>
          <p:nvPr/>
        </p:nvSpPr>
        <p:spPr>
          <a:xfrm>
            <a:off x="10434439" y="6343417"/>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8" name="Google Shape;2796;p183">
            <a:extLst>
              <a:ext uri="{FF2B5EF4-FFF2-40B4-BE49-F238E27FC236}">
                <a16:creationId xmlns:a16="http://schemas.microsoft.com/office/drawing/2014/main" id="{366DE647-621D-4828-8958-4B9ADF77D517}"/>
              </a:ext>
            </a:extLst>
          </p:cNvPr>
          <p:cNvSpPr/>
          <p:nvPr/>
        </p:nvSpPr>
        <p:spPr>
          <a:xfrm>
            <a:off x="15080712" y="6282220"/>
            <a:ext cx="4371773" cy="706378"/>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1800" b="1" i="0" u="none" strike="noStrike" cap="none" dirty="0">
                <a:solidFill>
                  <a:schemeClr val="tx1"/>
                </a:solidFill>
                <a:latin typeface="Arial"/>
                <a:ea typeface="Arial"/>
                <a:cs typeface="Arial"/>
                <a:sym typeface="Arial"/>
              </a:rPr>
              <a:t>Key Outputs Medium to Long term</a:t>
            </a:r>
          </a:p>
        </p:txBody>
      </p:sp>
      <p:sp>
        <p:nvSpPr>
          <p:cNvPr id="49" name="Google Shape;2797;p183">
            <a:extLst>
              <a:ext uri="{FF2B5EF4-FFF2-40B4-BE49-F238E27FC236}">
                <a16:creationId xmlns:a16="http://schemas.microsoft.com/office/drawing/2014/main" id="{DBBB5BB8-AAB6-49A8-A1EA-90D213D7AC7A}"/>
              </a:ext>
            </a:extLst>
          </p:cNvPr>
          <p:cNvSpPr/>
          <p:nvPr/>
        </p:nvSpPr>
        <p:spPr>
          <a:xfrm>
            <a:off x="15080712" y="6963955"/>
            <a:ext cx="4371753" cy="1083619"/>
          </a:xfrm>
          <a:prstGeom prst="rect">
            <a:avLst/>
          </a:prstGeom>
          <a:noFill/>
          <a:ln>
            <a:noFill/>
          </a:ln>
        </p:spPr>
        <p:txBody>
          <a:bodyPr spcFirstLastPara="1" wrap="square" lIns="0" tIns="45700" rIns="91425" bIns="45700" anchor="t" anchorCtr="0">
            <a:noAutofit/>
          </a:bodyPr>
          <a:lstStyle/>
          <a:p>
            <a:pPr marL="285750" lvl="0" indent="-285750">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Critical applications integration with SOC. </a:t>
            </a:r>
          </a:p>
          <a:p>
            <a:pPr marL="285750" lvl="0" indent="-285750">
              <a:spcBef>
                <a:spcPts val="400"/>
              </a:spcBef>
              <a:spcAft>
                <a:spcPts val="4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lvl="0" indent="-285750">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Roll-out of EDR and EPP on branch endpoints (Linux). </a:t>
            </a:r>
          </a:p>
          <a:p>
            <a:pPr marL="285750" lvl="0" indent="-285750">
              <a:spcBef>
                <a:spcPts val="400"/>
              </a:spcBef>
              <a:spcAft>
                <a:spcPts val="4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Enhancement of monitoring and detection capabilities</a:t>
            </a:r>
          </a:p>
          <a:p>
            <a:pPr marL="285750" indent="-285750">
              <a:spcBef>
                <a:spcPts val="400"/>
              </a:spcBef>
              <a:spcAft>
                <a:spcPts val="4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spcBef>
                <a:spcPts val="400"/>
              </a:spcBef>
              <a:spcAft>
                <a:spcPts val="400"/>
              </a:spcAft>
              <a:buFont typeface="Arial" panose="020B0604020202020204" pitchFamily="34" charset="0"/>
              <a:buChar char="•"/>
            </a:pPr>
            <a:r>
              <a:rPr lang="en-US" sz="1600" dirty="0">
                <a:latin typeface="Arial" panose="020B0604020202020204" pitchFamily="34" charset="0"/>
                <a:cs typeface="Arial" panose="020B0604020202020204" pitchFamily="34" charset="0"/>
              </a:rPr>
              <a:t>Deployment of Source Code Review platforms (SAST, DAST)</a:t>
            </a:r>
          </a:p>
          <a:p>
            <a:pPr>
              <a:spcBef>
                <a:spcPts val="400"/>
              </a:spcBef>
              <a:spcAft>
                <a:spcPts val="400"/>
              </a:spcAft>
            </a:pPr>
            <a:r>
              <a:rPr lang="en-US" sz="1600" dirty="0">
                <a:latin typeface="Arial" panose="020B0604020202020204" pitchFamily="34" charset="0"/>
                <a:cs typeface="Arial" panose="020B0604020202020204" pitchFamily="34" charset="0"/>
              </a:rPr>
              <a:t> </a:t>
            </a:r>
          </a:p>
          <a:p>
            <a:pPr>
              <a:spcBef>
                <a:spcPts val="400"/>
              </a:spcBef>
              <a:spcAft>
                <a:spcPts val="400"/>
              </a:spcAft>
            </a:pPr>
            <a:endParaRPr lang="en-US" sz="1800" dirty="0"/>
          </a:p>
        </p:txBody>
      </p:sp>
      <p:sp>
        <p:nvSpPr>
          <p:cNvPr id="50" name="Google Shape;2798;p183">
            <a:extLst>
              <a:ext uri="{FF2B5EF4-FFF2-40B4-BE49-F238E27FC236}">
                <a16:creationId xmlns:a16="http://schemas.microsoft.com/office/drawing/2014/main" id="{02AED21B-599D-4B0D-8BA5-424E0E3F34D4}"/>
              </a:ext>
            </a:extLst>
          </p:cNvPr>
          <p:cNvSpPr/>
          <p:nvPr/>
        </p:nvSpPr>
        <p:spPr>
          <a:xfrm>
            <a:off x="15131425" y="6298892"/>
            <a:ext cx="1242248" cy="68970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2815;p183">
            <a:extLst>
              <a:ext uri="{FF2B5EF4-FFF2-40B4-BE49-F238E27FC236}">
                <a16:creationId xmlns:a16="http://schemas.microsoft.com/office/drawing/2014/main" id="{B915365E-998E-41D8-9DF6-9C779B6692BF}"/>
              </a:ext>
            </a:extLst>
          </p:cNvPr>
          <p:cNvSpPr/>
          <p:nvPr/>
        </p:nvSpPr>
        <p:spPr>
          <a:xfrm>
            <a:off x="15206141" y="6384937"/>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62201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360431" y="2427763"/>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effectLst>
                  <a:outerShdw blurRad="38100" dist="38100" dir="2700000" algn="tl">
                    <a:srgbClr val="000000">
                      <a:alpha val="43137"/>
                    </a:srgbClr>
                  </a:outerShdw>
                </a:effectLst>
              </a:rPr>
              <a:t>Objective 4 &amp; 5 : Respond and Recover</a:t>
            </a:r>
            <a:br>
              <a:rPr lang="en-US" sz="3750" dirty="0"/>
            </a:br>
            <a:r>
              <a:rPr lang="en-US" sz="2400" b="1" i="1" dirty="0">
                <a:solidFill>
                  <a:schemeClr val="accent6">
                    <a:lumMod val="75000"/>
                  </a:schemeClr>
                </a:solidFill>
                <a:effectLst>
                  <a:outerShdw blurRad="38100" dist="38100" dir="2700000" algn="tl">
                    <a:srgbClr val="000000">
                      <a:alpha val="43137"/>
                    </a:srgbClr>
                  </a:outerShdw>
                </a:effectLst>
              </a:rPr>
              <a:t>“Enhance measures to limit the impact of a potential cyber security incident and build resilience to recover from a cyber event ”</a:t>
            </a:r>
            <a:br>
              <a:rPr lang="en-US" sz="3750" dirty="0"/>
            </a:br>
            <a:br>
              <a:rPr lang="en-US" sz="3750" dirty="0"/>
            </a:b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912" name="Google Shape;912;p46"/>
          <p:cNvSpPr/>
          <p:nvPr/>
        </p:nvSpPr>
        <p:spPr>
          <a:xfrm>
            <a:off x="487912" y="2533359"/>
            <a:ext cx="18705981" cy="654261"/>
          </a:xfrm>
          <a:prstGeom prst="rect">
            <a:avLst/>
          </a:prstGeom>
          <a:noFill/>
          <a:ln w="6350">
            <a:noFill/>
            <a:prstDash val="sysDash"/>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800" b="1" dirty="0">
                <a:solidFill>
                  <a:schemeClr val="accent1">
                    <a:lumMod val="50000"/>
                  </a:schemeClr>
                </a:solidFill>
                <a:latin typeface="+mj-lt"/>
              </a:rPr>
              <a:t>The Bank will ensure it has what it needs to respond and recover effectively when an incident occurs</a:t>
            </a:r>
          </a:p>
        </p:txBody>
      </p:sp>
      <p:grpSp>
        <p:nvGrpSpPr>
          <p:cNvPr id="72" name="Google Shape;2795;p183">
            <a:extLst>
              <a:ext uri="{FF2B5EF4-FFF2-40B4-BE49-F238E27FC236}">
                <a16:creationId xmlns:a16="http://schemas.microsoft.com/office/drawing/2014/main" id="{B2A4965D-4870-44DA-9ED1-DD9DA9C3EA9F}"/>
              </a:ext>
            </a:extLst>
          </p:cNvPr>
          <p:cNvGrpSpPr/>
          <p:nvPr/>
        </p:nvGrpSpPr>
        <p:grpSpPr>
          <a:xfrm>
            <a:off x="910207" y="3114245"/>
            <a:ext cx="18479084" cy="1444859"/>
            <a:chOff x="528183" y="2423396"/>
            <a:chExt cx="7164746" cy="639215"/>
          </a:xfrm>
        </p:grpSpPr>
        <p:sp>
          <p:nvSpPr>
            <p:cNvPr id="73" name="Google Shape;2796;p183">
              <a:extLst>
                <a:ext uri="{FF2B5EF4-FFF2-40B4-BE49-F238E27FC236}">
                  <a16:creationId xmlns:a16="http://schemas.microsoft.com/office/drawing/2014/main" id="{9F07649F-38B1-4C5E-B139-2EEB1B2B54BB}"/>
                </a:ext>
              </a:extLst>
            </p:cNvPr>
            <p:cNvSpPr/>
            <p:nvPr/>
          </p:nvSpPr>
          <p:spPr>
            <a:xfrm>
              <a:off x="534029" y="2443734"/>
              <a:ext cx="7158900" cy="320100"/>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OBJECTIVES</a:t>
              </a:r>
            </a:p>
          </p:txBody>
        </p:sp>
        <p:sp>
          <p:nvSpPr>
            <p:cNvPr id="74" name="Google Shape;2797;p183">
              <a:extLst>
                <a:ext uri="{FF2B5EF4-FFF2-40B4-BE49-F238E27FC236}">
                  <a16:creationId xmlns:a16="http://schemas.microsoft.com/office/drawing/2014/main" id="{654E65AF-B7FE-416D-A0ED-8FF41EBE20AE}"/>
                </a:ext>
              </a:extLst>
            </p:cNvPr>
            <p:cNvSpPr/>
            <p:nvPr/>
          </p:nvSpPr>
          <p:spPr>
            <a:xfrm>
              <a:off x="531106" y="2583211"/>
              <a:ext cx="7158900" cy="479400"/>
            </a:xfrm>
            <a:prstGeom prst="rect">
              <a:avLst/>
            </a:prstGeom>
            <a:noFill/>
            <a:ln>
              <a:noFill/>
            </a:ln>
          </p:spPr>
          <p:txBody>
            <a:bodyPr spcFirstLastPara="1" wrap="square" lIns="0" tIns="45700" rIns="91425" bIns="45700" anchor="t" anchorCtr="0">
              <a:noAutofit/>
            </a:bodyPr>
            <a:lstStyle/>
            <a:p>
              <a:pPr marR="0" lvl="0" algn="l" rtl="0">
                <a:spcBef>
                  <a:spcPts val="600"/>
                </a:spcBef>
                <a:spcAft>
                  <a:spcPts val="600"/>
                </a:spcAft>
                <a:buClr>
                  <a:schemeClr val="accent6">
                    <a:lumMod val="75000"/>
                  </a:schemeClr>
                </a:buClr>
              </a:pPr>
              <a:endParaRPr lang="en-US" sz="2000" dirty="0"/>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000" dirty="0"/>
                <a:t>Incident response actions are consistently handled 24 x 7 and automated when appropriate</a:t>
              </a:r>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000" dirty="0"/>
                <a:t>Response activities are effectively coordinated with internal and external stakeholders</a:t>
              </a:r>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000" dirty="0"/>
                <a:t>Response to and Recovery from a Cyber / Security attack is exercised and plans are continuously improved</a:t>
              </a:r>
            </a:p>
            <a:p>
              <a:pPr marL="342900" marR="0" lvl="0" indent="-342900" algn="l" rtl="0">
                <a:spcBef>
                  <a:spcPts val="600"/>
                </a:spcBef>
                <a:spcAft>
                  <a:spcPts val="600"/>
                </a:spcAft>
                <a:buClr>
                  <a:schemeClr val="accent6">
                    <a:lumMod val="75000"/>
                  </a:schemeClr>
                </a:buClr>
                <a:buFont typeface="Wingdings" panose="05000000000000000000" pitchFamily="2" charset="2"/>
                <a:buChar char="§"/>
              </a:pPr>
              <a:r>
                <a:rPr lang="en-US" sz="2000" dirty="0"/>
                <a:t>Recovery from Cyber Incidents occurs within an appropriate timeframe including proper communication with both external and internal parties</a:t>
              </a:r>
              <a:endParaRPr lang="en-US" sz="1800" dirty="0"/>
            </a:p>
            <a:p>
              <a:pPr marL="342900" marR="0" lvl="0" indent="-342900" algn="l" rtl="0">
                <a:spcBef>
                  <a:spcPts val="600"/>
                </a:spcBef>
                <a:spcAft>
                  <a:spcPts val="600"/>
                </a:spcAft>
                <a:buClr>
                  <a:schemeClr val="accent6">
                    <a:lumMod val="75000"/>
                  </a:schemeClr>
                </a:buClr>
                <a:buFont typeface="Wingdings" panose="05000000000000000000" pitchFamily="2" charset="2"/>
                <a:buChar char="§"/>
              </a:pPr>
              <a:endParaRPr lang="en-US" sz="2000" dirty="0"/>
            </a:p>
            <a:p>
              <a:pPr marL="342900" marR="0" lvl="0" indent="-342900" algn="l" rtl="0">
                <a:spcBef>
                  <a:spcPts val="600"/>
                </a:spcBef>
                <a:spcAft>
                  <a:spcPts val="600"/>
                </a:spcAft>
                <a:buClr>
                  <a:schemeClr val="accent6">
                    <a:lumMod val="75000"/>
                  </a:schemeClr>
                </a:buClr>
                <a:buFont typeface="Wingdings" panose="05000000000000000000" pitchFamily="2" charset="2"/>
                <a:buChar char="§"/>
              </a:pPr>
              <a:endParaRPr lang="en-US" sz="2000" dirty="0"/>
            </a:p>
            <a:p>
              <a:pPr marL="285750" marR="0" lvl="0" indent="-285750" algn="l" rtl="0">
                <a:spcBef>
                  <a:spcPts val="0"/>
                </a:spcBef>
                <a:spcAft>
                  <a:spcPts val="0"/>
                </a:spcAft>
                <a:buFont typeface="Arial" panose="020B0604020202020204" pitchFamily="34" charset="0"/>
                <a:buChar char="•"/>
              </a:pPr>
              <a:endParaRPr lang="en-US" sz="1800" dirty="0"/>
            </a:p>
          </p:txBody>
        </p:sp>
        <p:sp>
          <p:nvSpPr>
            <p:cNvPr id="75" name="Google Shape;2798;p183">
              <a:extLst>
                <a:ext uri="{FF2B5EF4-FFF2-40B4-BE49-F238E27FC236}">
                  <a16:creationId xmlns:a16="http://schemas.microsoft.com/office/drawing/2014/main" id="{A7F1727A-A01B-4B64-9833-09AEEA5428BF}"/>
                </a:ext>
              </a:extLst>
            </p:cNvPr>
            <p:cNvSpPr/>
            <p:nvPr/>
          </p:nvSpPr>
          <p:spPr>
            <a:xfrm>
              <a:off x="528183" y="2423396"/>
              <a:ext cx="558525" cy="320100"/>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2799;p183">
              <a:extLst>
                <a:ext uri="{FF2B5EF4-FFF2-40B4-BE49-F238E27FC236}">
                  <a16:creationId xmlns:a16="http://schemas.microsoft.com/office/drawing/2014/main" id="{59E6391A-2A8D-447E-9DA1-B54ABE49A156}"/>
                </a:ext>
              </a:extLst>
            </p:cNvPr>
            <p:cNvSpPr/>
            <p:nvPr/>
          </p:nvSpPr>
          <p:spPr>
            <a:xfrm>
              <a:off x="629484" y="2462417"/>
              <a:ext cx="234997" cy="234990"/>
            </a:xfrm>
            <a:custGeom>
              <a:avLst/>
              <a:gdLst/>
              <a:ahLst/>
              <a:cxnLst/>
              <a:rect l="l" t="t" r="r" b="b"/>
              <a:pathLst>
                <a:path w="5191" h="5190" extrusionOk="0">
                  <a:moveTo>
                    <a:pt x="2595" y="0"/>
                  </a:moveTo>
                  <a:cubicBezTo>
                    <a:pt x="1168" y="0"/>
                    <a:pt x="0" y="1168"/>
                    <a:pt x="0" y="2595"/>
                  </a:cubicBezTo>
                  <a:cubicBezTo>
                    <a:pt x="0" y="4022"/>
                    <a:pt x="1168" y="5190"/>
                    <a:pt x="2595" y="5190"/>
                  </a:cubicBezTo>
                  <a:cubicBezTo>
                    <a:pt x="4023" y="5190"/>
                    <a:pt x="5191" y="4022"/>
                    <a:pt x="5191" y="2595"/>
                  </a:cubicBezTo>
                  <a:cubicBezTo>
                    <a:pt x="5191" y="1168"/>
                    <a:pt x="4023" y="0"/>
                    <a:pt x="2595" y="0"/>
                  </a:cubicBezTo>
                  <a:close/>
                  <a:moveTo>
                    <a:pt x="4386" y="1561"/>
                  </a:moveTo>
                  <a:cubicBezTo>
                    <a:pt x="3652" y="1561"/>
                    <a:pt x="3652" y="1561"/>
                    <a:pt x="3652" y="1561"/>
                  </a:cubicBezTo>
                  <a:cubicBezTo>
                    <a:pt x="3648" y="1541"/>
                    <a:pt x="3643" y="1527"/>
                    <a:pt x="3639" y="1510"/>
                  </a:cubicBezTo>
                  <a:cubicBezTo>
                    <a:pt x="3557" y="1222"/>
                    <a:pt x="3444" y="931"/>
                    <a:pt x="3303" y="646"/>
                  </a:cubicBezTo>
                  <a:cubicBezTo>
                    <a:pt x="3301" y="642"/>
                    <a:pt x="3299" y="640"/>
                    <a:pt x="3297" y="636"/>
                  </a:cubicBezTo>
                  <a:cubicBezTo>
                    <a:pt x="3753" y="819"/>
                    <a:pt x="4157" y="1125"/>
                    <a:pt x="4386" y="1561"/>
                  </a:cubicBezTo>
                  <a:close/>
                  <a:moveTo>
                    <a:pt x="1988" y="3117"/>
                  </a:moveTo>
                  <a:cubicBezTo>
                    <a:pt x="1961" y="2945"/>
                    <a:pt x="1947" y="2779"/>
                    <a:pt x="1947" y="2615"/>
                  </a:cubicBezTo>
                  <a:cubicBezTo>
                    <a:pt x="1947" y="2440"/>
                    <a:pt x="1963" y="2261"/>
                    <a:pt x="1994" y="2077"/>
                  </a:cubicBezTo>
                  <a:cubicBezTo>
                    <a:pt x="3204" y="2077"/>
                    <a:pt x="3204" y="2077"/>
                    <a:pt x="3204" y="2077"/>
                  </a:cubicBezTo>
                  <a:cubicBezTo>
                    <a:pt x="3232" y="2249"/>
                    <a:pt x="3246" y="2420"/>
                    <a:pt x="3246" y="2586"/>
                  </a:cubicBezTo>
                  <a:cubicBezTo>
                    <a:pt x="3246" y="2759"/>
                    <a:pt x="3231" y="2937"/>
                    <a:pt x="3201" y="3117"/>
                  </a:cubicBezTo>
                  <a:lnTo>
                    <a:pt x="1988" y="3117"/>
                  </a:lnTo>
                  <a:close/>
                  <a:moveTo>
                    <a:pt x="2821" y="910"/>
                  </a:moveTo>
                  <a:cubicBezTo>
                    <a:pt x="2927" y="1125"/>
                    <a:pt x="3014" y="1341"/>
                    <a:pt x="3081" y="1561"/>
                  </a:cubicBezTo>
                  <a:cubicBezTo>
                    <a:pt x="2121" y="1561"/>
                    <a:pt x="2121" y="1561"/>
                    <a:pt x="2121" y="1561"/>
                  </a:cubicBezTo>
                  <a:cubicBezTo>
                    <a:pt x="2187" y="1353"/>
                    <a:pt x="2272" y="1145"/>
                    <a:pt x="2373" y="940"/>
                  </a:cubicBezTo>
                  <a:cubicBezTo>
                    <a:pt x="2452" y="780"/>
                    <a:pt x="2532" y="640"/>
                    <a:pt x="2601" y="528"/>
                  </a:cubicBezTo>
                  <a:cubicBezTo>
                    <a:pt x="2622" y="560"/>
                    <a:pt x="2645" y="593"/>
                    <a:pt x="2668" y="625"/>
                  </a:cubicBezTo>
                  <a:cubicBezTo>
                    <a:pt x="2717" y="709"/>
                    <a:pt x="2769" y="805"/>
                    <a:pt x="2821" y="910"/>
                  </a:cubicBezTo>
                  <a:close/>
                  <a:moveTo>
                    <a:pt x="2373" y="4291"/>
                  </a:moveTo>
                  <a:cubicBezTo>
                    <a:pt x="2266" y="4074"/>
                    <a:pt x="2178" y="3853"/>
                    <a:pt x="2110" y="3637"/>
                  </a:cubicBezTo>
                  <a:cubicBezTo>
                    <a:pt x="3074" y="3637"/>
                    <a:pt x="3074" y="3637"/>
                    <a:pt x="3074" y="3637"/>
                  </a:cubicBezTo>
                  <a:cubicBezTo>
                    <a:pt x="3008" y="3845"/>
                    <a:pt x="2923" y="4053"/>
                    <a:pt x="2821" y="4261"/>
                  </a:cubicBezTo>
                  <a:cubicBezTo>
                    <a:pt x="2742" y="4421"/>
                    <a:pt x="2663" y="4559"/>
                    <a:pt x="2594" y="4670"/>
                  </a:cubicBezTo>
                  <a:cubicBezTo>
                    <a:pt x="2566" y="4628"/>
                    <a:pt x="2537" y="4587"/>
                    <a:pt x="2508" y="4544"/>
                  </a:cubicBezTo>
                  <a:cubicBezTo>
                    <a:pt x="2464" y="4467"/>
                    <a:pt x="2418" y="4383"/>
                    <a:pt x="2373" y="4291"/>
                  </a:cubicBezTo>
                  <a:close/>
                  <a:moveTo>
                    <a:pt x="1916" y="626"/>
                  </a:moveTo>
                  <a:cubicBezTo>
                    <a:pt x="1908" y="643"/>
                    <a:pt x="1899" y="659"/>
                    <a:pt x="1891" y="676"/>
                  </a:cubicBezTo>
                  <a:cubicBezTo>
                    <a:pt x="1749" y="961"/>
                    <a:pt x="1636" y="1253"/>
                    <a:pt x="1555" y="1541"/>
                  </a:cubicBezTo>
                  <a:cubicBezTo>
                    <a:pt x="1553" y="1547"/>
                    <a:pt x="1552" y="1553"/>
                    <a:pt x="1550" y="1561"/>
                  </a:cubicBezTo>
                  <a:cubicBezTo>
                    <a:pt x="805" y="1561"/>
                    <a:pt x="805" y="1561"/>
                    <a:pt x="805" y="1561"/>
                  </a:cubicBezTo>
                  <a:cubicBezTo>
                    <a:pt x="1063" y="1121"/>
                    <a:pt x="1451" y="808"/>
                    <a:pt x="1916" y="626"/>
                  </a:cubicBezTo>
                  <a:close/>
                  <a:moveTo>
                    <a:pt x="597" y="3117"/>
                  </a:moveTo>
                  <a:cubicBezTo>
                    <a:pt x="545" y="2961"/>
                    <a:pt x="519" y="2779"/>
                    <a:pt x="519" y="2597"/>
                  </a:cubicBezTo>
                  <a:cubicBezTo>
                    <a:pt x="519" y="2415"/>
                    <a:pt x="545" y="2233"/>
                    <a:pt x="597" y="2077"/>
                  </a:cubicBezTo>
                  <a:cubicBezTo>
                    <a:pt x="1440" y="2077"/>
                    <a:pt x="1440" y="2077"/>
                    <a:pt x="1440" y="2077"/>
                  </a:cubicBezTo>
                  <a:cubicBezTo>
                    <a:pt x="1414" y="2261"/>
                    <a:pt x="1400" y="2439"/>
                    <a:pt x="1400" y="2616"/>
                  </a:cubicBezTo>
                  <a:cubicBezTo>
                    <a:pt x="1400" y="2780"/>
                    <a:pt x="1412" y="2949"/>
                    <a:pt x="1435" y="3117"/>
                  </a:cubicBezTo>
                  <a:lnTo>
                    <a:pt x="597" y="3117"/>
                  </a:lnTo>
                  <a:close/>
                  <a:moveTo>
                    <a:pt x="805" y="3637"/>
                  </a:moveTo>
                  <a:cubicBezTo>
                    <a:pt x="1540" y="3637"/>
                    <a:pt x="1540" y="3637"/>
                    <a:pt x="1540" y="3637"/>
                  </a:cubicBezTo>
                  <a:cubicBezTo>
                    <a:pt x="1545" y="3653"/>
                    <a:pt x="1550" y="3672"/>
                    <a:pt x="1555" y="3691"/>
                  </a:cubicBezTo>
                  <a:cubicBezTo>
                    <a:pt x="1636" y="3979"/>
                    <a:pt x="1749" y="4268"/>
                    <a:pt x="1891" y="4554"/>
                  </a:cubicBezTo>
                  <a:cubicBezTo>
                    <a:pt x="1892" y="4555"/>
                    <a:pt x="1892" y="4557"/>
                    <a:pt x="1893" y="4559"/>
                  </a:cubicBezTo>
                  <a:cubicBezTo>
                    <a:pt x="1437" y="4376"/>
                    <a:pt x="1034" y="4069"/>
                    <a:pt x="805" y="3637"/>
                  </a:cubicBezTo>
                  <a:close/>
                  <a:moveTo>
                    <a:pt x="3283" y="4564"/>
                  </a:moveTo>
                  <a:cubicBezTo>
                    <a:pt x="3289" y="4551"/>
                    <a:pt x="3296" y="4537"/>
                    <a:pt x="3303" y="4523"/>
                  </a:cubicBezTo>
                  <a:cubicBezTo>
                    <a:pt x="3444" y="4238"/>
                    <a:pt x="3557" y="3950"/>
                    <a:pt x="3639" y="3661"/>
                  </a:cubicBezTo>
                  <a:cubicBezTo>
                    <a:pt x="3641" y="3653"/>
                    <a:pt x="3643" y="3645"/>
                    <a:pt x="3646" y="3637"/>
                  </a:cubicBezTo>
                  <a:cubicBezTo>
                    <a:pt x="4386" y="3637"/>
                    <a:pt x="4386" y="3637"/>
                    <a:pt x="4386" y="3637"/>
                  </a:cubicBezTo>
                  <a:cubicBezTo>
                    <a:pt x="4155" y="4073"/>
                    <a:pt x="3745" y="4382"/>
                    <a:pt x="3283" y="4564"/>
                  </a:cubicBezTo>
                  <a:close/>
                  <a:moveTo>
                    <a:pt x="3755" y="3117"/>
                  </a:moveTo>
                  <a:cubicBezTo>
                    <a:pt x="3780" y="2937"/>
                    <a:pt x="3793" y="2760"/>
                    <a:pt x="3793" y="2586"/>
                  </a:cubicBezTo>
                  <a:cubicBezTo>
                    <a:pt x="3793" y="2419"/>
                    <a:pt x="3781" y="2249"/>
                    <a:pt x="3758" y="2077"/>
                  </a:cubicBezTo>
                  <a:cubicBezTo>
                    <a:pt x="4620" y="2077"/>
                    <a:pt x="4620" y="2077"/>
                    <a:pt x="4620" y="2077"/>
                  </a:cubicBezTo>
                  <a:cubicBezTo>
                    <a:pt x="4672" y="2233"/>
                    <a:pt x="4698" y="2415"/>
                    <a:pt x="4698" y="2597"/>
                  </a:cubicBezTo>
                  <a:cubicBezTo>
                    <a:pt x="4698" y="2779"/>
                    <a:pt x="4672" y="2961"/>
                    <a:pt x="4620" y="3117"/>
                  </a:cubicBezTo>
                  <a:lnTo>
                    <a:pt x="3755" y="311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36" name="Google Shape;2796;p183">
            <a:extLst>
              <a:ext uri="{FF2B5EF4-FFF2-40B4-BE49-F238E27FC236}">
                <a16:creationId xmlns:a16="http://schemas.microsoft.com/office/drawing/2014/main" id="{A36CF66F-4008-4400-9628-5AB07E9857D3}"/>
              </a:ext>
            </a:extLst>
          </p:cNvPr>
          <p:cNvSpPr/>
          <p:nvPr/>
        </p:nvSpPr>
        <p:spPr>
          <a:xfrm>
            <a:off x="916561" y="6308251"/>
            <a:ext cx="8711206" cy="723543"/>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2400" b="1" i="0" u="none" strike="noStrike" cap="none" dirty="0">
                <a:solidFill>
                  <a:schemeClr val="tx1"/>
                </a:solidFill>
                <a:latin typeface="Arial"/>
                <a:ea typeface="Arial"/>
                <a:cs typeface="Arial"/>
                <a:sym typeface="Arial"/>
              </a:rPr>
              <a:t>STRATEGIC ACTIONS (2022-2025)</a:t>
            </a:r>
          </a:p>
        </p:txBody>
      </p:sp>
      <p:sp>
        <p:nvSpPr>
          <p:cNvPr id="37" name="Google Shape;2797;p183">
            <a:extLst>
              <a:ext uri="{FF2B5EF4-FFF2-40B4-BE49-F238E27FC236}">
                <a16:creationId xmlns:a16="http://schemas.microsoft.com/office/drawing/2014/main" id="{8DC1285B-B69D-46CD-8576-C38B2AFE74A8}"/>
              </a:ext>
            </a:extLst>
          </p:cNvPr>
          <p:cNvSpPr/>
          <p:nvPr/>
        </p:nvSpPr>
        <p:spPr>
          <a:xfrm>
            <a:off x="916568" y="7052778"/>
            <a:ext cx="8711200" cy="1083619"/>
          </a:xfrm>
          <a:prstGeom prst="rect">
            <a:avLst/>
          </a:prstGeom>
          <a:noFill/>
          <a:ln>
            <a:noFill/>
          </a:ln>
        </p:spPr>
        <p:txBody>
          <a:bodyPr spcFirstLastPara="1" wrap="square" lIns="0" tIns="45700" rIns="91425" bIns="45700" anchor="t" anchorCtr="0">
            <a:noAutofit/>
          </a:bodyPr>
          <a:lstStyle/>
          <a:p>
            <a:pPr marL="285750" indent="-285750" algn="just">
              <a:spcBef>
                <a:spcPts val="400"/>
              </a:spcBef>
              <a:spcAft>
                <a:spcPts val="1200"/>
              </a:spcAft>
              <a:buFont typeface="Arial" panose="020B0604020202020204" pitchFamily="34" charset="0"/>
              <a:buChar char="•"/>
            </a:pPr>
            <a:r>
              <a:rPr lang="en-US" sz="1800" dirty="0"/>
              <a:t>Enrichment of response strategies to ensure optimal and timely actions in-case of a cyber security incident.</a:t>
            </a:r>
          </a:p>
          <a:p>
            <a:pPr marL="285750" indent="-285750" algn="just">
              <a:spcBef>
                <a:spcPts val="400"/>
              </a:spcBef>
              <a:spcAft>
                <a:spcPts val="1200"/>
              </a:spcAft>
              <a:buFont typeface="Arial" panose="020B0604020202020204" pitchFamily="34" charset="0"/>
              <a:buChar char="•"/>
            </a:pPr>
            <a:r>
              <a:rPr lang="en-US" sz="1800" dirty="0"/>
              <a:t>Detailed analysis of external threat actors and industry benchmarks comparisons. </a:t>
            </a:r>
          </a:p>
          <a:p>
            <a:pPr marL="285750" indent="-285750" algn="just">
              <a:spcBef>
                <a:spcPts val="400"/>
              </a:spcBef>
              <a:spcAft>
                <a:spcPts val="1200"/>
              </a:spcAft>
              <a:buFont typeface="Arial" panose="020B0604020202020204" pitchFamily="34" charset="0"/>
              <a:buChar char="•"/>
            </a:pPr>
            <a:r>
              <a:rPr lang="en-US" sz="1800" dirty="0"/>
              <a:t>Recovery strategies are executed and maintained to ensure restoration of systems or assets affected by cybersecurity incidents.</a:t>
            </a:r>
          </a:p>
          <a:p>
            <a:pPr marL="285750" indent="-285750" algn="just">
              <a:spcBef>
                <a:spcPts val="400"/>
              </a:spcBef>
              <a:spcAft>
                <a:spcPts val="1200"/>
              </a:spcAft>
              <a:buFont typeface="Arial" panose="020B0604020202020204" pitchFamily="34" charset="0"/>
              <a:buChar char="•"/>
            </a:pPr>
            <a:r>
              <a:rPr lang="en-US" sz="1800" dirty="0"/>
              <a:t>Recovery planning and processes are improved by incorporating lessons learned into future activities.</a:t>
            </a:r>
          </a:p>
          <a:p>
            <a:pPr lvl="0"/>
            <a:endParaRPr lang="en-PK" sz="1800" dirty="0">
              <a:latin typeface="Arial" panose="020B0604020202020204" pitchFamily="34" charset="0"/>
              <a:cs typeface="Arial" panose="020B0604020202020204" pitchFamily="34" charset="0"/>
            </a:endParaRPr>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endParaRPr lang="en-PK" sz="1800" dirty="0">
              <a:latin typeface="Arial" panose="020B0604020202020204" pitchFamily="34" charset="0"/>
              <a:cs typeface="Arial" panose="020B0604020202020204" pitchFamily="34" charset="0"/>
            </a:endParaRPr>
          </a:p>
          <a:p>
            <a:pPr marL="342900" marR="0" lvl="0" indent="-342900" algn="l" rtl="0">
              <a:spcBef>
                <a:spcPts val="400"/>
              </a:spcBef>
              <a:spcAft>
                <a:spcPts val="400"/>
              </a:spcAft>
              <a:buFont typeface="Wingdings" panose="05000000000000000000" pitchFamily="2" charset="2"/>
              <a:buChar char="§"/>
            </a:pPr>
            <a:endParaRPr lang="en-US" sz="1800" dirty="0"/>
          </a:p>
        </p:txBody>
      </p:sp>
      <p:sp>
        <p:nvSpPr>
          <p:cNvPr id="38" name="Google Shape;2798;p183">
            <a:extLst>
              <a:ext uri="{FF2B5EF4-FFF2-40B4-BE49-F238E27FC236}">
                <a16:creationId xmlns:a16="http://schemas.microsoft.com/office/drawing/2014/main" id="{B84BB289-2613-47E4-85E6-E7426F46B5EE}"/>
              </a:ext>
            </a:extLst>
          </p:cNvPr>
          <p:cNvSpPr/>
          <p:nvPr/>
        </p:nvSpPr>
        <p:spPr>
          <a:xfrm>
            <a:off x="916006" y="6294101"/>
            <a:ext cx="1362493" cy="73023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2815;p183">
            <a:extLst>
              <a:ext uri="{FF2B5EF4-FFF2-40B4-BE49-F238E27FC236}">
                <a16:creationId xmlns:a16="http://schemas.microsoft.com/office/drawing/2014/main" id="{37B6092E-F227-4861-9326-9376B5A5F6DD}"/>
              </a:ext>
            </a:extLst>
          </p:cNvPr>
          <p:cNvSpPr/>
          <p:nvPr/>
        </p:nvSpPr>
        <p:spPr>
          <a:xfrm>
            <a:off x="1180265" y="6375829"/>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8" name="Google Shape;2796;p183">
            <a:extLst>
              <a:ext uri="{FF2B5EF4-FFF2-40B4-BE49-F238E27FC236}">
                <a16:creationId xmlns:a16="http://schemas.microsoft.com/office/drawing/2014/main" id="{3680FEB3-C86A-4EE6-9BD3-B384E821532F}"/>
              </a:ext>
            </a:extLst>
          </p:cNvPr>
          <p:cNvSpPr/>
          <p:nvPr/>
        </p:nvSpPr>
        <p:spPr>
          <a:xfrm>
            <a:off x="10121537" y="6330677"/>
            <a:ext cx="4371773" cy="706378"/>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1800" b="1" i="0" u="none" strike="noStrike" cap="none" dirty="0">
                <a:solidFill>
                  <a:schemeClr val="tx1"/>
                </a:solidFill>
                <a:latin typeface="Arial"/>
                <a:ea typeface="Arial"/>
                <a:cs typeface="Arial"/>
                <a:sym typeface="Arial"/>
              </a:rPr>
              <a:t>Key Outputs Short to Medium Term</a:t>
            </a:r>
          </a:p>
        </p:txBody>
      </p:sp>
      <p:sp>
        <p:nvSpPr>
          <p:cNvPr id="49" name="Google Shape;2797;p183">
            <a:extLst>
              <a:ext uri="{FF2B5EF4-FFF2-40B4-BE49-F238E27FC236}">
                <a16:creationId xmlns:a16="http://schemas.microsoft.com/office/drawing/2014/main" id="{54C517DF-49D4-4234-8910-9FE096D8F650}"/>
              </a:ext>
            </a:extLst>
          </p:cNvPr>
          <p:cNvSpPr/>
          <p:nvPr/>
        </p:nvSpPr>
        <p:spPr>
          <a:xfrm>
            <a:off x="10121544" y="7075203"/>
            <a:ext cx="4371766" cy="1083619"/>
          </a:xfrm>
          <a:prstGeom prst="rect">
            <a:avLst/>
          </a:prstGeom>
          <a:noFill/>
          <a:ln>
            <a:noFill/>
          </a:ln>
        </p:spPr>
        <p:txBody>
          <a:bodyPr spcFirstLastPara="1" wrap="square" lIns="0" tIns="45700" rIns="91425" bIns="45700" anchor="t" anchorCtr="0">
            <a:noAutofit/>
          </a:bodyPr>
          <a:lstStyle/>
          <a:p>
            <a:pPr marL="342900" indent="-342900">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Achieve triages of cyber security incident through EDR. </a:t>
            </a:r>
          </a:p>
          <a:p>
            <a:pPr marL="285750" lvl="0" indent="-285750">
              <a:spcBef>
                <a:spcPts val="400"/>
              </a:spcBef>
              <a:spcAft>
                <a:spcPts val="4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342900" lvl="0" indent="-342900">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Enhancement of analysis capabilities and enrichment  of Digital Risk Protection Platform and  centralized Threat Intel Platform. </a:t>
            </a:r>
          </a:p>
          <a:p>
            <a:pPr marL="342900" indent="-342900">
              <a:spcBef>
                <a:spcPts val="400"/>
              </a:spcBef>
              <a:spcAft>
                <a:spcPts val="400"/>
              </a:spcAft>
              <a:buFont typeface="Wingdings" panose="05000000000000000000" pitchFamily="2" charset="2"/>
              <a:buChar char="§"/>
            </a:pPr>
            <a:endParaRPr lang="en-US" sz="1600" dirty="0">
              <a:latin typeface="Arial" panose="020B0604020202020204" pitchFamily="34"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Update / Enhance Cyber incident management plan and practice</a:t>
            </a:r>
          </a:p>
          <a:p>
            <a:pPr marL="342900" marR="0" lvl="0" indent="-342900" algn="l" rtl="0">
              <a:spcBef>
                <a:spcPts val="400"/>
              </a:spcBef>
              <a:spcAft>
                <a:spcPts val="400"/>
              </a:spcAft>
              <a:buFont typeface="Wingdings" panose="05000000000000000000" pitchFamily="2" charset="2"/>
              <a:buChar char="§"/>
            </a:pPr>
            <a:endParaRPr lang="en-US" sz="1600" dirty="0">
              <a:highlight>
                <a:srgbClr val="C0C0C0"/>
              </a:highlight>
            </a:endParaRPr>
          </a:p>
          <a:p>
            <a:pPr marL="285750" lvl="0" indent="-285750">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lvl="0"/>
            <a:endParaRPr lang="en-PK" sz="1800" dirty="0">
              <a:latin typeface="Arial" panose="020B0604020202020204" pitchFamily="34" charset="0"/>
              <a:cs typeface="Arial" panose="020B0604020202020204" pitchFamily="34" charset="0"/>
            </a:endParaRPr>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endParaRPr lang="en-PK" sz="1800" dirty="0">
              <a:latin typeface="Arial" panose="020B0604020202020204" pitchFamily="34" charset="0"/>
              <a:cs typeface="Arial" panose="020B0604020202020204" pitchFamily="34" charset="0"/>
            </a:endParaRPr>
          </a:p>
          <a:p>
            <a:pPr marL="342900" marR="0" lvl="0" indent="-342900" algn="l" rtl="0">
              <a:spcBef>
                <a:spcPts val="400"/>
              </a:spcBef>
              <a:spcAft>
                <a:spcPts val="400"/>
              </a:spcAft>
              <a:buFont typeface="Wingdings" panose="05000000000000000000" pitchFamily="2" charset="2"/>
              <a:buChar char="§"/>
            </a:pPr>
            <a:endParaRPr lang="en-US" sz="1800" dirty="0"/>
          </a:p>
        </p:txBody>
      </p:sp>
      <p:sp>
        <p:nvSpPr>
          <p:cNvPr id="50" name="Google Shape;2798;p183">
            <a:extLst>
              <a:ext uri="{FF2B5EF4-FFF2-40B4-BE49-F238E27FC236}">
                <a16:creationId xmlns:a16="http://schemas.microsoft.com/office/drawing/2014/main" id="{415E28C1-1688-4777-B89D-E82A8C48C48B}"/>
              </a:ext>
            </a:extLst>
          </p:cNvPr>
          <p:cNvSpPr/>
          <p:nvPr/>
        </p:nvSpPr>
        <p:spPr>
          <a:xfrm>
            <a:off x="10120983" y="6332722"/>
            <a:ext cx="1242248" cy="68970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2815;p183">
            <a:extLst>
              <a:ext uri="{FF2B5EF4-FFF2-40B4-BE49-F238E27FC236}">
                <a16:creationId xmlns:a16="http://schemas.microsoft.com/office/drawing/2014/main" id="{9154735A-0D7F-4FBD-A31B-CBEE92BC019D}"/>
              </a:ext>
            </a:extLst>
          </p:cNvPr>
          <p:cNvSpPr/>
          <p:nvPr/>
        </p:nvSpPr>
        <p:spPr>
          <a:xfrm>
            <a:off x="10377655" y="6418127"/>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2" name="Google Shape;2796;p183">
            <a:extLst>
              <a:ext uri="{FF2B5EF4-FFF2-40B4-BE49-F238E27FC236}">
                <a16:creationId xmlns:a16="http://schemas.microsoft.com/office/drawing/2014/main" id="{A555EAB4-23D5-4E50-AA6C-01832368303B}"/>
              </a:ext>
            </a:extLst>
          </p:cNvPr>
          <p:cNvSpPr/>
          <p:nvPr/>
        </p:nvSpPr>
        <p:spPr>
          <a:xfrm>
            <a:off x="15009981" y="6313849"/>
            <a:ext cx="4371773" cy="706378"/>
          </a:xfrm>
          <a:prstGeom prst="rect">
            <a:avLst/>
          </a:prstGeom>
          <a:solidFill>
            <a:schemeClr val="bg1">
              <a:lumMod val="75000"/>
            </a:schemeClr>
          </a:solidFill>
          <a:ln>
            <a:noFill/>
          </a:ln>
        </p:spPr>
        <p:txBody>
          <a:bodyPr spcFirstLastPara="1" wrap="square" lIns="774000" tIns="45700" rIns="91425" bIns="45700" anchor="ctr" anchorCtr="0">
            <a:noAutofit/>
          </a:bodyPr>
          <a:lstStyle/>
          <a:p>
            <a:pPr marL="822960" marR="0" lvl="0" indent="0" algn="l" rtl="0">
              <a:lnSpc>
                <a:spcPct val="100000"/>
              </a:lnSpc>
              <a:spcBef>
                <a:spcPts val="0"/>
              </a:spcBef>
              <a:spcAft>
                <a:spcPts val="0"/>
              </a:spcAft>
              <a:buClr>
                <a:schemeClr val="dk1"/>
              </a:buClr>
              <a:buSzPts val="1100"/>
              <a:buFont typeface="Arial"/>
              <a:buNone/>
            </a:pPr>
            <a:r>
              <a:rPr lang="en-GB" sz="1800" b="1" i="0" u="none" strike="noStrike" cap="none" dirty="0">
                <a:solidFill>
                  <a:schemeClr val="tx1"/>
                </a:solidFill>
                <a:latin typeface="Arial"/>
                <a:ea typeface="Arial"/>
                <a:cs typeface="Arial"/>
                <a:sym typeface="Arial"/>
              </a:rPr>
              <a:t>Key Outputs Medium to Long term</a:t>
            </a:r>
          </a:p>
        </p:txBody>
      </p:sp>
      <p:sp>
        <p:nvSpPr>
          <p:cNvPr id="53" name="Google Shape;2797;p183">
            <a:extLst>
              <a:ext uri="{FF2B5EF4-FFF2-40B4-BE49-F238E27FC236}">
                <a16:creationId xmlns:a16="http://schemas.microsoft.com/office/drawing/2014/main" id="{7E201C3B-382B-45E6-98BE-BC65B89F4043}"/>
              </a:ext>
            </a:extLst>
          </p:cNvPr>
          <p:cNvSpPr/>
          <p:nvPr/>
        </p:nvSpPr>
        <p:spPr>
          <a:xfrm>
            <a:off x="15009987" y="7058375"/>
            <a:ext cx="4371765" cy="1083619"/>
          </a:xfrm>
          <a:prstGeom prst="rect">
            <a:avLst/>
          </a:prstGeom>
          <a:noFill/>
          <a:ln>
            <a:noFill/>
          </a:ln>
        </p:spPr>
        <p:txBody>
          <a:bodyPr spcFirstLastPara="1" wrap="square" lIns="0" tIns="45700" rIns="91425" bIns="45700" anchor="t" anchorCtr="0">
            <a:noAutofit/>
          </a:bodyPr>
          <a:lstStyle/>
          <a:p>
            <a:pPr marL="342900" indent="-342900">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Automation of response activities and actions. </a:t>
            </a:r>
          </a:p>
          <a:p>
            <a:pPr>
              <a:spcBef>
                <a:spcPts val="400"/>
              </a:spcBef>
              <a:spcAft>
                <a:spcPts val="400"/>
              </a:spcAft>
            </a:pPr>
            <a:endParaRPr lang="en-US" sz="1600" dirty="0">
              <a:latin typeface="Arial" panose="020B0604020202020204" pitchFamily="34"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r>
              <a:rPr lang="en-US" sz="1600" dirty="0">
                <a:latin typeface="Arial" panose="020B0604020202020204" pitchFamily="34" charset="0"/>
                <a:cs typeface="Arial" panose="020B0604020202020204" pitchFamily="34" charset="0"/>
              </a:rPr>
              <a:t>Integrations of controls with Security orchestration layer. </a:t>
            </a:r>
          </a:p>
          <a:p>
            <a:pPr lvl="0"/>
            <a:endParaRPr lang="en-US" sz="1800" dirty="0">
              <a:latin typeface="Arial" panose="020B0604020202020204" pitchFamily="34" charset="0"/>
              <a:cs typeface="Arial" panose="020B0604020202020204" pitchFamily="34" charset="0"/>
            </a:endParaRPr>
          </a:p>
          <a:p>
            <a:pPr lvl="0"/>
            <a:endParaRPr lang="en-US" sz="1800" dirty="0">
              <a:latin typeface="Arial" panose="020B0604020202020204" pitchFamily="34" charset="0"/>
              <a:cs typeface="Arial" panose="020B0604020202020204" pitchFamily="34" charset="0"/>
            </a:endParaRPr>
          </a:p>
          <a:p>
            <a:pPr lvl="0"/>
            <a:endParaRPr lang="en-PK" sz="1800" dirty="0">
              <a:latin typeface="Arial" panose="020B0604020202020204" pitchFamily="34" charset="0"/>
              <a:cs typeface="Arial" panose="020B0604020202020204" pitchFamily="34" charset="0"/>
            </a:endParaRPr>
          </a:p>
          <a:p>
            <a:pPr marL="1528788" defTabSz="1507846">
              <a:lnSpc>
                <a:spcPts val="3413"/>
              </a:lnSpc>
              <a:spcBef>
                <a:spcPts val="1583"/>
              </a:spcBef>
              <a:buClrTx/>
              <a:defRPr/>
            </a:pPr>
            <a:endParaRPr lang="en-PK" sz="1400" i="1" kern="1200" dirty="0">
              <a:solidFill>
                <a:srgbClr val="ED7D31"/>
              </a:solidFill>
              <a:latin typeface="Arial" panose="020B0604020202020204" pitchFamily="34" charset="0"/>
              <a:ea typeface="Times New Roman" panose="02020603050405020304" pitchFamily="18" charset="0"/>
              <a:cs typeface="Arial" panose="020B0604020202020204" pitchFamily="34" charset="0"/>
            </a:endParaRPr>
          </a:p>
          <a:p>
            <a:pPr marL="342900" indent="-342900">
              <a:spcBef>
                <a:spcPts val="400"/>
              </a:spcBef>
              <a:spcAft>
                <a:spcPts val="400"/>
              </a:spcAft>
              <a:buFont typeface="Wingdings" panose="05000000000000000000" pitchFamily="2" charset="2"/>
              <a:buChar char="§"/>
            </a:pPr>
            <a:endParaRPr lang="en-PK" sz="1800" dirty="0">
              <a:latin typeface="Arial" panose="020B0604020202020204" pitchFamily="34" charset="0"/>
              <a:cs typeface="Arial" panose="020B0604020202020204" pitchFamily="34" charset="0"/>
            </a:endParaRPr>
          </a:p>
          <a:p>
            <a:pPr marL="342900" marR="0" lvl="0" indent="-342900" algn="l" rtl="0">
              <a:spcBef>
                <a:spcPts val="400"/>
              </a:spcBef>
              <a:spcAft>
                <a:spcPts val="400"/>
              </a:spcAft>
              <a:buFont typeface="Wingdings" panose="05000000000000000000" pitchFamily="2" charset="2"/>
              <a:buChar char="§"/>
            </a:pPr>
            <a:endParaRPr lang="en-US" sz="1800" dirty="0"/>
          </a:p>
        </p:txBody>
      </p:sp>
      <p:sp>
        <p:nvSpPr>
          <p:cNvPr id="54" name="Google Shape;2798;p183">
            <a:extLst>
              <a:ext uri="{FF2B5EF4-FFF2-40B4-BE49-F238E27FC236}">
                <a16:creationId xmlns:a16="http://schemas.microsoft.com/office/drawing/2014/main" id="{75E30644-1B4D-4FF8-8038-BE687C3A0191}"/>
              </a:ext>
            </a:extLst>
          </p:cNvPr>
          <p:cNvSpPr/>
          <p:nvPr/>
        </p:nvSpPr>
        <p:spPr>
          <a:xfrm>
            <a:off x="15009427" y="6334182"/>
            <a:ext cx="1242248" cy="689706"/>
          </a:xfrm>
          <a:prstGeom prst="homePlate">
            <a:avLst>
              <a:gd name="adj" fmla="val 50000"/>
            </a:avLst>
          </a:prstGeom>
          <a:solidFill>
            <a:schemeClr val="accent6">
              <a:lumMod val="75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2815;p183">
            <a:extLst>
              <a:ext uri="{FF2B5EF4-FFF2-40B4-BE49-F238E27FC236}">
                <a16:creationId xmlns:a16="http://schemas.microsoft.com/office/drawing/2014/main" id="{1D66A891-BA59-47BC-8282-BCA9444A4D42}"/>
              </a:ext>
            </a:extLst>
          </p:cNvPr>
          <p:cNvSpPr/>
          <p:nvPr/>
        </p:nvSpPr>
        <p:spPr>
          <a:xfrm>
            <a:off x="15162676" y="6404327"/>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24446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360431" y="2427763"/>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effectLst>
                  <a:outerShdw blurRad="38100" dist="38100" dir="2700000" algn="tl">
                    <a:srgbClr val="000000">
                      <a:alpha val="43137"/>
                    </a:srgbClr>
                  </a:outerShdw>
                </a:effectLst>
              </a:rPr>
              <a:t>ABL LAYERED SECURITY POSTURE TO COMBAT CYBER THREATS</a:t>
            </a: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5" name="Google Shape;2815;p183">
            <a:extLst>
              <a:ext uri="{FF2B5EF4-FFF2-40B4-BE49-F238E27FC236}">
                <a16:creationId xmlns:a16="http://schemas.microsoft.com/office/drawing/2014/main" id="{1D66A891-BA59-47BC-8282-BCA9444A4D42}"/>
              </a:ext>
            </a:extLst>
          </p:cNvPr>
          <p:cNvSpPr/>
          <p:nvPr/>
        </p:nvSpPr>
        <p:spPr>
          <a:xfrm>
            <a:off x="15162676" y="6404327"/>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600" b="0" i="0" u="none" strike="noStrike" cap="none">
              <a:solidFill>
                <a:srgbClr val="000000"/>
              </a:solidFill>
              <a:latin typeface="Arial"/>
              <a:ea typeface="Arial"/>
              <a:cs typeface="Arial"/>
              <a:sym typeface="Arial"/>
            </a:endParaRPr>
          </a:p>
        </p:txBody>
      </p:sp>
      <p:pic>
        <p:nvPicPr>
          <p:cNvPr id="43" name="Picture 42">
            <a:extLst>
              <a:ext uri="{FF2B5EF4-FFF2-40B4-BE49-F238E27FC236}">
                <a16:creationId xmlns:a16="http://schemas.microsoft.com/office/drawing/2014/main" id="{74B4973E-FF63-4916-B447-228D5AC5384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73795" y="3460305"/>
            <a:ext cx="10710082" cy="4402012"/>
          </a:xfrm>
          <a:prstGeom prst="rect">
            <a:avLst/>
          </a:prstGeom>
          <a:effectLst>
            <a:innerShdw blurRad="63500" dist="50800" dir="16200000">
              <a:prstClr val="black">
                <a:alpha val="50000"/>
              </a:prstClr>
            </a:innerShdw>
          </a:effectLst>
        </p:spPr>
      </p:pic>
      <p:pic>
        <p:nvPicPr>
          <p:cNvPr id="44" name="Picture 43">
            <a:extLst>
              <a:ext uri="{FF2B5EF4-FFF2-40B4-BE49-F238E27FC236}">
                <a16:creationId xmlns:a16="http://schemas.microsoft.com/office/drawing/2014/main" id="{5587FC38-0CAC-41F4-AF2C-D348B719057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20516" y="4552066"/>
            <a:ext cx="9133088" cy="3569352"/>
          </a:xfrm>
          <a:prstGeom prst="rect">
            <a:avLst/>
          </a:prstGeom>
          <a:effectLst>
            <a:innerShdw blurRad="63500" dist="50800" dir="16200000">
              <a:prstClr val="black">
                <a:alpha val="50000"/>
              </a:prstClr>
            </a:innerShdw>
          </a:effectLst>
        </p:spPr>
      </p:pic>
      <p:pic>
        <p:nvPicPr>
          <p:cNvPr id="45" name="Picture 44">
            <a:extLst>
              <a:ext uri="{FF2B5EF4-FFF2-40B4-BE49-F238E27FC236}">
                <a16:creationId xmlns:a16="http://schemas.microsoft.com/office/drawing/2014/main" id="{BDEA0C84-D99D-488D-8E1F-548D6976E87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67031" y="5501643"/>
            <a:ext cx="7817966" cy="3321394"/>
          </a:xfrm>
          <a:prstGeom prst="rect">
            <a:avLst/>
          </a:prstGeom>
          <a:effectLst>
            <a:innerShdw blurRad="63500" dist="50800" dir="16200000">
              <a:prstClr val="black">
                <a:alpha val="50000"/>
              </a:prstClr>
            </a:innerShdw>
          </a:effectLst>
        </p:spPr>
      </p:pic>
      <p:pic>
        <p:nvPicPr>
          <p:cNvPr id="46" name="Picture 45">
            <a:extLst>
              <a:ext uri="{FF2B5EF4-FFF2-40B4-BE49-F238E27FC236}">
                <a16:creationId xmlns:a16="http://schemas.microsoft.com/office/drawing/2014/main" id="{8103AA52-09D8-4E1D-9F62-14480D4C354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22278" y="6504661"/>
            <a:ext cx="5970447" cy="2484570"/>
          </a:xfrm>
          <a:prstGeom prst="rect">
            <a:avLst/>
          </a:prstGeom>
          <a:effectLst>
            <a:innerShdw blurRad="63500" dist="50800" dir="16200000">
              <a:prstClr val="black">
                <a:alpha val="50000"/>
              </a:prstClr>
            </a:innerShdw>
          </a:effectLst>
        </p:spPr>
      </p:pic>
      <p:pic>
        <p:nvPicPr>
          <p:cNvPr id="47" name="Picture 46">
            <a:extLst>
              <a:ext uri="{FF2B5EF4-FFF2-40B4-BE49-F238E27FC236}">
                <a16:creationId xmlns:a16="http://schemas.microsoft.com/office/drawing/2014/main" id="{4063DD0D-FFF9-4C69-987D-64AD9A192D7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255811" y="7407024"/>
            <a:ext cx="4390744" cy="2410110"/>
          </a:xfrm>
          <a:prstGeom prst="rect">
            <a:avLst/>
          </a:prstGeom>
          <a:effectLst>
            <a:innerShdw blurRad="63500" dist="50800" dir="16200000">
              <a:prstClr val="black">
                <a:alpha val="50000"/>
              </a:prstClr>
            </a:innerShdw>
          </a:effectLst>
        </p:spPr>
      </p:pic>
      <p:pic>
        <p:nvPicPr>
          <p:cNvPr id="56" name="Picture 55">
            <a:extLst>
              <a:ext uri="{FF2B5EF4-FFF2-40B4-BE49-F238E27FC236}">
                <a16:creationId xmlns:a16="http://schemas.microsoft.com/office/drawing/2014/main" id="{CE73AAE7-CDC3-4DF7-8582-D6634C43946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853015" y="6975484"/>
            <a:ext cx="5803330" cy="3423311"/>
          </a:xfrm>
          <a:prstGeom prst="rect">
            <a:avLst/>
          </a:prstGeom>
          <a:effectLst>
            <a:innerShdw blurRad="63500" dist="50800" dir="16200000">
              <a:prstClr val="black">
                <a:alpha val="50000"/>
              </a:prstClr>
            </a:innerShdw>
          </a:effectLst>
        </p:spPr>
      </p:pic>
      <p:pic>
        <p:nvPicPr>
          <p:cNvPr id="57" name="Picture 56">
            <a:extLst>
              <a:ext uri="{FF2B5EF4-FFF2-40B4-BE49-F238E27FC236}">
                <a16:creationId xmlns:a16="http://schemas.microsoft.com/office/drawing/2014/main" id="{15666878-19A9-4A1D-A163-3833DC37D0A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0830" y="7012260"/>
            <a:ext cx="5687380" cy="3367156"/>
          </a:xfrm>
          <a:prstGeom prst="rect">
            <a:avLst/>
          </a:prstGeom>
          <a:effectLst>
            <a:innerShdw blurRad="63500" dist="50800" dir="16200000">
              <a:prstClr val="black">
                <a:alpha val="50000"/>
              </a:prstClr>
            </a:innerShdw>
          </a:effectLst>
        </p:spPr>
      </p:pic>
      <p:pic>
        <p:nvPicPr>
          <p:cNvPr id="58" name="Picture 57">
            <a:extLst>
              <a:ext uri="{FF2B5EF4-FFF2-40B4-BE49-F238E27FC236}">
                <a16:creationId xmlns:a16="http://schemas.microsoft.com/office/drawing/2014/main" id="{4161C159-90B7-4938-994E-29AE9E60B65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437975" y="8831600"/>
            <a:ext cx="2071632" cy="2071632"/>
          </a:xfrm>
          <a:prstGeom prst="rect">
            <a:avLst/>
          </a:prstGeom>
          <a:effectLst>
            <a:innerShdw blurRad="63500" dist="50800" dir="16200000">
              <a:prstClr val="black">
                <a:alpha val="50000"/>
              </a:prstClr>
            </a:innerShdw>
          </a:effectLst>
        </p:spPr>
      </p:pic>
      <p:sp>
        <p:nvSpPr>
          <p:cNvPr id="59" name="TextBox 58">
            <a:extLst>
              <a:ext uri="{FF2B5EF4-FFF2-40B4-BE49-F238E27FC236}">
                <a16:creationId xmlns:a16="http://schemas.microsoft.com/office/drawing/2014/main" id="{859A2643-0D0D-49CE-B599-89DE3E3FD74C}"/>
              </a:ext>
            </a:extLst>
          </p:cNvPr>
          <p:cNvSpPr txBox="1"/>
          <p:nvPr/>
        </p:nvSpPr>
        <p:spPr>
          <a:xfrm>
            <a:off x="8354543" y="9332650"/>
            <a:ext cx="2227659" cy="923330"/>
          </a:xfrm>
          <a:prstGeom prst="rect">
            <a:avLst/>
          </a:prstGeom>
          <a:noFill/>
        </p:spPr>
        <p:txBody>
          <a:bodyPr wrap="square" rtlCol="0">
            <a:spAutoFit/>
          </a:bodyPr>
          <a:lstStyle/>
          <a:p>
            <a:pPr algn="ctr"/>
            <a:r>
              <a:rPr lang="en-US" sz="1800" b="1" dirty="0"/>
              <a:t>IT Apps / Infra</a:t>
            </a:r>
          </a:p>
          <a:p>
            <a:pPr algn="ctr"/>
            <a:r>
              <a:rPr lang="en-US" sz="1800" b="1" dirty="0"/>
              <a:t>Information Assets</a:t>
            </a:r>
          </a:p>
        </p:txBody>
      </p:sp>
      <p:sp>
        <p:nvSpPr>
          <p:cNvPr id="60" name="TextBox 59">
            <a:extLst>
              <a:ext uri="{FF2B5EF4-FFF2-40B4-BE49-F238E27FC236}">
                <a16:creationId xmlns:a16="http://schemas.microsoft.com/office/drawing/2014/main" id="{0DA3E0EA-D87E-487E-80FD-FE797B4CEAD5}"/>
              </a:ext>
            </a:extLst>
          </p:cNvPr>
          <p:cNvSpPr txBox="1"/>
          <p:nvPr/>
        </p:nvSpPr>
        <p:spPr>
          <a:xfrm rot="19869164">
            <a:off x="12505179" y="7991750"/>
            <a:ext cx="1544861" cy="369332"/>
          </a:xfrm>
          <a:prstGeom prst="rect">
            <a:avLst/>
          </a:prstGeom>
          <a:noFill/>
        </p:spPr>
        <p:txBody>
          <a:bodyPr wrap="square" rtlCol="0">
            <a:spAutoFit/>
          </a:bodyPr>
          <a:lstStyle/>
          <a:p>
            <a:pPr algn="ctr"/>
            <a:r>
              <a:rPr lang="en-US" sz="1800" b="1" dirty="0"/>
              <a:t>Operations</a:t>
            </a:r>
          </a:p>
        </p:txBody>
      </p:sp>
      <p:sp>
        <p:nvSpPr>
          <p:cNvPr id="61" name="TextBox 60">
            <a:extLst>
              <a:ext uri="{FF2B5EF4-FFF2-40B4-BE49-F238E27FC236}">
                <a16:creationId xmlns:a16="http://schemas.microsoft.com/office/drawing/2014/main" id="{CDB1A91E-DD25-4F78-ABA7-BA91AD775445}"/>
              </a:ext>
            </a:extLst>
          </p:cNvPr>
          <p:cNvSpPr txBox="1"/>
          <p:nvPr/>
        </p:nvSpPr>
        <p:spPr>
          <a:xfrm rot="1827897">
            <a:off x="4812456" y="8166817"/>
            <a:ext cx="2328724" cy="369332"/>
          </a:xfrm>
          <a:prstGeom prst="rect">
            <a:avLst/>
          </a:prstGeom>
          <a:noFill/>
        </p:spPr>
        <p:txBody>
          <a:bodyPr wrap="square" rtlCol="0">
            <a:spAutoFit/>
          </a:bodyPr>
          <a:lstStyle/>
          <a:p>
            <a:pPr algn="ctr"/>
            <a:r>
              <a:rPr lang="en-US" sz="1800" b="1" dirty="0"/>
              <a:t>Policy Management</a:t>
            </a:r>
          </a:p>
        </p:txBody>
      </p:sp>
      <p:sp>
        <p:nvSpPr>
          <p:cNvPr id="62" name="TextBox 61">
            <a:extLst>
              <a:ext uri="{FF2B5EF4-FFF2-40B4-BE49-F238E27FC236}">
                <a16:creationId xmlns:a16="http://schemas.microsoft.com/office/drawing/2014/main" id="{E3DA8D94-04EC-4DAA-9C9C-D2C59CF78582}"/>
              </a:ext>
            </a:extLst>
          </p:cNvPr>
          <p:cNvSpPr txBox="1"/>
          <p:nvPr/>
        </p:nvSpPr>
        <p:spPr>
          <a:xfrm rot="17125954">
            <a:off x="3003924" y="8455907"/>
            <a:ext cx="1804764" cy="369332"/>
          </a:xfrm>
          <a:prstGeom prst="rect">
            <a:avLst/>
          </a:prstGeom>
          <a:noFill/>
        </p:spPr>
        <p:txBody>
          <a:bodyPr wrap="square" rtlCol="0">
            <a:spAutoFit/>
          </a:bodyPr>
          <a:lstStyle/>
          <a:p>
            <a:pPr algn="ctr"/>
            <a:r>
              <a:rPr lang="en-US" sz="1800" b="1" dirty="0"/>
              <a:t>PREVENTION</a:t>
            </a:r>
          </a:p>
        </p:txBody>
      </p:sp>
      <p:sp>
        <p:nvSpPr>
          <p:cNvPr id="63" name="TextBox 62">
            <a:extLst>
              <a:ext uri="{FF2B5EF4-FFF2-40B4-BE49-F238E27FC236}">
                <a16:creationId xmlns:a16="http://schemas.microsoft.com/office/drawing/2014/main" id="{1FB74B8B-1CD8-484C-866B-79E1ABE1D586}"/>
              </a:ext>
            </a:extLst>
          </p:cNvPr>
          <p:cNvSpPr txBox="1"/>
          <p:nvPr/>
        </p:nvSpPr>
        <p:spPr>
          <a:xfrm rot="4485394">
            <a:off x="13723291" y="8401183"/>
            <a:ext cx="2689525" cy="369332"/>
          </a:xfrm>
          <a:prstGeom prst="rect">
            <a:avLst/>
          </a:prstGeom>
          <a:noFill/>
        </p:spPr>
        <p:txBody>
          <a:bodyPr wrap="square" rtlCol="0">
            <a:spAutoFit/>
          </a:bodyPr>
          <a:lstStyle/>
          <a:p>
            <a:pPr algn="ctr"/>
            <a:r>
              <a:rPr lang="en-US" sz="1800" b="1" dirty="0"/>
              <a:t>Monitoring &amp; </a:t>
            </a:r>
            <a:r>
              <a:rPr lang="en-US" sz="1600" b="1" dirty="0"/>
              <a:t>Response</a:t>
            </a:r>
            <a:endParaRPr lang="en-US" sz="1800" b="1" dirty="0"/>
          </a:p>
        </p:txBody>
      </p:sp>
      <p:sp>
        <p:nvSpPr>
          <p:cNvPr id="64" name="TextBox 63">
            <a:extLst>
              <a:ext uri="{FF2B5EF4-FFF2-40B4-BE49-F238E27FC236}">
                <a16:creationId xmlns:a16="http://schemas.microsoft.com/office/drawing/2014/main" id="{1F6BB2D3-F0D4-48F5-9A08-AD7D80C64AA2}"/>
              </a:ext>
            </a:extLst>
          </p:cNvPr>
          <p:cNvSpPr txBox="1"/>
          <p:nvPr/>
        </p:nvSpPr>
        <p:spPr>
          <a:xfrm>
            <a:off x="4946388" y="9593531"/>
            <a:ext cx="1157360" cy="430887"/>
          </a:xfrm>
          <a:prstGeom prst="rect">
            <a:avLst/>
          </a:prstGeom>
          <a:noFill/>
        </p:spPr>
        <p:txBody>
          <a:bodyPr wrap="square" rtlCol="0">
            <a:spAutoFit/>
          </a:bodyPr>
          <a:lstStyle/>
          <a:p>
            <a:pPr algn="ctr"/>
            <a:r>
              <a:rPr lang="en-US" sz="1100" b="1" dirty="0"/>
              <a:t>Vulnerability Assessment</a:t>
            </a:r>
          </a:p>
        </p:txBody>
      </p:sp>
      <p:sp>
        <p:nvSpPr>
          <p:cNvPr id="65" name="TextBox 64">
            <a:extLst>
              <a:ext uri="{FF2B5EF4-FFF2-40B4-BE49-F238E27FC236}">
                <a16:creationId xmlns:a16="http://schemas.microsoft.com/office/drawing/2014/main" id="{02BBC185-6A38-4EE6-BA79-FF29BC02587E}"/>
              </a:ext>
            </a:extLst>
          </p:cNvPr>
          <p:cNvSpPr txBox="1"/>
          <p:nvPr/>
        </p:nvSpPr>
        <p:spPr>
          <a:xfrm>
            <a:off x="4226046" y="9120938"/>
            <a:ext cx="1016335" cy="430887"/>
          </a:xfrm>
          <a:prstGeom prst="rect">
            <a:avLst/>
          </a:prstGeom>
          <a:noFill/>
        </p:spPr>
        <p:txBody>
          <a:bodyPr wrap="square" rtlCol="0">
            <a:spAutoFit/>
          </a:bodyPr>
          <a:lstStyle/>
          <a:p>
            <a:pPr algn="ctr"/>
            <a:r>
              <a:rPr lang="en-US" sz="1100" b="1" dirty="0"/>
              <a:t>Penetration Testing</a:t>
            </a:r>
          </a:p>
        </p:txBody>
      </p:sp>
      <p:sp>
        <p:nvSpPr>
          <p:cNvPr id="66" name="TextBox 65">
            <a:extLst>
              <a:ext uri="{FF2B5EF4-FFF2-40B4-BE49-F238E27FC236}">
                <a16:creationId xmlns:a16="http://schemas.microsoft.com/office/drawing/2014/main" id="{7A6509B5-AD6F-4F53-BD75-819C25BC5C4E}"/>
              </a:ext>
            </a:extLst>
          </p:cNvPr>
          <p:cNvSpPr txBox="1"/>
          <p:nvPr/>
        </p:nvSpPr>
        <p:spPr>
          <a:xfrm>
            <a:off x="4271237" y="8424320"/>
            <a:ext cx="1318945" cy="430887"/>
          </a:xfrm>
          <a:prstGeom prst="rect">
            <a:avLst/>
          </a:prstGeom>
          <a:noFill/>
        </p:spPr>
        <p:txBody>
          <a:bodyPr wrap="square" rtlCol="0">
            <a:spAutoFit/>
          </a:bodyPr>
          <a:lstStyle/>
          <a:p>
            <a:pPr algn="ctr"/>
            <a:r>
              <a:rPr lang="en-US" sz="1100" b="1" dirty="0"/>
              <a:t>Security Policies &amp; Procedures</a:t>
            </a:r>
          </a:p>
        </p:txBody>
      </p:sp>
      <p:sp>
        <p:nvSpPr>
          <p:cNvPr id="67" name="TextBox 66">
            <a:extLst>
              <a:ext uri="{FF2B5EF4-FFF2-40B4-BE49-F238E27FC236}">
                <a16:creationId xmlns:a16="http://schemas.microsoft.com/office/drawing/2014/main" id="{9696139E-167A-488D-BDB8-DC81F6D50FA8}"/>
              </a:ext>
            </a:extLst>
          </p:cNvPr>
          <p:cNvSpPr txBox="1"/>
          <p:nvPr/>
        </p:nvSpPr>
        <p:spPr>
          <a:xfrm>
            <a:off x="5199676" y="8812702"/>
            <a:ext cx="1016335" cy="600164"/>
          </a:xfrm>
          <a:prstGeom prst="rect">
            <a:avLst/>
          </a:prstGeom>
          <a:noFill/>
        </p:spPr>
        <p:txBody>
          <a:bodyPr wrap="square" rtlCol="0">
            <a:spAutoFit/>
          </a:bodyPr>
          <a:lstStyle/>
          <a:p>
            <a:pPr algn="ctr"/>
            <a:r>
              <a:rPr lang="en-US" sz="1100" b="1" dirty="0"/>
              <a:t>Security Awareness Training</a:t>
            </a:r>
          </a:p>
        </p:txBody>
      </p:sp>
      <p:sp>
        <p:nvSpPr>
          <p:cNvPr id="68" name="TextBox 67">
            <a:extLst>
              <a:ext uri="{FF2B5EF4-FFF2-40B4-BE49-F238E27FC236}">
                <a16:creationId xmlns:a16="http://schemas.microsoft.com/office/drawing/2014/main" id="{E89F44EF-9111-4081-BE6E-F4E44A51653C}"/>
              </a:ext>
            </a:extLst>
          </p:cNvPr>
          <p:cNvSpPr txBox="1"/>
          <p:nvPr/>
        </p:nvSpPr>
        <p:spPr>
          <a:xfrm>
            <a:off x="13144313" y="10032392"/>
            <a:ext cx="1016335" cy="261610"/>
          </a:xfrm>
          <a:prstGeom prst="rect">
            <a:avLst/>
          </a:prstGeom>
          <a:noFill/>
        </p:spPr>
        <p:txBody>
          <a:bodyPr wrap="square" rtlCol="0">
            <a:spAutoFit/>
          </a:bodyPr>
          <a:lstStyle/>
          <a:p>
            <a:pPr algn="ctr"/>
            <a:r>
              <a:rPr lang="en-US" sz="1100" b="1" dirty="0"/>
              <a:t>SIEM</a:t>
            </a:r>
          </a:p>
        </p:txBody>
      </p:sp>
      <p:sp>
        <p:nvSpPr>
          <p:cNvPr id="69" name="TextBox 68">
            <a:extLst>
              <a:ext uri="{FF2B5EF4-FFF2-40B4-BE49-F238E27FC236}">
                <a16:creationId xmlns:a16="http://schemas.microsoft.com/office/drawing/2014/main" id="{3C9C6D0E-8BBB-441F-84EF-574872FFED07}"/>
              </a:ext>
            </a:extLst>
          </p:cNvPr>
          <p:cNvSpPr txBox="1"/>
          <p:nvPr/>
        </p:nvSpPr>
        <p:spPr>
          <a:xfrm>
            <a:off x="13790427" y="9155778"/>
            <a:ext cx="1176081" cy="430887"/>
          </a:xfrm>
          <a:prstGeom prst="rect">
            <a:avLst/>
          </a:prstGeom>
          <a:noFill/>
        </p:spPr>
        <p:txBody>
          <a:bodyPr wrap="square" rtlCol="0">
            <a:spAutoFit/>
          </a:bodyPr>
          <a:lstStyle/>
          <a:p>
            <a:pPr algn="ctr"/>
            <a:r>
              <a:rPr lang="en-US" sz="1100" b="1" dirty="0"/>
              <a:t>Escalation Management</a:t>
            </a:r>
          </a:p>
        </p:txBody>
      </p:sp>
      <p:sp>
        <p:nvSpPr>
          <p:cNvPr id="70" name="TextBox 69">
            <a:extLst>
              <a:ext uri="{FF2B5EF4-FFF2-40B4-BE49-F238E27FC236}">
                <a16:creationId xmlns:a16="http://schemas.microsoft.com/office/drawing/2014/main" id="{33B792E1-C601-450B-B9B8-EB558C1FC487}"/>
              </a:ext>
            </a:extLst>
          </p:cNvPr>
          <p:cNvSpPr txBox="1"/>
          <p:nvPr/>
        </p:nvSpPr>
        <p:spPr>
          <a:xfrm>
            <a:off x="11232332" y="9260486"/>
            <a:ext cx="1176081" cy="430887"/>
          </a:xfrm>
          <a:prstGeom prst="rect">
            <a:avLst/>
          </a:prstGeom>
          <a:noFill/>
        </p:spPr>
        <p:txBody>
          <a:bodyPr wrap="square" rtlCol="0">
            <a:spAutoFit/>
          </a:bodyPr>
          <a:lstStyle/>
          <a:p>
            <a:pPr algn="ctr"/>
            <a:r>
              <a:rPr lang="en-US" sz="1100" b="1" dirty="0"/>
              <a:t>Log Management</a:t>
            </a:r>
          </a:p>
        </p:txBody>
      </p:sp>
      <p:sp>
        <p:nvSpPr>
          <p:cNvPr id="71" name="TextBox 70">
            <a:extLst>
              <a:ext uri="{FF2B5EF4-FFF2-40B4-BE49-F238E27FC236}">
                <a16:creationId xmlns:a16="http://schemas.microsoft.com/office/drawing/2014/main" id="{2D57077C-CCF6-4221-96B0-6C801BE34FA8}"/>
              </a:ext>
            </a:extLst>
          </p:cNvPr>
          <p:cNvSpPr txBox="1"/>
          <p:nvPr/>
        </p:nvSpPr>
        <p:spPr>
          <a:xfrm>
            <a:off x="11285007" y="9847383"/>
            <a:ext cx="1825409" cy="430887"/>
          </a:xfrm>
          <a:prstGeom prst="rect">
            <a:avLst/>
          </a:prstGeom>
          <a:noFill/>
        </p:spPr>
        <p:txBody>
          <a:bodyPr wrap="square" rtlCol="0">
            <a:spAutoFit/>
          </a:bodyPr>
          <a:lstStyle/>
          <a:p>
            <a:pPr algn="ctr"/>
            <a:r>
              <a:rPr lang="en-US" sz="1100" b="1" dirty="0"/>
              <a:t>Continuous Monitoring &amp; Assessment</a:t>
            </a:r>
          </a:p>
        </p:txBody>
      </p:sp>
      <p:sp>
        <p:nvSpPr>
          <p:cNvPr id="77" name="TextBox 76">
            <a:extLst>
              <a:ext uri="{FF2B5EF4-FFF2-40B4-BE49-F238E27FC236}">
                <a16:creationId xmlns:a16="http://schemas.microsoft.com/office/drawing/2014/main" id="{C86122EA-A4D0-42D8-8F7A-6EB6C4A6AFDA}"/>
              </a:ext>
            </a:extLst>
          </p:cNvPr>
          <p:cNvSpPr txBox="1"/>
          <p:nvPr/>
        </p:nvSpPr>
        <p:spPr>
          <a:xfrm>
            <a:off x="13968562" y="9741702"/>
            <a:ext cx="1224331" cy="430887"/>
          </a:xfrm>
          <a:prstGeom prst="rect">
            <a:avLst/>
          </a:prstGeom>
          <a:noFill/>
        </p:spPr>
        <p:txBody>
          <a:bodyPr wrap="square" rtlCol="0">
            <a:spAutoFit/>
          </a:bodyPr>
          <a:lstStyle/>
          <a:p>
            <a:pPr algn="ctr"/>
            <a:r>
              <a:rPr lang="en-US" sz="1100" b="1" dirty="0"/>
              <a:t>SOC Dashboard</a:t>
            </a:r>
          </a:p>
        </p:txBody>
      </p:sp>
      <p:sp>
        <p:nvSpPr>
          <p:cNvPr id="78" name="TextBox 77">
            <a:extLst>
              <a:ext uri="{FF2B5EF4-FFF2-40B4-BE49-F238E27FC236}">
                <a16:creationId xmlns:a16="http://schemas.microsoft.com/office/drawing/2014/main" id="{36564FA2-2982-4C13-82DF-DDE266073DD7}"/>
              </a:ext>
            </a:extLst>
          </p:cNvPr>
          <p:cNvSpPr txBox="1"/>
          <p:nvPr/>
        </p:nvSpPr>
        <p:spPr>
          <a:xfrm>
            <a:off x="13301906" y="8558344"/>
            <a:ext cx="1776847" cy="430887"/>
          </a:xfrm>
          <a:prstGeom prst="rect">
            <a:avLst/>
          </a:prstGeom>
          <a:noFill/>
        </p:spPr>
        <p:txBody>
          <a:bodyPr wrap="square" rtlCol="0">
            <a:spAutoFit/>
          </a:bodyPr>
          <a:lstStyle/>
          <a:p>
            <a:pPr algn="ctr"/>
            <a:r>
              <a:rPr lang="en-US" sz="1100" b="1" dirty="0"/>
              <a:t>Incident Reporting, Detection, Response</a:t>
            </a:r>
          </a:p>
        </p:txBody>
      </p:sp>
      <p:sp>
        <p:nvSpPr>
          <p:cNvPr id="79" name="TextBox 78">
            <a:extLst>
              <a:ext uri="{FF2B5EF4-FFF2-40B4-BE49-F238E27FC236}">
                <a16:creationId xmlns:a16="http://schemas.microsoft.com/office/drawing/2014/main" id="{AA056C06-F4C5-4545-8D36-F4D49C109F3C}"/>
              </a:ext>
            </a:extLst>
          </p:cNvPr>
          <p:cNvSpPr txBox="1"/>
          <p:nvPr/>
        </p:nvSpPr>
        <p:spPr>
          <a:xfrm>
            <a:off x="12028156" y="8770347"/>
            <a:ext cx="1391064" cy="430887"/>
          </a:xfrm>
          <a:prstGeom prst="rect">
            <a:avLst/>
          </a:prstGeom>
          <a:noFill/>
        </p:spPr>
        <p:txBody>
          <a:bodyPr wrap="square" rtlCol="0">
            <a:spAutoFit/>
          </a:bodyPr>
          <a:lstStyle/>
          <a:p>
            <a:pPr algn="ctr"/>
            <a:r>
              <a:rPr lang="en-US" sz="1100" b="1" dirty="0"/>
              <a:t>SOC/NOC Monitoring (24x7)</a:t>
            </a:r>
          </a:p>
        </p:txBody>
      </p:sp>
      <p:sp>
        <p:nvSpPr>
          <p:cNvPr id="80" name="TextBox 79">
            <a:extLst>
              <a:ext uri="{FF2B5EF4-FFF2-40B4-BE49-F238E27FC236}">
                <a16:creationId xmlns:a16="http://schemas.microsoft.com/office/drawing/2014/main" id="{D06C5866-7544-4BF8-9368-69BD3454D214}"/>
              </a:ext>
            </a:extLst>
          </p:cNvPr>
          <p:cNvSpPr txBox="1"/>
          <p:nvPr/>
        </p:nvSpPr>
        <p:spPr>
          <a:xfrm>
            <a:off x="4443639" y="6522080"/>
            <a:ext cx="1016335" cy="430887"/>
          </a:xfrm>
          <a:prstGeom prst="rect">
            <a:avLst/>
          </a:prstGeom>
          <a:noFill/>
        </p:spPr>
        <p:txBody>
          <a:bodyPr wrap="square" rtlCol="0">
            <a:spAutoFit/>
          </a:bodyPr>
          <a:lstStyle/>
          <a:p>
            <a:pPr algn="ctr"/>
            <a:r>
              <a:rPr lang="en-US" sz="1100" b="1" dirty="0"/>
              <a:t>Perimeter Firewall</a:t>
            </a:r>
          </a:p>
        </p:txBody>
      </p:sp>
      <p:sp>
        <p:nvSpPr>
          <p:cNvPr id="81" name="TextBox 80">
            <a:extLst>
              <a:ext uri="{FF2B5EF4-FFF2-40B4-BE49-F238E27FC236}">
                <a16:creationId xmlns:a16="http://schemas.microsoft.com/office/drawing/2014/main" id="{DAA6E792-BA55-4BC7-A082-52F8C033C4D0}"/>
              </a:ext>
            </a:extLst>
          </p:cNvPr>
          <p:cNvSpPr txBox="1"/>
          <p:nvPr/>
        </p:nvSpPr>
        <p:spPr>
          <a:xfrm>
            <a:off x="5486641" y="5276253"/>
            <a:ext cx="1016335" cy="430887"/>
          </a:xfrm>
          <a:prstGeom prst="rect">
            <a:avLst/>
          </a:prstGeom>
          <a:noFill/>
        </p:spPr>
        <p:txBody>
          <a:bodyPr wrap="square" rtlCol="0">
            <a:spAutoFit/>
          </a:bodyPr>
          <a:lstStyle/>
          <a:p>
            <a:pPr algn="ctr"/>
            <a:r>
              <a:rPr lang="en-US" sz="1100" b="1" dirty="0"/>
              <a:t>Perimeter IPS</a:t>
            </a:r>
          </a:p>
        </p:txBody>
      </p:sp>
      <p:sp>
        <p:nvSpPr>
          <p:cNvPr id="82" name="TextBox 81">
            <a:extLst>
              <a:ext uri="{FF2B5EF4-FFF2-40B4-BE49-F238E27FC236}">
                <a16:creationId xmlns:a16="http://schemas.microsoft.com/office/drawing/2014/main" id="{4E476ED3-3F03-4ACF-85ED-1CAB0B83C4C0}"/>
              </a:ext>
            </a:extLst>
          </p:cNvPr>
          <p:cNvSpPr txBox="1"/>
          <p:nvPr/>
        </p:nvSpPr>
        <p:spPr>
          <a:xfrm>
            <a:off x="6829614" y="4465944"/>
            <a:ext cx="1016335" cy="430887"/>
          </a:xfrm>
          <a:prstGeom prst="rect">
            <a:avLst/>
          </a:prstGeom>
          <a:noFill/>
        </p:spPr>
        <p:txBody>
          <a:bodyPr wrap="square" rtlCol="0">
            <a:spAutoFit/>
          </a:bodyPr>
          <a:lstStyle/>
          <a:p>
            <a:pPr algn="ctr"/>
            <a:r>
              <a:rPr lang="en-US" sz="1100" b="1" dirty="0"/>
              <a:t>Secure DMZs</a:t>
            </a:r>
          </a:p>
        </p:txBody>
      </p:sp>
      <p:sp>
        <p:nvSpPr>
          <p:cNvPr id="83" name="TextBox 82">
            <a:extLst>
              <a:ext uri="{FF2B5EF4-FFF2-40B4-BE49-F238E27FC236}">
                <a16:creationId xmlns:a16="http://schemas.microsoft.com/office/drawing/2014/main" id="{BDB31FCC-B8D2-4C97-BDF5-1BAFB3979148}"/>
              </a:ext>
            </a:extLst>
          </p:cNvPr>
          <p:cNvSpPr txBox="1"/>
          <p:nvPr/>
        </p:nvSpPr>
        <p:spPr>
          <a:xfrm>
            <a:off x="8364840" y="4015777"/>
            <a:ext cx="2285321" cy="600164"/>
          </a:xfrm>
          <a:prstGeom prst="rect">
            <a:avLst/>
          </a:prstGeom>
          <a:noFill/>
        </p:spPr>
        <p:txBody>
          <a:bodyPr wrap="square" rtlCol="0">
            <a:spAutoFit/>
          </a:bodyPr>
          <a:lstStyle/>
          <a:p>
            <a:pPr algn="ctr"/>
            <a:r>
              <a:rPr lang="en-US" sz="1100" b="1" dirty="0"/>
              <a:t>Email Security </a:t>
            </a:r>
          </a:p>
          <a:p>
            <a:pPr algn="ctr"/>
            <a:r>
              <a:rPr lang="en-US" sz="1100" b="1" dirty="0"/>
              <a:t>(Anti-virus / malware, SPAM Filter</a:t>
            </a:r>
          </a:p>
        </p:txBody>
      </p:sp>
      <p:sp>
        <p:nvSpPr>
          <p:cNvPr id="84" name="TextBox 83">
            <a:extLst>
              <a:ext uri="{FF2B5EF4-FFF2-40B4-BE49-F238E27FC236}">
                <a16:creationId xmlns:a16="http://schemas.microsoft.com/office/drawing/2014/main" id="{4D2DC5CC-4504-46E1-B873-3664A690BB33}"/>
              </a:ext>
            </a:extLst>
          </p:cNvPr>
          <p:cNvSpPr txBox="1"/>
          <p:nvPr/>
        </p:nvSpPr>
        <p:spPr>
          <a:xfrm>
            <a:off x="11527031" y="4681387"/>
            <a:ext cx="1016335" cy="430887"/>
          </a:xfrm>
          <a:prstGeom prst="rect">
            <a:avLst/>
          </a:prstGeom>
          <a:noFill/>
        </p:spPr>
        <p:txBody>
          <a:bodyPr wrap="square" rtlCol="0">
            <a:spAutoFit/>
          </a:bodyPr>
          <a:lstStyle/>
          <a:p>
            <a:pPr algn="ctr"/>
            <a:r>
              <a:rPr lang="en-US" sz="1100" b="1" dirty="0"/>
              <a:t>Secure VPNs</a:t>
            </a:r>
          </a:p>
        </p:txBody>
      </p:sp>
      <p:sp>
        <p:nvSpPr>
          <p:cNvPr id="85" name="TextBox 84">
            <a:extLst>
              <a:ext uri="{FF2B5EF4-FFF2-40B4-BE49-F238E27FC236}">
                <a16:creationId xmlns:a16="http://schemas.microsoft.com/office/drawing/2014/main" id="{3135E7E2-4DDF-4039-8B7A-1AF3D5C139BC}"/>
              </a:ext>
            </a:extLst>
          </p:cNvPr>
          <p:cNvSpPr txBox="1"/>
          <p:nvPr/>
        </p:nvSpPr>
        <p:spPr>
          <a:xfrm>
            <a:off x="5729825" y="6426700"/>
            <a:ext cx="1016335" cy="430887"/>
          </a:xfrm>
          <a:prstGeom prst="rect">
            <a:avLst/>
          </a:prstGeom>
          <a:noFill/>
        </p:spPr>
        <p:txBody>
          <a:bodyPr wrap="square" rtlCol="0">
            <a:spAutoFit/>
          </a:bodyPr>
          <a:lstStyle/>
          <a:p>
            <a:pPr algn="ctr"/>
            <a:r>
              <a:rPr lang="en-US" sz="1100" b="1" dirty="0"/>
              <a:t>Data Center Firewall</a:t>
            </a:r>
          </a:p>
        </p:txBody>
      </p:sp>
      <p:sp>
        <p:nvSpPr>
          <p:cNvPr id="86" name="TextBox 85">
            <a:extLst>
              <a:ext uri="{FF2B5EF4-FFF2-40B4-BE49-F238E27FC236}">
                <a16:creationId xmlns:a16="http://schemas.microsoft.com/office/drawing/2014/main" id="{CE1F90BF-8CBE-47A0-9599-E0B44186E9D3}"/>
              </a:ext>
            </a:extLst>
          </p:cNvPr>
          <p:cNvSpPr txBox="1"/>
          <p:nvPr/>
        </p:nvSpPr>
        <p:spPr>
          <a:xfrm>
            <a:off x="6237965" y="5917159"/>
            <a:ext cx="1016335" cy="430887"/>
          </a:xfrm>
          <a:prstGeom prst="rect">
            <a:avLst/>
          </a:prstGeom>
          <a:noFill/>
        </p:spPr>
        <p:txBody>
          <a:bodyPr wrap="square" rtlCol="0">
            <a:spAutoFit/>
          </a:bodyPr>
          <a:lstStyle/>
          <a:p>
            <a:pPr algn="ctr"/>
            <a:r>
              <a:rPr lang="en-US" sz="1100" b="1" dirty="0"/>
              <a:t>Enterprise IPS</a:t>
            </a:r>
          </a:p>
        </p:txBody>
      </p:sp>
      <p:sp>
        <p:nvSpPr>
          <p:cNvPr id="87" name="TextBox 86">
            <a:extLst>
              <a:ext uri="{FF2B5EF4-FFF2-40B4-BE49-F238E27FC236}">
                <a16:creationId xmlns:a16="http://schemas.microsoft.com/office/drawing/2014/main" id="{15125AD7-D0DF-477F-B98A-00E8DE22A5C1}"/>
              </a:ext>
            </a:extLst>
          </p:cNvPr>
          <p:cNvSpPr txBox="1"/>
          <p:nvPr/>
        </p:nvSpPr>
        <p:spPr>
          <a:xfrm>
            <a:off x="6581557" y="5405843"/>
            <a:ext cx="2224649" cy="261610"/>
          </a:xfrm>
          <a:prstGeom prst="rect">
            <a:avLst/>
          </a:prstGeom>
          <a:noFill/>
        </p:spPr>
        <p:txBody>
          <a:bodyPr wrap="square" rtlCol="0">
            <a:spAutoFit/>
          </a:bodyPr>
          <a:lstStyle/>
          <a:p>
            <a:pPr algn="ctr"/>
            <a:r>
              <a:rPr lang="en-US" sz="1100" b="1" dirty="0"/>
              <a:t>Web Proxy Content Filtering</a:t>
            </a:r>
          </a:p>
        </p:txBody>
      </p:sp>
      <p:sp>
        <p:nvSpPr>
          <p:cNvPr id="88" name="TextBox 87">
            <a:extLst>
              <a:ext uri="{FF2B5EF4-FFF2-40B4-BE49-F238E27FC236}">
                <a16:creationId xmlns:a16="http://schemas.microsoft.com/office/drawing/2014/main" id="{5CF33601-DD84-446C-855B-EE95D1EC1583}"/>
              </a:ext>
            </a:extLst>
          </p:cNvPr>
          <p:cNvSpPr txBox="1"/>
          <p:nvPr/>
        </p:nvSpPr>
        <p:spPr>
          <a:xfrm>
            <a:off x="8846401" y="5176525"/>
            <a:ext cx="1016335" cy="261610"/>
          </a:xfrm>
          <a:prstGeom prst="rect">
            <a:avLst/>
          </a:prstGeom>
          <a:noFill/>
        </p:spPr>
        <p:txBody>
          <a:bodyPr wrap="square" rtlCol="0">
            <a:spAutoFit/>
          </a:bodyPr>
          <a:lstStyle/>
          <a:p>
            <a:pPr algn="ctr"/>
            <a:r>
              <a:rPr lang="en-US" sz="1100" b="1" dirty="0"/>
              <a:t>NAC</a:t>
            </a:r>
          </a:p>
        </p:txBody>
      </p:sp>
      <p:sp>
        <p:nvSpPr>
          <p:cNvPr id="89" name="TextBox 88">
            <a:extLst>
              <a:ext uri="{FF2B5EF4-FFF2-40B4-BE49-F238E27FC236}">
                <a16:creationId xmlns:a16="http://schemas.microsoft.com/office/drawing/2014/main" id="{63D90664-6D8E-44BC-82C1-E04F5246F928}"/>
              </a:ext>
            </a:extLst>
          </p:cNvPr>
          <p:cNvSpPr txBox="1"/>
          <p:nvPr/>
        </p:nvSpPr>
        <p:spPr>
          <a:xfrm rot="858808">
            <a:off x="9723174" y="5204621"/>
            <a:ext cx="1623594" cy="430887"/>
          </a:xfrm>
          <a:prstGeom prst="rect">
            <a:avLst/>
          </a:prstGeom>
          <a:noFill/>
        </p:spPr>
        <p:txBody>
          <a:bodyPr wrap="square" rtlCol="0">
            <a:spAutoFit/>
          </a:bodyPr>
          <a:lstStyle/>
          <a:p>
            <a:pPr algn="ctr"/>
            <a:r>
              <a:rPr lang="en-US" sz="1100" b="1" dirty="0"/>
              <a:t>Network Security Traffic Analyzer</a:t>
            </a:r>
          </a:p>
        </p:txBody>
      </p:sp>
      <p:sp>
        <p:nvSpPr>
          <p:cNvPr id="90" name="TextBox 89">
            <a:extLst>
              <a:ext uri="{FF2B5EF4-FFF2-40B4-BE49-F238E27FC236}">
                <a16:creationId xmlns:a16="http://schemas.microsoft.com/office/drawing/2014/main" id="{0173377A-A9AE-4209-B78A-8A7EC5E2B4E2}"/>
              </a:ext>
            </a:extLst>
          </p:cNvPr>
          <p:cNvSpPr txBox="1"/>
          <p:nvPr/>
        </p:nvSpPr>
        <p:spPr>
          <a:xfrm>
            <a:off x="11377643" y="5546681"/>
            <a:ext cx="1016335" cy="600164"/>
          </a:xfrm>
          <a:prstGeom prst="rect">
            <a:avLst/>
          </a:prstGeom>
          <a:noFill/>
        </p:spPr>
        <p:txBody>
          <a:bodyPr wrap="square" rtlCol="0">
            <a:spAutoFit/>
          </a:bodyPr>
          <a:lstStyle/>
          <a:p>
            <a:pPr algn="ctr"/>
            <a:r>
              <a:rPr lang="en-US" sz="1100" b="1" dirty="0"/>
              <a:t>Enterprise Wireless Security</a:t>
            </a:r>
          </a:p>
        </p:txBody>
      </p:sp>
      <p:sp>
        <p:nvSpPr>
          <p:cNvPr id="91" name="TextBox 90">
            <a:extLst>
              <a:ext uri="{FF2B5EF4-FFF2-40B4-BE49-F238E27FC236}">
                <a16:creationId xmlns:a16="http://schemas.microsoft.com/office/drawing/2014/main" id="{0CEA7803-3A71-4BEF-93B4-B402B5787611}"/>
              </a:ext>
            </a:extLst>
          </p:cNvPr>
          <p:cNvSpPr txBox="1"/>
          <p:nvPr/>
        </p:nvSpPr>
        <p:spPr>
          <a:xfrm>
            <a:off x="12155758" y="6189280"/>
            <a:ext cx="1016335" cy="600164"/>
          </a:xfrm>
          <a:prstGeom prst="rect">
            <a:avLst/>
          </a:prstGeom>
          <a:noFill/>
        </p:spPr>
        <p:txBody>
          <a:bodyPr wrap="square" rtlCol="0">
            <a:spAutoFit/>
          </a:bodyPr>
          <a:lstStyle/>
          <a:p>
            <a:pPr algn="ctr"/>
            <a:r>
              <a:rPr lang="en-US" sz="1100" b="1" dirty="0"/>
              <a:t>Enterprise Remote Access </a:t>
            </a:r>
          </a:p>
        </p:txBody>
      </p:sp>
      <p:sp>
        <p:nvSpPr>
          <p:cNvPr id="92" name="TextBox 91">
            <a:extLst>
              <a:ext uri="{FF2B5EF4-FFF2-40B4-BE49-F238E27FC236}">
                <a16:creationId xmlns:a16="http://schemas.microsoft.com/office/drawing/2014/main" id="{0293AE70-7B1E-4F16-91FC-60F5F0229755}"/>
              </a:ext>
            </a:extLst>
          </p:cNvPr>
          <p:cNvSpPr txBox="1"/>
          <p:nvPr/>
        </p:nvSpPr>
        <p:spPr>
          <a:xfrm>
            <a:off x="6992631" y="6500184"/>
            <a:ext cx="1016335" cy="430887"/>
          </a:xfrm>
          <a:prstGeom prst="rect">
            <a:avLst/>
          </a:prstGeom>
          <a:noFill/>
        </p:spPr>
        <p:txBody>
          <a:bodyPr wrap="square" rtlCol="0">
            <a:spAutoFit/>
          </a:bodyPr>
          <a:lstStyle/>
          <a:p>
            <a:pPr algn="ctr"/>
            <a:r>
              <a:rPr lang="en-US" sz="1100" b="1" dirty="0"/>
              <a:t>Host IPS / VPM </a:t>
            </a:r>
          </a:p>
        </p:txBody>
      </p:sp>
      <p:sp>
        <p:nvSpPr>
          <p:cNvPr id="93" name="TextBox 92">
            <a:extLst>
              <a:ext uri="{FF2B5EF4-FFF2-40B4-BE49-F238E27FC236}">
                <a16:creationId xmlns:a16="http://schemas.microsoft.com/office/drawing/2014/main" id="{071F8635-02EE-4B9A-8130-C393BDE42413}"/>
              </a:ext>
            </a:extLst>
          </p:cNvPr>
          <p:cNvSpPr txBox="1"/>
          <p:nvPr/>
        </p:nvSpPr>
        <p:spPr>
          <a:xfrm>
            <a:off x="6160196" y="7102709"/>
            <a:ext cx="1456353" cy="430887"/>
          </a:xfrm>
          <a:prstGeom prst="rect">
            <a:avLst/>
          </a:prstGeom>
          <a:noFill/>
        </p:spPr>
        <p:txBody>
          <a:bodyPr wrap="square" rtlCol="0">
            <a:spAutoFit/>
          </a:bodyPr>
          <a:lstStyle/>
          <a:p>
            <a:pPr algn="ctr"/>
            <a:r>
              <a:rPr lang="en-US" sz="1100" b="1" dirty="0"/>
              <a:t>(Anti-Virus, Anti-Malware)</a:t>
            </a:r>
          </a:p>
        </p:txBody>
      </p:sp>
      <p:sp>
        <p:nvSpPr>
          <p:cNvPr id="94" name="TextBox 93">
            <a:extLst>
              <a:ext uri="{FF2B5EF4-FFF2-40B4-BE49-F238E27FC236}">
                <a16:creationId xmlns:a16="http://schemas.microsoft.com/office/drawing/2014/main" id="{6F032687-F3EC-4F8E-8A81-02976D90E2A3}"/>
              </a:ext>
            </a:extLst>
          </p:cNvPr>
          <p:cNvSpPr txBox="1"/>
          <p:nvPr/>
        </p:nvSpPr>
        <p:spPr>
          <a:xfrm>
            <a:off x="10787148" y="6571364"/>
            <a:ext cx="1456814" cy="430887"/>
          </a:xfrm>
          <a:prstGeom prst="rect">
            <a:avLst/>
          </a:prstGeom>
          <a:noFill/>
        </p:spPr>
        <p:txBody>
          <a:bodyPr wrap="square" rtlCol="0">
            <a:spAutoFit/>
          </a:bodyPr>
          <a:lstStyle/>
          <a:p>
            <a:pPr algn="ctr"/>
            <a:r>
              <a:rPr lang="en-US" sz="1100" b="1" dirty="0"/>
              <a:t>Endpoint Domain Security </a:t>
            </a:r>
          </a:p>
        </p:txBody>
      </p:sp>
      <p:sp>
        <p:nvSpPr>
          <p:cNvPr id="95" name="TextBox 94">
            <a:extLst>
              <a:ext uri="{FF2B5EF4-FFF2-40B4-BE49-F238E27FC236}">
                <a16:creationId xmlns:a16="http://schemas.microsoft.com/office/drawing/2014/main" id="{59A86511-11B8-479F-AF3B-56971D02CA8B}"/>
              </a:ext>
            </a:extLst>
          </p:cNvPr>
          <p:cNvSpPr txBox="1"/>
          <p:nvPr/>
        </p:nvSpPr>
        <p:spPr>
          <a:xfrm>
            <a:off x="7947742" y="6138238"/>
            <a:ext cx="1187102" cy="430887"/>
          </a:xfrm>
          <a:prstGeom prst="rect">
            <a:avLst/>
          </a:prstGeom>
          <a:noFill/>
        </p:spPr>
        <p:txBody>
          <a:bodyPr wrap="square" rtlCol="0">
            <a:spAutoFit/>
          </a:bodyPr>
          <a:lstStyle/>
          <a:p>
            <a:pPr algn="ctr"/>
            <a:r>
              <a:rPr lang="en-US" sz="1100" b="1" dirty="0"/>
              <a:t>Patch Management</a:t>
            </a:r>
          </a:p>
        </p:txBody>
      </p:sp>
      <p:sp>
        <p:nvSpPr>
          <p:cNvPr id="96" name="TextBox 95">
            <a:extLst>
              <a:ext uri="{FF2B5EF4-FFF2-40B4-BE49-F238E27FC236}">
                <a16:creationId xmlns:a16="http://schemas.microsoft.com/office/drawing/2014/main" id="{99EF17B6-7D8F-46E4-9DF6-2E17C1DA246E}"/>
              </a:ext>
            </a:extLst>
          </p:cNvPr>
          <p:cNvSpPr txBox="1"/>
          <p:nvPr/>
        </p:nvSpPr>
        <p:spPr>
          <a:xfrm>
            <a:off x="7195548" y="7490429"/>
            <a:ext cx="1016335" cy="261610"/>
          </a:xfrm>
          <a:prstGeom prst="rect">
            <a:avLst/>
          </a:prstGeom>
          <a:noFill/>
        </p:spPr>
        <p:txBody>
          <a:bodyPr wrap="square" rtlCol="0">
            <a:spAutoFit/>
          </a:bodyPr>
          <a:lstStyle/>
          <a:p>
            <a:pPr algn="ctr"/>
            <a:r>
              <a:rPr lang="en-US" sz="1100" b="1" dirty="0"/>
              <a:t>WAF</a:t>
            </a:r>
          </a:p>
        </p:txBody>
      </p:sp>
      <p:sp>
        <p:nvSpPr>
          <p:cNvPr id="97" name="TextBox 96">
            <a:extLst>
              <a:ext uri="{FF2B5EF4-FFF2-40B4-BE49-F238E27FC236}">
                <a16:creationId xmlns:a16="http://schemas.microsoft.com/office/drawing/2014/main" id="{33B8EA94-6CAD-42D4-BC64-066A516EC993}"/>
              </a:ext>
            </a:extLst>
          </p:cNvPr>
          <p:cNvSpPr txBox="1"/>
          <p:nvPr/>
        </p:nvSpPr>
        <p:spPr>
          <a:xfrm>
            <a:off x="8829478" y="6843437"/>
            <a:ext cx="1640594" cy="600164"/>
          </a:xfrm>
          <a:prstGeom prst="rect">
            <a:avLst/>
          </a:prstGeom>
          <a:noFill/>
        </p:spPr>
        <p:txBody>
          <a:bodyPr wrap="square" rtlCol="0">
            <a:spAutoFit/>
          </a:bodyPr>
          <a:lstStyle/>
          <a:p>
            <a:pPr algn="ctr"/>
            <a:r>
              <a:rPr lang="en-US" sz="1100" b="1" dirty="0"/>
              <a:t>Database (Administrative Access) Monitoring</a:t>
            </a:r>
          </a:p>
        </p:txBody>
      </p:sp>
      <p:sp>
        <p:nvSpPr>
          <p:cNvPr id="98" name="TextBox 97">
            <a:extLst>
              <a:ext uri="{FF2B5EF4-FFF2-40B4-BE49-F238E27FC236}">
                <a16:creationId xmlns:a16="http://schemas.microsoft.com/office/drawing/2014/main" id="{4876FEEA-B93F-4F1E-B529-3B9632A0616A}"/>
              </a:ext>
            </a:extLst>
          </p:cNvPr>
          <p:cNvSpPr txBox="1"/>
          <p:nvPr/>
        </p:nvSpPr>
        <p:spPr>
          <a:xfrm>
            <a:off x="10755896" y="7372345"/>
            <a:ext cx="1016335" cy="600164"/>
          </a:xfrm>
          <a:prstGeom prst="rect">
            <a:avLst/>
          </a:prstGeom>
          <a:noFill/>
        </p:spPr>
        <p:txBody>
          <a:bodyPr wrap="square" rtlCol="0">
            <a:spAutoFit/>
          </a:bodyPr>
          <a:lstStyle/>
          <a:p>
            <a:pPr algn="ctr"/>
            <a:r>
              <a:rPr lang="en-US" sz="1100" b="1" dirty="0"/>
              <a:t>Application Security Monitoring</a:t>
            </a:r>
          </a:p>
        </p:txBody>
      </p:sp>
      <p:sp>
        <p:nvSpPr>
          <p:cNvPr id="99" name="TextBox 98">
            <a:extLst>
              <a:ext uri="{FF2B5EF4-FFF2-40B4-BE49-F238E27FC236}">
                <a16:creationId xmlns:a16="http://schemas.microsoft.com/office/drawing/2014/main" id="{83990F03-9138-4FAC-816C-AAADED93CEF6}"/>
              </a:ext>
            </a:extLst>
          </p:cNvPr>
          <p:cNvSpPr txBox="1"/>
          <p:nvPr/>
        </p:nvSpPr>
        <p:spPr>
          <a:xfrm>
            <a:off x="7667745" y="8277946"/>
            <a:ext cx="1467098" cy="430887"/>
          </a:xfrm>
          <a:prstGeom prst="rect">
            <a:avLst/>
          </a:prstGeom>
          <a:noFill/>
        </p:spPr>
        <p:txBody>
          <a:bodyPr wrap="square" rtlCol="0">
            <a:spAutoFit/>
          </a:bodyPr>
          <a:lstStyle/>
          <a:p>
            <a:pPr algn="ctr"/>
            <a:r>
              <a:rPr lang="en-US" sz="1100" b="1" dirty="0"/>
              <a:t>Identity &amp; Access Management</a:t>
            </a:r>
          </a:p>
        </p:txBody>
      </p:sp>
      <p:sp>
        <p:nvSpPr>
          <p:cNvPr id="100" name="TextBox 99">
            <a:extLst>
              <a:ext uri="{FF2B5EF4-FFF2-40B4-BE49-F238E27FC236}">
                <a16:creationId xmlns:a16="http://schemas.microsoft.com/office/drawing/2014/main" id="{763D5217-0445-48B4-92E9-29114EA5033D}"/>
              </a:ext>
            </a:extLst>
          </p:cNvPr>
          <p:cNvSpPr txBox="1"/>
          <p:nvPr/>
        </p:nvSpPr>
        <p:spPr>
          <a:xfrm>
            <a:off x="9039551" y="8233372"/>
            <a:ext cx="1211595" cy="430887"/>
          </a:xfrm>
          <a:prstGeom prst="rect">
            <a:avLst/>
          </a:prstGeom>
          <a:noFill/>
        </p:spPr>
        <p:txBody>
          <a:bodyPr wrap="square" rtlCol="0">
            <a:spAutoFit/>
          </a:bodyPr>
          <a:lstStyle/>
          <a:p>
            <a:pPr algn="ctr"/>
            <a:r>
              <a:rPr lang="en-US" sz="1100" b="1" dirty="0"/>
              <a:t>Asset  Classification</a:t>
            </a:r>
          </a:p>
        </p:txBody>
      </p:sp>
      <p:sp>
        <p:nvSpPr>
          <p:cNvPr id="101" name="TextBox 100">
            <a:extLst>
              <a:ext uri="{FF2B5EF4-FFF2-40B4-BE49-F238E27FC236}">
                <a16:creationId xmlns:a16="http://schemas.microsoft.com/office/drawing/2014/main" id="{706B2E11-6E48-423C-AD65-D21AAB3BF3F5}"/>
              </a:ext>
            </a:extLst>
          </p:cNvPr>
          <p:cNvSpPr txBox="1"/>
          <p:nvPr/>
        </p:nvSpPr>
        <p:spPr>
          <a:xfrm>
            <a:off x="10191337" y="8261846"/>
            <a:ext cx="1016335" cy="430887"/>
          </a:xfrm>
          <a:prstGeom prst="rect">
            <a:avLst/>
          </a:prstGeom>
          <a:noFill/>
        </p:spPr>
        <p:txBody>
          <a:bodyPr wrap="square" rtlCol="0">
            <a:spAutoFit/>
          </a:bodyPr>
          <a:lstStyle/>
          <a:p>
            <a:pPr algn="ctr"/>
            <a:r>
              <a:rPr lang="en-US" sz="1100" b="1" dirty="0"/>
              <a:t>Data Encryption</a:t>
            </a:r>
          </a:p>
        </p:txBody>
      </p:sp>
      <p:sp>
        <p:nvSpPr>
          <p:cNvPr id="102" name="WordArt 10">
            <a:extLst>
              <a:ext uri="{FF2B5EF4-FFF2-40B4-BE49-F238E27FC236}">
                <a16:creationId xmlns:a16="http://schemas.microsoft.com/office/drawing/2014/main" id="{DA926F40-94F6-4F43-991A-77564083A792}"/>
              </a:ext>
            </a:extLst>
          </p:cNvPr>
          <p:cNvSpPr>
            <a:spLocks noChangeArrowheads="1" noChangeShapeType="1" noTextEdit="1"/>
          </p:cNvSpPr>
          <p:nvPr/>
        </p:nvSpPr>
        <p:spPr bwMode="auto">
          <a:xfrm>
            <a:off x="7845949" y="3902499"/>
            <a:ext cx="3346795" cy="800943"/>
          </a:xfrm>
          <a:prstGeom prst="rect">
            <a:avLst/>
          </a:prstGeom>
        </p:spPr>
        <p:txBody>
          <a:bodyPr spcFirstLastPara="1" wrap="none" fromWordArt="1">
            <a:prstTxWarp prst="textArchUp">
              <a:avLst>
                <a:gd name="adj" fmla="val 10800003"/>
              </a:avLst>
            </a:prstTxWarp>
          </a:bodyPr>
          <a:lstStyle/>
          <a:p>
            <a:r>
              <a:rPr lang="en-US" sz="1100" kern="10" dirty="0">
                <a:ln w="0"/>
                <a:effectLst>
                  <a:outerShdw blurRad="38100" dist="19050" dir="2700000" algn="tl" rotWithShape="0">
                    <a:schemeClr val="dk1">
                      <a:alpha val="40000"/>
                    </a:schemeClr>
                  </a:outerShdw>
                </a:effectLst>
                <a:latin typeface="Arial Black"/>
              </a:rPr>
              <a:t>Perimeter Security</a:t>
            </a:r>
          </a:p>
        </p:txBody>
      </p:sp>
      <p:sp>
        <p:nvSpPr>
          <p:cNvPr id="103" name="WordArt 10">
            <a:extLst>
              <a:ext uri="{FF2B5EF4-FFF2-40B4-BE49-F238E27FC236}">
                <a16:creationId xmlns:a16="http://schemas.microsoft.com/office/drawing/2014/main" id="{0FBEB8EE-64F4-44B0-9784-C086739D505C}"/>
              </a:ext>
            </a:extLst>
          </p:cNvPr>
          <p:cNvSpPr>
            <a:spLocks noChangeArrowheads="1" noChangeShapeType="1" noTextEdit="1"/>
          </p:cNvSpPr>
          <p:nvPr/>
        </p:nvSpPr>
        <p:spPr bwMode="auto">
          <a:xfrm>
            <a:off x="8010247" y="4999466"/>
            <a:ext cx="3097533" cy="494253"/>
          </a:xfrm>
          <a:prstGeom prst="rect">
            <a:avLst/>
          </a:prstGeom>
        </p:spPr>
        <p:txBody>
          <a:bodyPr spcFirstLastPara="1" wrap="none" fromWordArt="1">
            <a:prstTxWarp prst="textArchUp">
              <a:avLst>
                <a:gd name="adj" fmla="val 10800003"/>
              </a:avLst>
            </a:prstTxWarp>
          </a:bodyPr>
          <a:lstStyle/>
          <a:p>
            <a:r>
              <a:rPr lang="en-US" sz="1100" kern="10" dirty="0">
                <a:ln w="0"/>
                <a:effectLst>
                  <a:outerShdw blurRad="38100" dist="19050" dir="2700000" algn="tl" rotWithShape="0">
                    <a:schemeClr val="dk1">
                      <a:alpha val="40000"/>
                    </a:schemeClr>
                  </a:outerShdw>
                </a:effectLst>
                <a:latin typeface="Arial Black"/>
              </a:rPr>
              <a:t>Network Security</a:t>
            </a:r>
          </a:p>
        </p:txBody>
      </p:sp>
      <p:sp>
        <p:nvSpPr>
          <p:cNvPr id="104" name="WordArt 10">
            <a:extLst>
              <a:ext uri="{FF2B5EF4-FFF2-40B4-BE49-F238E27FC236}">
                <a16:creationId xmlns:a16="http://schemas.microsoft.com/office/drawing/2014/main" id="{5A8371FF-204D-4B5F-95E8-C7EE86C4D4B3}"/>
              </a:ext>
            </a:extLst>
          </p:cNvPr>
          <p:cNvSpPr>
            <a:spLocks noChangeArrowheads="1" noChangeShapeType="1" noTextEdit="1"/>
          </p:cNvSpPr>
          <p:nvPr/>
        </p:nvSpPr>
        <p:spPr bwMode="auto">
          <a:xfrm>
            <a:off x="8161856" y="5874219"/>
            <a:ext cx="2743263" cy="762420"/>
          </a:xfrm>
          <a:prstGeom prst="rect">
            <a:avLst/>
          </a:prstGeom>
        </p:spPr>
        <p:txBody>
          <a:bodyPr spcFirstLastPara="1" wrap="none" fromWordArt="1">
            <a:prstTxWarp prst="textArchUp">
              <a:avLst>
                <a:gd name="adj" fmla="val 10800003"/>
              </a:avLst>
            </a:prstTxWarp>
          </a:bodyPr>
          <a:lstStyle/>
          <a:p>
            <a:r>
              <a:rPr lang="en-US" sz="1100" kern="10" dirty="0">
                <a:ln w="0"/>
                <a:effectLst>
                  <a:outerShdw blurRad="38100" dist="19050" dir="2700000" algn="tl" rotWithShape="0">
                    <a:schemeClr val="dk1">
                      <a:alpha val="40000"/>
                    </a:schemeClr>
                  </a:outerShdw>
                </a:effectLst>
                <a:latin typeface="Arial Black"/>
              </a:rPr>
              <a:t>Endpoint Security</a:t>
            </a:r>
          </a:p>
        </p:txBody>
      </p:sp>
      <p:sp>
        <p:nvSpPr>
          <p:cNvPr id="105" name="WordArt 10">
            <a:extLst>
              <a:ext uri="{FF2B5EF4-FFF2-40B4-BE49-F238E27FC236}">
                <a16:creationId xmlns:a16="http://schemas.microsoft.com/office/drawing/2014/main" id="{F0669EF5-722A-42DC-BB85-B7F972B1E6FB}"/>
              </a:ext>
            </a:extLst>
          </p:cNvPr>
          <p:cNvSpPr>
            <a:spLocks noChangeArrowheads="1" noChangeShapeType="1" noTextEdit="1"/>
          </p:cNvSpPr>
          <p:nvPr/>
        </p:nvSpPr>
        <p:spPr bwMode="auto">
          <a:xfrm>
            <a:off x="8048594" y="6760264"/>
            <a:ext cx="2947628" cy="1024876"/>
          </a:xfrm>
          <a:prstGeom prst="rect">
            <a:avLst/>
          </a:prstGeom>
        </p:spPr>
        <p:txBody>
          <a:bodyPr spcFirstLastPara="1" wrap="none" fromWordArt="1">
            <a:prstTxWarp prst="textArchUp">
              <a:avLst>
                <a:gd name="adj" fmla="val 10800003"/>
              </a:avLst>
            </a:prstTxWarp>
          </a:bodyPr>
          <a:lstStyle/>
          <a:p>
            <a:r>
              <a:rPr lang="en-US" sz="1100" kern="10" dirty="0">
                <a:ln w="0"/>
                <a:effectLst>
                  <a:outerShdw blurRad="38100" dist="19050" dir="2700000" algn="tl" rotWithShape="0">
                    <a:schemeClr val="dk1">
                      <a:alpha val="40000"/>
                    </a:schemeClr>
                  </a:outerShdw>
                </a:effectLst>
                <a:latin typeface="Arial Black"/>
              </a:rPr>
              <a:t>Application Security</a:t>
            </a:r>
          </a:p>
        </p:txBody>
      </p:sp>
      <p:sp>
        <p:nvSpPr>
          <p:cNvPr id="106" name="WordArt 10">
            <a:extLst>
              <a:ext uri="{FF2B5EF4-FFF2-40B4-BE49-F238E27FC236}">
                <a16:creationId xmlns:a16="http://schemas.microsoft.com/office/drawing/2014/main" id="{84F46B13-0EA8-4AE6-AC82-0B8C4813C91A}"/>
              </a:ext>
            </a:extLst>
          </p:cNvPr>
          <p:cNvSpPr>
            <a:spLocks noChangeArrowheads="1" noChangeShapeType="1" noTextEdit="1"/>
          </p:cNvSpPr>
          <p:nvPr/>
        </p:nvSpPr>
        <p:spPr bwMode="auto">
          <a:xfrm>
            <a:off x="8257502" y="7885590"/>
            <a:ext cx="2407639" cy="621539"/>
          </a:xfrm>
          <a:prstGeom prst="rect">
            <a:avLst/>
          </a:prstGeom>
        </p:spPr>
        <p:txBody>
          <a:bodyPr spcFirstLastPara="1" wrap="none" fromWordArt="1">
            <a:prstTxWarp prst="textArchUp">
              <a:avLst>
                <a:gd name="adj" fmla="val 10800003"/>
              </a:avLst>
            </a:prstTxWarp>
          </a:bodyPr>
          <a:lstStyle/>
          <a:p>
            <a:r>
              <a:rPr lang="en-US" sz="1100" kern="10" dirty="0">
                <a:ln w="0"/>
                <a:latin typeface="Arial Black" panose="020B0A04020102020204" pitchFamily="34" charset="0"/>
              </a:rPr>
              <a:t>Data Security</a:t>
            </a:r>
          </a:p>
        </p:txBody>
      </p:sp>
      <p:sp>
        <p:nvSpPr>
          <p:cNvPr id="107" name="TextBox 106">
            <a:extLst>
              <a:ext uri="{FF2B5EF4-FFF2-40B4-BE49-F238E27FC236}">
                <a16:creationId xmlns:a16="http://schemas.microsoft.com/office/drawing/2014/main" id="{90863A99-1F02-46DC-AE3C-754A6CD21940}"/>
              </a:ext>
            </a:extLst>
          </p:cNvPr>
          <p:cNvSpPr txBox="1"/>
          <p:nvPr/>
        </p:nvSpPr>
        <p:spPr>
          <a:xfrm>
            <a:off x="3606345" y="9705361"/>
            <a:ext cx="1016335" cy="261610"/>
          </a:xfrm>
          <a:prstGeom prst="rect">
            <a:avLst/>
          </a:prstGeom>
          <a:noFill/>
        </p:spPr>
        <p:txBody>
          <a:bodyPr wrap="square" rtlCol="0">
            <a:spAutoFit/>
          </a:bodyPr>
          <a:lstStyle/>
          <a:p>
            <a:pPr algn="ctr"/>
            <a:r>
              <a:rPr lang="en-US" sz="1100" b="1" dirty="0"/>
              <a:t>PCI-DSS </a:t>
            </a:r>
          </a:p>
        </p:txBody>
      </p:sp>
      <p:sp>
        <p:nvSpPr>
          <p:cNvPr id="108" name="TextBox 107">
            <a:extLst>
              <a:ext uri="{FF2B5EF4-FFF2-40B4-BE49-F238E27FC236}">
                <a16:creationId xmlns:a16="http://schemas.microsoft.com/office/drawing/2014/main" id="{F1DE80FF-69DF-416D-BFD6-1BB2F2B0D45E}"/>
              </a:ext>
            </a:extLst>
          </p:cNvPr>
          <p:cNvSpPr txBox="1"/>
          <p:nvPr/>
        </p:nvSpPr>
        <p:spPr>
          <a:xfrm>
            <a:off x="12700441" y="6935525"/>
            <a:ext cx="1016335" cy="430887"/>
          </a:xfrm>
          <a:prstGeom prst="rect">
            <a:avLst/>
          </a:prstGeom>
          <a:noFill/>
        </p:spPr>
        <p:txBody>
          <a:bodyPr wrap="square" rtlCol="0">
            <a:spAutoFit/>
          </a:bodyPr>
          <a:lstStyle/>
          <a:p>
            <a:pPr algn="ctr"/>
            <a:r>
              <a:rPr lang="en-US" sz="1100" b="1" dirty="0"/>
              <a:t>Network Sandboxing </a:t>
            </a:r>
          </a:p>
        </p:txBody>
      </p:sp>
      <p:sp>
        <p:nvSpPr>
          <p:cNvPr id="109" name="TextBox 108">
            <a:extLst>
              <a:ext uri="{FF2B5EF4-FFF2-40B4-BE49-F238E27FC236}">
                <a16:creationId xmlns:a16="http://schemas.microsoft.com/office/drawing/2014/main" id="{38354B8D-1988-47E1-A57B-F3DEF71C95E5}"/>
              </a:ext>
            </a:extLst>
          </p:cNvPr>
          <p:cNvSpPr txBox="1"/>
          <p:nvPr/>
        </p:nvSpPr>
        <p:spPr>
          <a:xfrm>
            <a:off x="11745565" y="7267146"/>
            <a:ext cx="1187102" cy="430887"/>
          </a:xfrm>
          <a:prstGeom prst="rect">
            <a:avLst/>
          </a:prstGeom>
          <a:noFill/>
        </p:spPr>
        <p:txBody>
          <a:bodyPr wrap="square" rtlCol="0">
            <a:spAutoFit/>
          </a:bodyPr>
          <a:lstStyle/>
          <a:p>
            <a:pPr algn="ctr"/>
            <a:r>
              <a:rPr lang="en-US" sz="1100" b="1" dirty="0"/>
              <a:t>File Integrity Monitoring</a:t>
            </a:r>
          </a:p>
        </p:txBody>
      </p:sp>
      <p:sp>
        <p:nvSpPr>
          <p:cNvPr id="110" name="TextBox 109">
            <a:extLst>
              <a:ext uri="{FF2B5EF4-FFF2-40B4-BE49-F238E27FC236}">
                <a16:creationId xmlns:a16="http://schemas.microsoft.com/office/drawing/2014/main" id="{CDA35FD2-ACE7-4675-A27D-94B1736AEAC9}"/>
              </a:ext>
            </a:extLst>
          </p:cNvPr>
          <p:cNvSpPr txBox="1"/>
          <p:nvPr/>
        </p:nvSpPr>
        <p:spPr>
          <a:xfrm>
            <a:off x="12743235" y="5614075"/>
            <a:ext cx="1200711" cy="430887"/>
          </a:xfrm>
          <a:prstGeom prst="rect">
            <a:avLst/>
          </a:prstGeom>
          <a:noFill/>
        </p:spPr>
        <p:txBody>
          <a:bodyPr wrap="square" rtlCol="0">
            <a:spAutoFit/>
          </a:bodyPr>
          <a:lstStyle/>
          <a:p>
            <a:pPr algn="ctr"/>
            <a:r>
              <a:rPr lang="en-US" sz="1100" b="1" dirty="0"/>
              <a:t>Multi Factor Authentication</a:t>
            </a:r>
          </a:p>
        </p:txBody>
      </p:sp>
      <p:sp>
        <p:nvSpPr>
          <p:cNvPr id="111" name="TextBox 110">
            <a:extLst>
              <a:ext uri="{FF2B5EF4-FFF2-40B4-BE49-F238E27FC236}">
                <a16:creationId xmlns:a16="http://schemas.microsoft.com/office/drawing/2014/main" id="{B2F462BA-1520-4255-8783-A16B34C7473E}"/>
              </a:ext>
            </a:extLst>
          </p:cNvPr>
          <p:cNvSpPr txBox="1"/>
          <p:nvPr/>
        </p:nvSpPr>
        <p:spPr>
          <a:xfrm>
            <a:off x="6140274" y="9074080"/>
            <a:ext cx="1661310" cy="600164"/>
          </a:xfrm>
          <a:prstGeom prst="rect">
            <a:avLst/>
          </a:prstGeom>
          <a:noFill/>
        </p:spPr>
        <p:txBody>
          <a:bodyPr wrap="square" rtlCol="0">
            <a:spAutoFit/>
          </a:bodyPr>
          <a:lstStyle/>
          <a:p>
            <a:pPr algn="ctr"/>
            <a:r>
              <a:rPr lang="en-US" sz="1100" b="1" dirty="0"/>
              <a:t>Regulatory Compliance (ETGRMF)</a:t>
            </a:r>
          </a:p>
        </p:txBody>
      </p:sp>
      <p:sp>
        <p:nvSpPr>
          <p:cNvPr id="112" name="TextBox 111">
            <a:extLst>
              <a:ext uri="{FF2B5EF4-FFF2-40B4-BE49-F238E27FC236}">
                <a16:creationId xmlns:a16="http://schemas.microsoft.com/office/drawing/2014/main" id="{15960B62-31D2-45A4-B314-F3D8B6014D98}"/>
              </a:ext>
            </a:extLst>
          </p:cNvPr>
          <p:cNvSpPr txBox="1"/>
          <p:nvPr/>
        </p:nvSpPr>
        <p:spPr>
          <a:xfrm>
            <a:off x="6275983" y="9778346"/>
            <a:ext cx="1764762" cy="430887"/>
          </a:xfrm>
          <a:prstGeom prst="rect">
            <a:avLst/>
          </a:prstGeom>
          <a:noFill/>
        </p:spPr>
        <p:txBody>
          <a:bodyPr wrap="square" rtlCol="0">
            <a:spAutoFit/>
          </a:bodyPr>
          <a:lstStyle/>
          <a:p>
            <a:pPr algn="ctr"/>
            <a:r>
              <a:rPr lang="en-US" sz="1100" b="1" dirty="0"/>
              <a:t>Payment Card / Internet  Security Framework </a:t>
            </a:r>
          </a:p>
        </p:txBody>
      </p:sp>
      <p:sp>
        <p:nvSpPr>
          <p:cNvPr id="113" name="TextBox 112">
            <a:extLst>
              <a:ext uri="{FF2B5EF4-FFF2-40B4-BE49-F238E27FC236}">
                <a16:creationId xmlns:a16="http://schemas.microsoft.com/office/drawing/2014/main" id="{A0D81785-56C5-468B-8D57-E7333CBF399A}"/>
              </a:ext>
            </a:extLst>
          </p:cNvPr>
          <p:cNvSpPr txBox="1"/>
          <p:nvPr/>
        </p:nvSpPr>
        <p:spPr>
          <a:xfrm>
            <a:off x="9155284" y="6073448"/>
            <a:ext cx="1526888" cy="430887"/>
          </a:xfrm>
          <a:prstGeom prst="rect">
            <a:avLst/>
          </a:prstGeom>
          <a:noFill/>
        </p:spPr>
        <p:txBody>
          <a:bodyPr wrap="square" rtlCol="0">
            <a:spAutoFit/>
          </a:bodyPr>
          <a:lstStyle/>
          <a:p>
            <a:pPr algn="ctr"/>
            <a:r>
              <a:rPr lang="en-US" sz="1100" b="1" dirty="0"/>
              <a:t>Endpoint Detection &amp; Response</a:t>
            </a:r>
          </a:p>
        </p:txBody>
      </p:sp>
      <p:sp>
        <p:nvSpPr>
          <p:cNvPr id="114" name="TextBox 113">
            <a:extLst>
              <a:ext uri="{FF2B5EF4-FFF2-40B4-BE49-F238E27FC236}">
                <a16:creationId xmlns:a16="http://schemas.microsoft.com/office/drawing/2014/main" id="{A2BB4BFA-B1D1-4FF7-9510-0C1CC4FF794F}"/>
              </a:ext>
            </a:extLst>
          </p:cNvPr>
          <p:cNvSpPr txBox="1"/>
          <p:nvPr/>
        </p:nvSpPr>
        <p:spPr>
          <a:xfrm>
            <a:off x="12451150" y="9375879"/>
            <a:ext cx="1534117" cy="430887"/>
          </a:xfrm>
          <a:prstGeom prst="rect">
            <a:avLst/>
          </a:prstGeom>
          <a:noFill/>
        </p:spPr>
        <p:txBody>
          <a:bodyPr wrap="square" rtlCol="0">
            <a:spAutoFit/>
          </a:bodyPr>
          <a:lstStyle/>
          <a:p>
            <a:pPr algn="ctr"/>
            <a:r>
              <a:rPr lang="en-US" sz="1100" b="1" dirty="0"/>
              <a:t>Incident Response platform</a:t>
            </a:r>
          </a:p>
        </p:txBody>
      </p:sp>
    </p:spTree>
    <p:extLst>
      <p:ext uri="{BB962C8B-B14F-4D97-AF65-F5344CB8AC3E}">
        <p14:creationId xmlns:p14="http://schemas.microsoft.com/office/powerpoint/2010/main" val="339804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500"/>
                                        <p:tgtEl>
                                          <p:spTgt spid="5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fade">
                                      <p:cBhvr>
                                        <p:cTn id="23" dur="500"/>
                                        <p:tgtEl>
                                          <p:spTgt spid="6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62"/>
                                        </p:tgtEl>
                                        <p:attrNameLst>
                                          <p:attrName>style.visibility</p:attrName>
                                        </p:attrNameLst>
                                      </p:cBhvr>
                                      <p:to>
                                        <p:strVal val="visible"/>
                                      </p:to>
                                    </p:set>
                                    <p:animEffect transition="in" filter="fade">
                                      <p:cBhvr>
                                        <p:cTn id="31" dur="500"/>
                                        <p:tgtEl>
                                          <p:spTgt spid="62"/>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500"/>
                                        <p:tgtEl>
                                          <p:spTgt spid="63"/>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64"/>
                                        </p:tgtEl>
                                        <p:attrNameLst>
                                          <p:attrName>style.visibility</p:attrName>
                                        </p:attrNameLst>
                                      </p:cBhvr>
                                      <p:to>
                                        <p:strVal val="visible"/>
                                      </p:to>
                                    </p:set>
                                    <p:animEffect transition="in" filter="fade">
                                      <p:cBhvr>
                                        <p:cTn id="39" dur="500"/>
                                        <p:tgtEl>
                                          <p:spTgt spid="64"/>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fade">
                                      <p:cBhvr>
                                        <p:cTn id="43" dur="500"/>
                                        <p:tgtEl>
                                          <p:spTgt spid="65"/>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fade">
                                      <p:cBhvr>
                                        <p:cTn id="47" dur="500"/>
                                        <p:tgtEl>
                                          <p:spTgt spid="66"/>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500"/>
                                        <p:tgtEl>
                                          <p:spTgt spid="67"/>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68"/>
                                        </p:tgtEl>
                                        <p:attrNameLst>
                                          <p:attrName>style.visibility</p:attrName>
                                        </p:attrNameLst>
                                      </p:cBhvr>
                                      <p:to>
                                        <p:strVal val="visible"/>
                                      </p:to>
                                    </p:set>
                                    <p:animEffect transition="in" filter="fade">
                                      <p:cBhvr>
                                        <p:cTn id="55" dur="500"/>
                                        <p:tgtEl>
                                          <p:spTgt spid="68"/>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69"/>
                                        </p:tgtEl>
                                        <p:attrNameLst>
                                          <p:attrName>style.visibility</p:attrName>
                                        </p:attrNameLst>
                                      </p:cBhvr>
                                      <p:to>
                                        <p:strVal val="visible"/>
                                      </p:to>
                                    </p:set>
                                    <p:animEffect transition="in" filter="fade">
                                      <p:cBhvr>
                                        <p:cTn id="59" dur="500"/>
                                        <p:tgtEl>
                                          <p:spTgt spid="69"/>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70"/>
                                        </p:tgtEl>
                                        <p:attrNameLst>
                                          <p:attrName>style.visibility</p:attrName>
                                        </p:attrNameLst>
                                      </p:cBhvr>
                                      <p:to>
                                        <p:strVal val="visible"/>
                                      </p:to>
                                    </p:set>
                                    <p:animEffect transition="in" filter="fade">
                                      <p:cBhvr>
                                        <p:cTn id="63" dur="500"/>
                                        <p:tgtEl>
                                          <p:spTgt spid="70"/>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71"/>
                                        </p:tgtEl>
                                        <p:attrNameLst>
                                          <p:attrName>style.visibility</p:attrName>
                                        </p:attrNameLst>
                                      </p:cBhvr>
                                      <p:to>
                                        <p:strVal val="visible"/>
                                      </p:to>
                                    </p:set>
                                    <p:animEffect transition="in" filter="fade">
                                      <p:cBhvr>
                                        <p:cTn id="67" dur="500"/>
                                        <p:tgtEl>
                                          <p:spTgt spid="71"/>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77"/>
                                        </p:tgtEl>
                                        <p:attrNameLst>
                                          <p:attrName>style.visibility</p:attrName>
                                        </p:attrNameLst>
                                      </p:cBhvr>
                                      <p:to>
                                        <p:strVal val="visible"/>
                                      </p:to>
                                    </p:set>
                                    <p:animEffect transition="in" filter="fade">
                                      <p:cBhvr>
                                        <p:cTn id="71" dur="500"/>
                                        <p:tgtEl>
                                          <p:spTgt spid="77"/>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78"/>
                                        </p:tgtEl>
                                        <p:attrNameLst>
                                          <p:attrName>style.visibility</p:attrName>
                                        </p:attrNameLst>
                                      </p:cBhvr>
                                      <p:to>
                                        <p:strVal val="visible"/>
                                      </p:to>
                                    </p:set>
                                    <p:animEffect transition="in" filter="fade">
                                      <p:cBhvr>
                                        <p:cTn id="75" dur="500"/>
                                        <p:tgtEl>
                                          <p:spTgt spid="78"/>
                                        </p:tgtEl>
                                      </p:cBhvr>
                                    </p:animEffect>
                                  </p:childTnLst>
                                </p:cTn>
                              </p:par>
                            </p:childTnLst>
                          </p:cTn>
                        </p:par>
                        <p:par>
                          <p:cTn id="76" fill="hold">
                            <p:stCondLst>
                              <p:cond delay="9000"/>
                            </p:stCondLst>
                            <p:childTnLst>
                              <p:par>
                                <p:cTn id="77" presetID="10" presetClass="entr" presetSubtype="0" fill="hold" grpId="0" nodeType="afterEffect">
                                  <p:stCondLst>
                                    <p:cond delay="0"/>
                                  </p:stCondLst>
                                  <p:childTnLst>
                                    <p:set>
                                      <p:cBhvr>
                                        <p:cTn id="78" dur="1" fill="hold">
                                          <p:stCondLst>
                                            <p:cond delay="0"/>
                                          </p:stCondLst>
                                        </p:cTn>
                                        <p:tgtEl>
                                          <p:spTgt spid="79"/>
                                        </p:tgtEl>
                                        <p:attrNameLst>
                                          <p:attrName>style.visibility</p:attrName>
                                        </p:attrNameLst>
                                      </p:cBhvr>
                                      <p:to>
                                        <p:strVal val="visible"/>
                                      </p:to>
                                    </p:set>
                                    <p:animEffect transition="in" filter="fade">
                                      <p:cBhvr>
                                        <p:cTn id="79" dur="500"/>
                                        <p:tgtEl>
                                          <p:spTgt spid="79"/>
                                        </p:tgtEl>
                                      </p:cBhvr>
                                    </p:animEffect>
                                  </p:childTnLst>
                                </p:cTn>
                              </p:par>
                            </p:childTnLst>
                          </p:cTn>
                        </p:par>
                        <p:par>
                          <p:cTn id="80" fill="hold">
                            <p:stCondLst>
                              <p:cond delay="9500"/>
                            </p:stCondLst>
                            <p:childTnLst>
                              <p:par>
                                <p:cTn id="81" presetID="10" presetClass="entr" presetSubtype="0" fill="hold" nodeType="after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500"/>
                                        <p:tgtEl>
                                          <p:spTgt spid="47"/>
                                        </p:tgtEl>
                                      </p:cBhvr>
                                    </p:animEffect>
                                  </p:childTnLst>
                                </p:cTn>
                              </p:par>
                            </p:childTnLst>
                          </p:cTn>
                        </p:par>
                        <p:par>
                          <p:cTn id="84" fill="hold">
                            <p:stCondLst>
                              <p:cond delay="10000"/>
                            </p:stCondLst>
                            <p:childTnLst>
                              <p:par>
                                <p:cTn id="85" presetID="10" presetClass="entr" presetSubtype="0" fill="hold" grpId="0" nodeType="afterEffect">
                                  <p:stCondLst>
                                    <p:cond delay="0"/>
                                  </p:stCondLst>
                                  <p:childTnLst>
                                    <p:set>
                                      <p:cBhvr>
                                        <p:cTn id="86" dur="1" fill="hold">
                                          <p:stCondLst>
                                            <p:cond delay="0"/>
                                          </p:stCondLst>
                                        </p:cTn>
                                        <p:tgtEl>
                                          <p:spTgt spid="106"/>
                                        </p:tgtEl>
                                        <p:attrNameLst>
                                          <p:attrName>style.visibility</p:attrName>
                                        </p:attrNameLst>
                                      </p:cBhvr>
                                      <p:to>
                                        <p:strVal val="visible"/>
                                      </p:to>
                                    </p:set>
                                    <p:animEffect transition="in" filter="fade">
                                      <p:cBhvr>
                                        <p:cTn id="87" dur="500"/>
                                        <p:tgtEl>
                                          <p:spTgt spid="106"/>
                                        </p:tgtEl>
                                      </p:cBhvr>
                                    </p:animEffect>
                                  </p:childTnLst>
                                </p:cTn>
                              </p:par>
                            </p:childTnLst>
                          </p:cTn>
                        </p:par>
                        <p:par>
                          <p:cTn id="88" fill="hold">
                            <p:stCondLst>
                              <p:cond delay="10500"/>
                            </p:stCondLst>
                            <p:childTnLst>
                              <p:par>
                                <p:cTn id="89" presetID="10" presetClass="entr" presetSubtype="0" fill="hold" grpId="0" nodeType="afterEffect">
                                  <p:stCondLst>
                                    <p:cond delay="0"/>
                                  </p:stCondLst>
                                  <p:childTnLst>
                                    <p:set>
                                      <p:cBhvr>
                                        <p:cTn id="90" dur="1" fill="hold">
                                          <p:stCondLst>
                                            <p:cond delay="0"/>
                                          </p:stCondLst>
                                        </p:cTn>
                                        <p:tgtEl>
                                          <p:spTgt spid="99"/>
                                        </p:tgtEl>
                                        <p:attrNameLst>
                                          <p:attrName>style.visibility</p:attrName>
                                        </p:attrNameLst>
                                      </p:cBhvr>
                                      <p:to>
                                        <p:strVal val="visible"/>
                                      </p:to>
                                    </p:set>
                                    <p:animEffect transition="in" filter="fade">
                                      <p:cBhvr>
                                        <p:cTn id="91" dur="500"/>
                                        <p:tgtEl>
                                          <p:spTgt spid="99"/>
                                        </p:tgtEl>
                                      </p:cBhvr>
                                    </p:animEffect>
                                  </p:childTnLst>
                                </p:cTn>
                              </p:par>
                            </p:childTnLst>
                          </p:cTn>
                        </p:par>
                        <p:par>
                          <p:cTn id="92" fill="hold">
                            <p:stCondLst>
                              <p:cond delay="11000"/>
                            </p:stCondLst>
                            <p:childTnLst>
                              <p:par>
                                <p:cTn id="93" presetID="10" presetClass="entr" presetSubtype="0" fill="hold" grpId="0" nodeType="afterEffect">
                                  <p:stCondLst>
                                    <p:cond delay="0"/>
                                  </p:stCondLst>
                                  <p:childTnLst>
                                    <p:set>
                                      <p:cBhvr>
                                        <p:cTn id="94" dur="1" fill="hold">
                                          <p:stCondLst>
                                            <p:cond delay="0"/>
                                          </p:stCondLst>
                                        </p:cTn>
                                        <p:tgtEl>
                                          <p:spTgt spid="100"/>
                                        </p:tgtEl>
                                        <p:attrNameLst>
                                          <p:attrName>style.visibility</p:attrName>
                                        </p:attrNameLst>
                                      </p:cBhvr>
                                      <p:to>
                                        <p:strVal val="visible"/>
                                      </p:to>
                                    </p:set>
                                    <p:animEffect transition="in" filter="fade">
                                      <p:cBhvr>
                                        <p:cTn id="95" dur="500"/>
                                        <p:tgtEl>
                                          <p:spTgt spid="100"/>
                                        </p:tgtEl>
                                      </p:cBhvr>
                                    </p:animEffect>
                                  </p:childTnLst>
                                </p:cTn>
                              </p:par>
                            </p:childTnLst>
                          </p:cTn>
                        </p:par>
                        <p:par>
                          <p:cTn id="96" fill="hold">
                            <p:stCondLst>
                              <p:cond delay="11500"/>
                            </p:stCondLst>
                            <p:childTnLst>
                              <p:par>
                                <p:cTn id="97" presetID="10" presetClass="entr" presetSubtype="0" fill="hold" grpId="0" nodeType="afterEffect">
                                  <p:stCondLst>
                                    <p:cond delay="0"/>
                                  </p:stCondLst>
                                  <p:childTnLst>
                                    <p:set>
                                      <p:cBhvr>
                                        <p:cTn id="98" dur="1" fill="hold">
                                          <p:stCondLst>
                                            <p:cond delay="0"/>
                                          </p:stCondLst>
                                        </p:cTn>
                                        <p:tgtEl>
                                          <p:spTgt spid="101"/>
                                        </p:tgtEl>
                                        <p:attrNameLst>
                                          <p:attrName>style.visibility</p:attrName>
                                        </p:attrNameLst>
                                      </p:cBhvr>
                                      <p:to>
                                        <p:strVal val="visible"/>
                                      </p:to>
                                    </p:set>
                                    <p:animEffect transition="in" filter="fade">
                                      <p:cBhvr>
                                        <p:cTn id="99" dur="500"/>
                                        <p:tgtEl>
                                          <p:spTgt spid="101"/>
                                        </p:tgtEl>
                                      </p:cBhvr>
                                    </p:animEffect>
                                  </p:childTnLst>
                                </p:cTn>
                              </p:par>
                            </p:childTnLst>
                          </p:cTn>
                        </p:par>
                        <p:par>
                          <p:cTn id="100" fill="hold">
                            <p:stCondLst>
                              <p:cond delay="12000"/>
                            </p:stCondLst>
                            <p:childTnLst>
                              <p:par>
                                <p:cTn id="101" presetID="10" presetClass="entr" presetSubtype="0" fill="hold" nodeType="after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500"/>
                                        <p:tgtEl>
                                          <p:spTgt spid="46"/>
                                        </p:tgtEl>
                                      </p:cBhvr>
                                    </p:animEffect>
                                  </p:childTnLst>
                                </p:cTn>
                              </p:par>
                            </p:childTnLst>
                          </p:cTn>
                        </p:par>
                        <p:par>
                          <p:cTn id="104" fill="hold">
                            <p:stCondLst>
                              <p:cond delay="12500"/>
                            </p:stCondLst>
                            <p:childTnLst>
                              <p:par>
                                <p:cTn id="105" presetID="10" presetClass="entr" presetSubtype="0" fill="hold" grpId="0" nodeType="afterEffect">
                                  <p:stCondLst>
                                    <p:cond delay="0"/>
                                  </p:stCondLst>
                                  <p:childTnLst>
                                    <p:set>
                                      <p:cBhvr>
                                        <p:cTn id="106" dur="1" fill="hold">
                                          <p:stCondLst>
                                            <p:cond delay="0"/>
                                          </p:stCondLst>
                                        </p:cTn>
                                        <p:tgtEl>
                                          <p:spTgt spid="105"/>
                                        </p:tgtEl>
                                        <p:attrNameLst>
                                          <p:attrName>style.visibility</p:attrName>
                                        </p:attrNameLst>
                                      </p:cBhvr>
                                      <p:to>
                                        <p:strVal val="visible"/>
                                      </p:to>
                                    </p:set>
                                    <p:animEffect transition="in" filter="fade">
                                      <p:cBhvr>
                                        <p:cTn id="107" dur="500"/>
                                        <p:tgtEl>
                                          <p:spTgt spid="105"/>
                                        </p:tgtEl>
                                      </p:cBhvr>
                                    </p:animEffect>
                                  </p:childTnLst>
                                </p:cTn>
                              </p:par>
                            </p:childTnLst>
                          </p:cTn>
                        </p:par>
                        <p:par>
                          <p:cTn id="108" fill="hold">
                            <p:stCondLst>
                              <p:cond delay="13000"/>
                            </p:stCondLst>
                            <p:childTnLst>
                              <p:par>
                                <p:cTn id="109" presetID="10" presetClass="entr" presetSubtype="0" fill="hold" grpId="0" nodeType="afterEffect">
                                  <p:stCondLst>
                                    <p:cond delay="0"/>
                                  </p:stCondLst>
                                  <p:childTnLst>
                                    <p:set>
                                      <p:cBhvr>
                                        <p:cTn id="110" dur="1" fill="hold">
                                          <p:stCondLst>
                                            <p:cond delay="0"/>
                                          </p:stCondLst>
                                        </p:cTn>
                                        <p:tgtEl>
                                          <p:spTgt spid="96"/>
                                        </p:tgtEl>
                                        <p:attrNameLst>
                                          <p:attrName>style.visibility</p:attrName>
                                        </p:attrNameLst>
                                      </p:cBhvr>
                                      <p:to>
                                        <p:strVal val="visible"/>
                                      </p:to>
                                    </p:set>
                                    <p:animEffect transition="in" filter="fade">
                                      <p:cBhvr>
                                        <p:cTn id="111" dur="500"/>
                                        <p:tgtEl>
                                          <p:spTgt spid="96"/>
                                        </p:tgtEl>
                                      </p:cBhvr>
                                    </p:animEffect>
                                  </p:childTnLst>
                                </p:cTn>
                              </p:par>
                            </p:childTnLst>
                          </p:cTn>
                        </p:par>
                        <p:par>
                          <p:cTn id="112" fill="hold">
                            <p:stCondLst>
                              <p:cond delay="13500"/>
                            </p:stCondLst>
                            <p:childTnLst>
                              <p:par>
                                <p:cTn id="113" presetID="10" presetClass="entr" presetSubtype="0" fill="hold" grpId="0" nodeType="afterEffect">
                                  <p:stCondLst>
                                    <p:cond delay="0"/>
                                  </p:stCondLst>
                                  <p:childTnLst>
                                    <p:set>
                                      <p:cBhvr>
                                        <p:cTn id="114" dur="1" fill="hold">
                                          <p:stCondLst>
                                            <p:cond delay="0"/>
                                          </p:stCondLst>
                                        </p:cTn>
                                        <p:tgtEl>
                                          <p:spTgt spid="97"/>
                                        </p:tgtEl>
                                        <p:attrNameLst>
                                          <p:attrName>style.visibility</p:attrName>
                                        </p:attrNameLst>
                                      </p:cBhvr>
                                      <p:to>
                                        <p:strVal val="visible"/>
                                      </p:to>
                                    </p:set>
                                    <p:animEffect transition="in" filter="fade">
                                      <p:cBhvr>
                                        <p:cTn id="115" dur="500"/>
                                        <p:tgtEl>
                                          <p:spTgt spid="97"/>
                                        </p:tgtEl>
                                      </p:cBhvr>
                                    </p:animEffect>
                                  </p:childTnLst>
                                </p:cTn>
                              </p:par>
                            </p:childTnLst>
                          </p:cTn>
                        </p:par>
                        <p:par>
                          <p:cTn id="116" fill="hold">
                            <p:stCondLst>
                              <p:cond delay="14000"/>
                            </p:stCondLst>
                            <p:childTnLst>
                              <p:par>
                                <p:cTn id="117" presetID="10" presetClass="entr" presetSubtype="0" fill="hold" grpId="0" nodeType="afterEffect">
                                  <p:stCondLst>
                                    <p:cond delay="0"/>
                                  </p:stCondLst>
                                  <p:childTnLst>
                                    <p:set>
                                      <p:cBhvr>
                                        <p:cTn id="118" dur="1" fill="hold">
                                          <p:stCondLst>
                                            <p:cond delay="0"/>
                                          </p:stCondLst>
                                        </p:cTn>
                                        <p:tgtEl>
                                          <p:spTgt spid="98"/>
                                        </p:tgtEl>
                                        <p:attrNameLst>
                                          <p:attrName>style.visibility</p:attrName>
                                        </p:attrNameLst>
                                      </p:cBhvr>
                                      <p:to>
                                        <p:strVal val="visible"/>
                                      </p:to>
                                    </p:set>
                                    <p:animEffect transition="in" filter="fade">
                                      <p:cBhvr>
                                        <p:cTn id="119" dur="500"/>
                                        <p:tgtEl>
                                          <p:spTgt spid="98"/>
                                        </p:tgtEl>
                                      </p:cBhvr>
                                    </p:animEffect>
                                  </p:childTnLst>
                                </p:cTn>
                              </p:par>
                            </p:childTnLst>
                          </p:cTn>
                        </p:par>
                        <p:par>
                          <p:cTn id="120" fill="hold">
                            <p:stCondLst>
                              <p:cond delay="14500"/>
                            </p:stCondLst>
                            <p:childTnLst>
                              <p:par>
                                <p:cTn id="121" presetID="10" presetClass="entr" presetSubtype="0" fill="hold" nodeType="after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childTnLst>
                          </p:cTn>
                        </p:par>
                        <p:par>
                          <p:cTn id="124" fill="hold">
                            <p:stCondLst>
                              <p:cond delay="15000"/>
                            </p:stCondLst>
                            <p:childTnLst>
                              <p:par>
                                <p:cTn id="125" presetID="10" presetClass="entr" presetSubtype="0" fill="hold" grpId="0" nodeType="afterEffect">
                                  <p:stCondLst>
                                    <p:cond delay="0"/>
                                  </p:stCondLst>
                                  <p:childTnLst>
                                    <p:set>
                                      <p:cBhvr>
                                        <p:cTn id="126" dur="1" fill="hold">
                                          <p:stCondLst>
                                            <p:cond delay="0"/>
                                          </p:stCondLst>
                                        </p:cTn>
                                        <p:tgtEl>
                                          <p:spTgt spid="104"/>
                                        </p:tgtEl>
                                        <p:attrNameLst>
                                          <p:attrName>style.visibility</p:attrName>
                                        </p:attrNameLst>
                                      </p:cBhvr>
                                      <p:to>
                                        <p:strVal val="visible"/>
                                      </p:to>
                                    </p:set>
                                    <p:animEffect transition="in" filter="fade">
                                      <p:cBhvr>
                                        <p:cTn id="127" dur="500"/>
                                        <p:tgtEl>
                                          <p:spTgt spid="104"/>
                                        </p:tgtEl>
                                      </p:cBhvr>
                                    </p:animEffect>
                                  </p:childTnLst>
                                </p:cTn>
                              </p:par>
                            </p:childTnLst>
                          </p:cTn>
                        </p:par>
                        <p:par>
                          <p:cTn id="128" fill="hold">
                            <p:stCondLst>
                              <p:cond delay="15500"/>
                            </p:stCondLst>
                            <p:childTnLst>
                              <p:par>
                                <p:cTn id="129" presetID="10" presetClass="entr" presetSubtype="0" fill="hold" grpId="0" nodeType="afterEffect">
                                  <p:stCondLst>
                                    <p:cond delay="0"/>
                                  </p:stCondLst>
                                  <p:childTnLst>
                                    <p:set>
                                      <p:cBhvr>
                                        <p:cTn id="130" dur="1" fill="hold">
                                          <p:stCondLst>
                                            <p:cond delay="0"/>
                                          </p:stCondLst>
                                        </p:cTn>
                                        <p:tgtEl>
                                          <p:spTgt spid="92"/>
                                        </p:tgtEl>
                                        <p:attrNameLst>
                                          <p:attrName>style.visibility</p:attrName>
                                        </p:attrNameLst>
                                      </p:cBhvr>
                                      <p:to>
                                        <p:strVal val="visible"/>
                                      </p:to>
                                    </p:set>
                                    <p:animEffect transition="in" filter="fade">
                                      <p:cBhvr>
                                        <p:cTn id="131" dur="500"/>
                                        <p:tgtEl>
                                          <p:spTgt spid="92"/>
                                        </p:tgtEl>
                                      </p:cBhvr>
                                    </p:animEffect>
                                  </p:childTnLst>
                                </p:cTn>
                              </p:par>
                            </p:childTnLst>
                          </p:cTn>
                        </p:par>
                        <p:par>
                          <p:cTn id="132" fill="hold">
                            <p:stCondLst>
                              <p:cond delay="16000"/>
                            </p:stCondLst>
                            <p:childTnLst>
                              <p:par>
                                <p:cTn id="133" presetID="10" presetClass="entr" presetSubtype="0" fill="hold" grpId="0" nodeType="afterEffect">
                                  <p:stCondLst>
                                    <p:cond delay="0"/>
                                  </p:stCondLst>
                                  <p:childTnLst>
                                    <p:set>
                                      <p:cBhvr>
                                        <p:cTn id="134" dur="1" fill="hold">
                                          <p:stCondLst>
                                            <p:cond delay="0"/>
                                          </p:stCondLst>
                                        </p:cTn>
                                        <p:tgtEl>
                                          <p:spTgt spid="93"/>
                                        </p:tgtEl>
                                        <p:attrNameLst>
                                          <p:attrName>style.visibility</p:attrName>
                                        </p:attrNameLst>
                                      </p:cBhvr>
                                      <p:to>
                                        <p:strVal val="visible"/>
                                      </p:to>
                                    </p:set>
                                    <p:animEffect transition="in" filter="fade">
                                      <p:cBhvr>
                                        <p:cTn id="135" dur="500"/>
                                        <p:tgtEl>
                                          <p:spTgt spid="93"/>
                                        </p:tgtEl>
                                      </p:cBhvr>
                                    </p:animEffect>
                                  </p:childTnLst>
                                </p:cTn>
                              </p:par>
                            </p:childTnLst>
                          </p:cTn>
                        </p:par>
                        <p:par>
                          <p:cTn id="136" fill="hold">
                            <p:stCondLst>
                              <p:cond delay="16500"/>
                            </p:stCondLst>
                            <p:childTnLst>
                              <p:par>
                                <p:cTn id="137" presetID="10" presetClass="entr" presetSubtype="0" fill="hold" grpId="0" nodeType="afterEffect">
                                  <p:stCondLst>
                                    <p:cond delay="0"/>
                                  </p:stCondLst>
                                  <p:childTnLst>
                                    <p:set>
                                      <p:cBhvr>
                                        <p:cTn id="138" dur="1" fill="hold">
                                          <p:stCondLst>
                                            <p:cond delay="0"/>
                                          </p:stCondLst>
                                        </p:cTn>
                                        <p:tgtEl>
                                          <p:spTgt spid="94"/>
                                        </p:tgtEl>
                                        <p:attrNameLst>
                                          <p:attrName>style.visibility</p:attrName>
                                        </p:attrNameLst>
                                      </p:cBhvr>
                                      <p:to>
                                        <p:strVal val="visible"/>
                                      </p:to>
                                    </p:set>
                                    <p:animEffect transition="in" filter="fade">
                                      <p:cBhvr>
                                        <p:cTn id="139" dur="500"/>
                                        <p:tgtEl>
                                          <p:spTgt spid="94"/>
                                        </p:tgtEl>
                                      </p:cBhvr>
                                    </p:animEffect>
                                  </p:childTnLst>
                                </p:cTn>
                              </p:par>
                            </p:childTnLst>
                          </p:cTn>
                        </p:par>
                        <p:par>
                          <p:cTn id="140" fill="hold">
                            <p:stCondLst>
                              <p:cond delay="17000"/>
                            </p:stCondLst>
                            <p:childTnLst>
                              <p:par>
                                <p:cTn id="141" presetID="10" presetClass="entr" presetSubtype="0" fill="hold" grpId="0" nodeType="afterEffect">
                                  <p:stCondLst>
                                    <p:cond delay="0"/>
                                  </p:stCondLst>
                                  <p:childTnLst>
                                    <p:set>
                                      <p:cBhvr>
                                        <p:cTn id="142" dur="1" fill="hold">
                                          <p:stCondLst>
                                            <p:cond delay="0"/>
                                          </p:stCondLst>
                                        </p:cTn>
                                        <p:tgtEl>
                                          <p:spTgt spid="95"/>
                                        </p:tgtEl>
                                        <p:attrNameLst>
                                          <p:attrName>style.visibility</p:attrName>
                                        </p:attrNameLst>
                                      </p:cBhvr>
                                      <p:to>
                                        <p:strVal val="visible"/>
                                      </p:to>
                                    </p:set>
                                    <p:animEffect transition="in" filter="fade">
                                      <p:cBhvr>
                                        <p:cTn id="143" dur="500"/>
                                        <p:tgtEl>
                                          <p:spTgt spid="95"/>
                                        </p:tgtEl>
                                      </p:cBhvr>
                                    </p:animEffect>
                                  </p:childTnLst>
                                </p:cTn>
                              </p:par>
                            </p:childTnLst>
                          </p:cTn>
                        </p:par>
                        <p:par>
                          <p:cTn id="144" fill="hold">
                            <p:stCondLst>
                              <p:cond delay="17500"/>
                            </p:stCondLst>
                            <p:childTnLst>
                              <p:par>
                                <p:cTn id="145" presetID="10" presetClass="entr" presetSubtype="0" fill="hold" nodeType="afterEffect">
                                  <p:stCondLst>
                                    <p:cond delay="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7" dur="500"/>
                                        <p:tgtEl>
                                          <p:spTgt spid="44"/>
                                        </p:tgtEl>
                                      </p:cBhvr>
                                    </p:animEffect>
                                  </p:childTnLst>
                                </p:cTn>
                              </p:par>
                            </p:childTnLst>
                          </p:cTn>
                        </p:par>
                        <p:par>
                          <p:cTn id="148" fill="hold">
                            <p:stCondLst>
                              <p:cond delay="18000"/>
                            </p:stCondLst>
                            <p:childTnLst>
                              <p:par>
                                <p:cTn id="149" presetID="10" presetClass="entr" presetSubtype="0" fill="hold" grpId="0" nodeType="afterEffect">
                                  <p:stCondLst>
                                    <p:cond delay="0"/>
                                  </p:stCondLst>
                                  <p:childTnLst>
                                    <p:set>
                                      <p:cBhvr>
                                        <p:cTn id="150" dur="1" fill="hold">
                                          <p:stCondLst>
                                            <p:cond delay="0"/>
                                          </p:stCondLst>
                                        </p:cTn>
                                        <p:tgtEl>
                                          <p:spTgt spid="103"/>
                                        </p:tgtEl>
                                        <p:attrNameLst>
                                          <p:attrName>style.visibility</p:attrName>
                                        </p:attrNameLst>
                                      </p:cBhvr>
                                      <p:to>
                                        <p:strVal val="visible"/>
                                      </p:to>
                                    </p:set>
                                    <p:animEffect transition="in" filter="fade">
                                      <p:cBhvr>
                                        <p:cTn id="151" dur="500"/>
                                        <p:tgtEl>
                                          <p:spTgt spid="103"/>
                                        </p:tgtEl>
                                      </p:cBhvr>
                                    </p:animEffect>
                                  </p:childTnLst>
                                </p:cTn>
                              </p:par>
                            </p:childTnLst>
                          </p:cTn>
                        </p:par>
                        <p:par>
                          <p:cTn id="152" fill="hold">
                            <p:stCondLst>
                              <p:cond delay="18500"/>
                            </p:stCondLst>
                            <p:childTnLst>
                              <p:par>
                                <p:cTn id="153" presetID="10" presetClass="entr" presetSubtype="0" fill="hold" grpId="0" nodeType="afterEffect">
                                  <p:stCondLst>
                                    <p:cond delay="0"/>
                                  </p:stCondLst>
                                  <p:childTnLst>
                                    <p:set>
                                      <p:cBhvr>
                                        <p:cTn id="154" dur="1" fill="hold">
                                          <p:stCondLst>
                                            <p:cond delay="0"/>
                                          </p:stCondLst>
                                        </p:cTn>
                                        <p:tgtEl>
                                          <p:spTgt spid="85"/>
                                        </p:tgtEl>
                                        <p:attrNameLst>
                                          <p:attrName>style.visibility</p:attrName>
                                        </p:attrNameLst>
                                      </p:cBhvr>
                                      <p:to>
                                        <p:strVal val="visible"/>
                                      </p:to>
                                    </p:set>
                                    <p:animEffect transition="in" filter="fade">
                                      <p:cBhvr>
                                        <p:cTn id="155" dur="500"/>
                                        <p:tgtEl>
                                          <p:spTgt spid="85"/>
                                        </p:tgtEl>
                                      </p:cBhvr>
                                    </p:animEffect>
                                  </p:childTnLst>
                                </p:cTn>
                              </p:par>
                            </p:childTnLst>
                          </p:cTn>
                        </p:par>
                        <p:par>
                          <p:cTn id="156" fill="hold">
                            <p:stCondLst>
                              <p:cond delay="19000"/>
                            </p:stCondLst>
                            <p:childTnLst>
                              <p:par>
                                <p:cTn id="157" presetID="10" presetClass="entr" presetSubtype="0" fill="hold" grpId="0" nodeType="afterEffect">
                                  <p:stCondLst>
                                    <p:cond delay="0"/>
                                  </p:stCondLst>
                                  <p:childTnLst>
                                    <p:set>
                                      <p:cBhvr>
                                        <p:cTn id="158" dur="1" fill="hold">
                                          <p:stCondLst>
                                            <p:cond delay="0"/>
                                          </p:stCondLst>
                                        </p:cTn>
                                        <p:tgtEl>
                                          <p:spTgt spid="86"/>
                                        </p:tgtEl>
                                        <p:attrNameLst>
                                          <p:attrName>style.visibility</p:attrName>
                                        </p:attrNameLst>
                                      </p:cBhvr>
                                      <p:to>
                                        <p:strVal val="visible"/>
                                      </p:to>
                                    </p:set>
                                    <p:animEffect transition="in" filter="fade">
                                      <p:cBhvr>
                                        <p:cTn id="159" dur="500"/>
                                        <p:tgtEl>
                                          <p:spTgt spid="86"/>
                                        </p:tgtEl>
                                      </p:cBhvr>
                                    </p:animEffect>
                                  </p:childTnLst>
                                </p:cTn>
                              </p:par>
                            </p:childTnLst>
                          </p:cTn>
                        </p:par>
                        <p:par>
                          <p:cTn id="160" fill="hold">
                            <p:stCondLst>
                              <p:cond delay="19500"/>
                            </p:stCondLst>
                            <p:childTnLst>
                              <p:par>
                                <p:cTn id="161" presetID="10" presetClass="entr" presetSubtype="0" fill="hold" grpId="0" nodeType="afterEffect">
                                  <p:stCondLst>
                                    <p:cond delay="0"/>
                                  </p:stCondLst>
                                  <p:childTnLst>
                                    <p:set>
                                      <p:cBhvr>
                                        <p:cTn id="162" dur="1" fill="hold">
                                          <p:stCondLst>
                                            <p:cond delay="0"/>
                                          </p:stCondLst>
                                        </p:cTn>
                                        <p:tgtEl>
                                          <p:spTgt spid="87"/>
                                        </p:tgtEl>
                                        <p:attrNameLst>
                                          <p:attrName>style.visibility</p:attrName>
                                        </p:attrNameLst>
                                      </p:cBhvr>
                                      <p:to>
                                        <p:strVal val="visible"/>
                                      </p:to>
                                    </p:set>
                                    <p:animEffect transition="in" filter="fade">
                                      <p:cBhvr>
                                        <p:cTn id="163" dur="500"/>
                                        <p:tgtEl>
                                          <p:spTgt spid="87"/>
                                        </p:tgtEl>
                                      </p:cBhvr>
                                    </p:animEffect>
                                  </p:childTnLst>
                                </p:cTn>
                              </p:par>
                            </p:childTnLst>
                          </p:cTn>
                        </p:par>
                        <p:par>
                          <p:cTn id="164" fill="hold">
                            <p:stCondLst>
                              <p:cond delay="20000"/>
                            </p:stCondLst>
                            <p:childTnLst>
                              <p:par>
                                <p:cTn id="165" presetID="10" presetClass="entr" presetSubtype="0" fill="hold" grpId="0" nodeType="afterEffect">
                                  <p:stCondLst>
                                    <p:cond delay="0"/>
                                  </p:stCondLst>
                                  <p:childTnLst>
                                    <p:set>
                                      <p:cBhvr>
                                        <p:cTn id="166" dur="1" fill="hold">
                                          <p:stCondLst>
                                            <p:cond delay="0"/>
                                          </p:stCondLst>
                                        </p:cTn>
                                        <p:tgtEl>
                                          <p:spTgt spid="88"/>
                                        </p:tgtEl>
                                        <p:attrNameLst>
                                          <p:attrName>style.visibility</p:attrName>
                                        </p:attrNameLst>
                                      </p:cBhvr>
                                      <p:to>
                                        <p:strVal val="visible"/>
                                      </p:to>
                                    </p:set>
                                    <p:animEffect transition="in" filter="fade">
                                      <p:cBhvr>
                                        <p:cTn id="167" dur="500"/>
                                        <p:tgtEl>
                                          <p:spTgt spid="88"/>
                                        </p:tgtEl>
                                      </p:cBhvr>
                                    </p:animEffect>
                                  </p:childTnLst>
                                </p:cTn>
                              </p:par>
                            </p:childTnLst>
                          </p:cTn>
                        </p:par>
                        <p:par>
                          <p:cTn id="168" fill="hold">
                            <p:stCondLst>
                              <p:cond delay="20500"/>
                            </p:stCondLst>
                            <p:childTnLst>
                              <p:par>
                                <p:cTn id="169" presetID="10" presetClass="entr" presetSubtype="0" fill="hold" grpId="0" nodeType="afterEffect">
                                  <p:stCondLst>
                                    <p:cond delay="0"/>
                                  </p:stCondLst>
                                  <p:childTnLst>
                                    <p:set>
                                      <p:cBhvr>
                                        <p:cTn id="170" dur="1" fill="hold">
                                          <p:stCondLst>
                                            <p:cond delay="0"/>
                                          </p:stCondLst>
                                        </p:cTn>
                                        <p:tgtEl>
                                          <p:spTgt spid="89"/>
                                        </p:tgtEl>
                                        <p:attrNameLst>
                                          <p:attrName>style.visibility</p:attrName>
                                        </p:attrNameLst>
                                      </p:cBhvr>
                                      <p:to>
                                        <p:strVal val="visible"/>
                                      </p:to>
                                    </p:set>
                                    <p:animEffect transition="in" filter="fade">
                                      <p:cBhvr>
                                        <p:cTn id="171" dur="500"/>
                                        <p:tgtEl>
                                          <p:spTgt spid="89"/>
                                        </p:tgtEl>
                                      </p:cBhvr>
                                    </p:animEffect>
                                  </p:childTnLst>
                                </p:cTn>
                              </p:par>
                            </p:childTnLst>
                          </p:cTn>
                        </p:par>
                        <p:par>
                          <p:cTn id="172" fill="hold">
                            <p:stCondLst>
                              <p:cond delay="21000"/>
                            </p:stCondLst>
                            <p:childTnLst>
                              <p:par>
                                <p:cTn id="173" presetID="10" presetClass="entr" presetSubtype="0" fill="hold" grpId="0" nodeType="afterEffect">
                                  <p:stCondLst>
                                    <p:cond delay="0"/>
                                  </p:stCondLst>
                                  <p:childTnLst>
                                    <p:set>
                                      <p:cBhvr>
                                        <p:cTn id="174" dur="1" fill="hold">
                                          <p:stCondLst>
                                            <p:cond delay="0"/>
                                          </p:stCondLst>
                                        </p:cTn>
                                        <p:tgtEl>
                                          <p:spTgt spid="90"/>
                                        </p:tgtEl>
                                        <p:attrNameLst>
                                          <p:attrName>style.visibility</p:attrName>
                                        </p:attrNameLst>
                                      </p:cBhvr>
                                      <p:to>
                                        <p:strVal val="visible"/>
                                      </p:to>
                                    </p:set>
                                    <p:animEffect transition="in" filter="fade">
                                      <p:cBhvr>
                                        <p:cTn id="175" dur="500"/>
                                        <p:tgtEl>
                                          <p:spTgt spid="90"/>
                                        </p:tgtEl>
                                      </p:cBhvr>
                                    </p:animEffect>
                                  </p:childTnLst>
                                </p:cTn>
                              </p:par>
                            </p:childTnLst>
                          </p:cTn>
                        </p:par>
                        <p:par>
                          <p:cTn id="176" fill="hold">
                            <p:stCondLst>
                              <p:cond delay="21500"/>
                            </p:stCondLst>
                            <p:childTnLst>
                              <p:par>
                                <p:cTn id="177" presetID="10" presetClass="entr" presetSubtype="0" fill="hold" grpId="0" nodeType="afterEffect">
                                  <p:stCondLst>
                                    <p:cond delay="0"/>
                                  </p:stCondLst>
                                  <p:childTnLst>
                                    <p:set>
                                      <p:cBhvr>
                                        <p:cTn id="178" dur="1" fill="hold">
                                          <p:stCondLst>
                                            <p:cond delay="0"/>
                                          </p:stCondLst>
                                        </p:cTn>
                                        <p:tgtEl>
                                          <p:spTgt spid="91"/>
                                        </p:tgtEl>
                                        <p:attrNameLst>
                                          <p:attrName>style.visibility</p:attrName>
                                        </p:attrNameLst>
                                      </p:cBhvr>
                                      <p:to>
                                        <p:strVal val="visible"/>
                                      </p:to>
                                    </p:set>
                                    <p:animEffect transition="in" filter="fade">
                                      <p:cBhvr>
                                        <p:cTn id="179" dur="500"/>
                                        <p:tgtEl>
                                          <p:spTgt spid="91"/>
                                        </p:tgtEl>
                                      </p:cBhvr>
                                    </p:animEffect>
                                  </p:childTnLst>
                                </p:cTn>
                              </p:par>
                            </p:childTnLst>
                          </p:cTn>
                        </p:par>
                        <p:par>
                          <p:cTn id="180" fill="hold">
                            <p:stCondLst>
                              <p:cond delay="22000"/>
                            </p:stCondLst>
                            <p:childTnLst>
                              <p:par>
                                <p:cTn id="181" presetID="10" presetClass="entr" presetSubtype="0" fill="hold" nodeType="afterEffect">
                                  <p:stCondLst>
                                    <p:cond delay="0"/>
                                  </p:stCondLst>
                                  <p:childTnLst>
                                    <p:set>
                                      <p:cBhvr>
                                        <p:cTn id="182" dur="1" fill="hold">
                                          <p:stCondLst>
                                            <p:cond delay="0"/>
                                          </p:stCondLst>
                                        </p:cTn>
                                        <p:tgtEl>
                                          <p:spTgt spid="43"/>
                                        </p:tgtEl>
                                        <p:attrNameLst>
                                          <p:attrName>style.visibility</p:attrName>
                                        </p:attrNameLst>
                                      </p:cBhvr>
                                      <p:to>
                                        <p:strVal val="visible"/>
                                      </p:to>
                                    </p:set>
                                    <p:animEffect transition="in" filter="fade">
                                      <p:cBhvr>
                                        <p:cTn id="183" dur="500"/>
                                        <p:tgtEl>
                                          <p:spTgt spid="43"/>
                                        </p:tgtEl>
                                      </p:cBhvr>
                                    </p:animEffect>
                                  </p:childTnLst>
                                </p:cTn>
                              </p:par>
                            </p:childTnLst>
                          </p:cTn>
                        </p:par>
                        <p:par>
                          <p:cTn id="184" fill="hold">
                            <p:stCondLst>
                              <p:cond delay="22500"/>
                            </p:stCondLst>
                            <p:childTnLst>
                              <p:par>
                                <p:cTn id="185" presetID="10" presetClass="entr" presetSubtype="0" fill="hold" grpId="0" nodeType="afterEffect">
                                  <p:stCondLst>
                                    <p:cond delay="0"/>
                                  </p:stCondLst>
                                  <p:childTnLst>
                                    <p:set>
                                      <p:cBhvr>
                                        <p:cTn id="186" dur="1" fill="hold">
                                          <p:stCondLst>
                                            <p:cond delay="0"/>
                                          </p:stCondLst>
                                        </p:cTn>
                                        <p:tgtEl>
                                          <p:spTgt spid="102"/>
                                        </p:tgtEl>
                                        <p:attrNameLst>
                                          <p:attrName>style.visibility</p:attrName>
                                        </p:attrNameLst>
                                      </p:cBhvr>
                                      <p:to>
                                        <p:strVal val="visible"/>
                                      </p:to>
                                    </p:set>
                                    <p:animEffect transition="in" filter="fade">
                                      <p:cBhvr>
                                        <p:cTn id="187" dur="500"/>
                                        <p:tgtEl>
                                          <p:spTgt spid="102"/>
                                        </p:tgtEl>
                                      </p:cBhvr>
                                    </p:animEffect>
                                  </p:childTnLst>
                                </p:cTn>
                              </p:par>
                            </p:childTnLst>
                          </p:cTn>
                        </p:par>
                        <p:par>
                          <p:cTn id="188" fill="hold">
                            <p:stCondLst>
                              <p:cond delay="23000"/>
                            </p:stCondLst>
                            <p:childTnLst>
                              <p:par>
                                <p:cTn id="189" presetID="10" presetClass="entr" presetSubtype="0" fill="hold" grpId="0" nodeType="afterEffect">
                                  <p:stCondLst>
                                    <p:cond delay="0"/>
                                  </p:stCondLst>
                                  <p:childTnLst>
                                    <p:set>
                                      <p:cBhvr>
                                        <p:cTn id="190" dur="1" fill="hold">
                                          <p:stCondLst>
                                            <p:cond delay="0"/>
                                          </p:stCondLst>
                                        </p:cTn>
                                        <p:tgtEl>
                                          <p:spTgt spid="80"/>
                                        </p:tgtEl>
                                        <p:attrNameLst>
                                          <p:attrName>style.visibility</p:attrName>
                                        </p:attrNameLst>
                                      </p:cBhvr>
                                      <p:to>
                                        <p:strVal val="visible"/>
                                      </p:to>
                                    </p:set>
                                    <p:animEffect transition="in" filter="fade">
                                      <p:cBhvr>
                                        <p:cTn id="191" dur="500"/>
                                        <p:tgtEl>
                                          <p:spTgt spid="80"/>
                                        </p:tgtEl>
                                      </p:cBhvr>
                                    </p:animEffect>
                                  </p:childTnLst>
                                </p:cTn>
                              </p:par>
                            </p:childTnLst>
                          </p:cTn>
                        </p:par>
                        <p:par>
                          <p:cTn id="192" fill="hold">
                            <p:stCondLst>
                              <p:cond delay="23500"/>
                            </p:stCondLst>
                            <p:childTnLst>
                              <p:par>
                                <p:cTn id="193" presetID="10" presetClass="entr" presetSubtype="0" fill="hold" grpId="0" nodeType="afterEffect">
                                  <p:stCondLst>
                                    <p:cond delay="0"/>
                                  </p:stCondLst>
                                  <p:childTnLst>
                                    <p:set>
                                      <p:cBhvr>
                                        <p:cTn id="194" dur="1" fill="hold">
                                          <p:stCondLst>
                                            <p:cond delay="0"/>
                                          </p:stCondLst>
                                        </p:cTn>
                                        <p:tgtEl>
                                          <p:spTgt spid="81"/>
                                        </p:tgtEl>
                                        <p:attrNameLst>
                                          <p:attrName>style.visibility</p:attrName>
                                        </p:attrNameLst>
                                      </p:cBhvr>
                                      <p:to>
                                        <p:strVal val="visible"/>
                                      </p:to>
                                    </p:set>
                                    <p:animEffect transition="in" filter="fade">
                                      <p:cBhvr>
                                        <p:cTn id="195" dur="500"/>
                                        <p:tgtEl>
                                          <p:spTgt spid="81"/>
                                        </p:tgtEl>
                                      </p:cBhvr>
                                    </p:animEffect>
                                  </p:childTnLst>
                                </p:cTn>
                              </p:par>
                            </p:childTnLst>
                          </p:cTn>
                        </p:par>
                        <p:par>
                          <p:cTn id="196" fill="hold">
                            <p:stCondLst>
                              <p:cond delay="24000"/>
                            </p:stCondLst>
                            <p:childTnLst>
                              <p:par>
                                <p:cTn id="197" presetID="10" presetClass="entr" presetSubtype="0" fill="hold" grpId="0" nodeType="afterEffect">
                                  <p:stCondLst>
                                    <p:cond delay="0"/>
                                  </p:stCondLst>
                                  <p:childTnLst>
                                    <p:set>
                                      <p:cBhvr>
                                        <p:cTn id="198" dur="1" fill="hold">
                                          <p:stCondLst>
                                            <p:cond delay="0"/>
                                          </p:stCondLst>
                                        </p:cTn>
                                        <p:tgtEl>
                                          <p:spTgt spid="82"/>
                                        </p:tgtEl>
                                        <p:attrNameLst>
                                          <p:attrName>style.visibility</p:attrName>
                                        </p:attrNameLst>
                                      </p:cBhvr>
                                      <p:to>
                                        <p:strVal val="visible"/>
                                      </p:to>
                                    </p:set>
                                    <p:animEffect transition="in" filter="fade">
                                      <p:cBhvr>
                                        <p:cTn id="199" dur="500"/>
                                        <p:tgtEl>
                                          <p:spTgt spid="82"/>
                                        </p:tgtEl>
                                      </p:cBhvr>
                                    </p:animEffect>
                                  </p:childTnLst>
                                </p:cTn>
                              </p:par>
                            </p:childTnLst>
                          </p:cTn>
                        </p:par>
                        <p:par>
                          <p:cTn id="200" fill="hold">
                            <p:stCondLst>
                              <p:cond delay="24500"/>
                            </p:stCondLst>
                            <p:childTnLst>
                              <p:par>
                                <p:cTn id="201" presetID="10" presetClass="entr" presetSubtype="0" fill="hold" grpId="0" nodeType="afterEffect">
                                  <p:stCondLst>
                                    <p:cond delay="0"/>
                                  </p:stCondLst>
                                  <p:childTnLst>
                                    <p:set>
                                      <p:cBhvr>
                                        <p:cTn id="202" dur="1" fill="hold">
                                          <p:stCondLst>
                                            <p:cond delay="0"/>
                                          </p:stCondLst>
                                        </p:cTn>
                                        <p:tgtEl>
                                          <p:spTgt spid="83"/>
                                        </p:tgtEl>
                                        <p:attrNameLst>
                                          <p:attrName>style.visibility</p:attrName>
                                        </p:attrNameLst>
                                      </p:cBhvr>
                                      <p:to>
                                        <p:strVal val="visible"/>
                                      </p:to>
                                    </p:set>
                                    <p:animEffect transition="in" filter="fade">
                                      <p:cBhvr>
                                        <p:cTn id="203" dur="500"/>
                                        <p:tgtEl>
                                          <p:spTgt spid="83"/>
                                        </p:tgtEl>
                                      </p:cBhvr>
                                    </p:animEffect>
                                  </p:childTnLst>
                                </p:cTn>
                              </p:par>
                            </p:childTnLst>
                          </p:cTn>
                        </p:par>
                        <p:par>
                          <p:cTn id="204" fill="hold">
                            <p:stCondLst>
                              <p:cond delay="25000"/>
                            </p:stCondLst>
                            <p:childTnLst>
                              <p:par>
                                <p:cTn id="205" presetID="10" presetClass="entr" presetSubtype="0" fill="hold" grpId="0" nodeType="afterEffect">
                                  <p:stCondLst>
                                    <p:cond delay="0"/>
                                  </p:stCondLst>
                                  <p:childTnLst>
                                    <p:set>
                                      <p:cBhvr>
                                        <p:cTn id="206" dur="1" fill="hold">
                                          <p:stCondLst>
                                            <p:cond delay="0"/>
                                          </p:stCondLst>
                                        </p:cTn>
                                        <p:tgtEl>
                                          <p:spTgt spid="84"/>
                                        </p:tgtEl>
                                        <p:attrNameLst>
                                          <p:attrName>style.visibility</p:attrName>
                                        </p:attrNameLst>
                                      </p:cBhvr>
                                      <p:to>
                                        <p:strVal val="visible"/>
                                      </p:to>
                                    </p:set>
                                    <p:animEffect transition="in" filter="fade">
                                      <p:cBhvr>
                                        <p:cTn id="207" dur="500"/>
                                        <p:tgtEl>
                                          <p:spTgt spid="84"/>
                                        </p:tgtEl>
                                      </p:cBhvr>
                                    </p:animEffect>
                                  </p:childTnLst>
                                </p:cTn>
                              </p:par>
                            </p:childTnLst>
                          </p:cTn>
                        </p:par>
                        <p:par>
                          <p:cTn id="208" fill="hold">
                            <p:stCondLst>
                              <p:cond delay="25500"/>
                            </p:stCondLst>
                            <p:childTnLst>
                              <p:par>
                                <p:cTn id="209" presetID="10" presetClass="entr" presetSubtype="0" fill="hold" grpId="0" nodeType="afterEffect">
                                  <p:stCondLst>
                                    <p:cond delay="0"/>
                                  </p:stCondLst>
                                  <p:childTnLst>
                                    <p:set>
                                      <p:cBhvr>
                                        <p:cTn id="210" dur="1" fill="hold">
                                          <p:stCondLst>
                                            <p:cond delay="0"/>
                                          </p:stCondLst>
                                        </p:cTn>
                                        <p:tgtEl>
                                          <p:spTgt spid="107"/>
                                        </p:tgtEl>
                                        <p:attrNameLst>
                                          <p:attrName>style.visibility</p:attrName>
                                        </p:attrNameLst>
                                      </p:cBhvr>
                                      <p:to>
                                        <p:strVal val="visible"/>
                                      </p:to>
                                    </p:set>
                                    <p:animEffect transition="in" filter="fade">
                                      <p:cBhvr>
                                        <p:cTn id="211" dur="500"/>
                                        <p:tgtEl>
                                          <p:spTgt spid="107"/>
                                        </p:tgtEl>
                                      </p:cBhvr>
                                    </p:animEffect>
                                  </p:childTnLst>
                                </p:cTn>
                              </p:par>
                            </p:childTnLst>
                          </p:cTn>
                        </p:par>
                        <p:par>
                          <p:cTn id="212" fill="hold">
                            <p:stCondLst>
                              <p:cond delay="26000"/>
                            </p:stCondLst>
                            <p:childTnLst>
                              <p:par>
                                <p:cTn id="213" presetID="10" presetClass="entr" presetSubtype="0" fill="hold" grpId="0" nodeType="afterEffect">
                                  <p:stCondLst>
                                    <p:cond delay="0"/>
                                  </p:stCondLst>
                                  <p:childTnLst>
                                    <p:set>
                                      <p:cBhvr>
                                        <p:cTn id="214" dur="1" fill="hold">
                                          <p:stCondLst>
                                            <p:cond delay="0"/>
                                          </p:stCondLst>
                                        </p:cTn>
                                        <p:tgtEl>
                                          <p:spTgt spid="108"/>
                                        </p:tgtEl>
                                        <p:attrNameLst>
                                          <p:attrName>style.visibility</p:attrName>
                                        </p:attrNameLst>
                                      </p:cBhvr>
                                      <p:to>
                                        <p:strVal val="visible"/>
                                      </p:to>
                                    </p:set>
                                    <p:animEffect transition="in" filter="fade">
                                      <p:cBhvr>
                                        <p:cTn id="215" dur="500"/>
                                        <p:tgtEl>
                                          <p:spTgt spid="108"/>
                                        </p:tgtEl>
                                      </p:cBhvr>
                                    </p:animEffect>
                                  </p:childTnLst>
                                </p:cTn>
                              </p:par>
                            </p:childTnLst>
                          </p:cTn>
                        </p:par>
                        <p:par>
                          <p:cTn id="216" fill="hold">
                            <p:stCondLst>
                              <p:cond delay="26500"/>
                            </p:stCondLst>
                            <p:childTnLst>
                              <p:par>
                                <p:cTn id="217" presetID="10" presetClass="entr" presetSubtype="0" fill="hold" grpId="0" nodeType="afterEffect">
                                  <p:stCondLst>
                                    <p:cond delay="0"/>
                                  </p:stCondLst>
                                  <p:childTnLst>
                                    <p:set>
                                      <p:cBhvr>
                                        <p:cTn id="218" dur="1" fill="hold">
                                          <p:stCondLst>
                                            <p:cond delay="0"/>
                                          </p:stCondLst>
                                        </p:cTn>
                                        <p:tgtEl>
                                          <p:spTgt spid="109"/>
                                        </p:tgtEl>
                                        <p:attrNameLst>
                                          <p:attrName>style.visibility</p:attrName>
                                        </p:attrNameLst>
                                      </p:cBhvr>
                                      <p:to>
                                        <p:strVal val="visible"/>
                                      </p:to>
                                    </p:set>
                                    <p:animEffect transition="in" filter="fade">
                                      <p:cBhvr>
                                        <p:cTn id="219" dur="500"/>
                                        <p:tgtEl>
                                          <p:spTgt spid="109"/>
                                        </p:tgtEl>
                                      </p:cBhvr>
                                    </p:animEffect>
                                  </p:childTnLst>
                                </p:cTn>
                              </p:par>
                            </p:childTnLst>
                          </p:cTn>
                        </p:par>
                        <p:par>
                          <p:cTn id="220" fill="hold">
                            <p:stCondLst>
                              <p:cond delay="27000"/>
                            </p:stCondLst>
                            <p:childTnLst>
                              <p:par>
                                <p:cTn id="221" presetID="10" presetClass="entr" presetSubtype="0" fill="hold" grpId="0" nodeType="afterEffect">
                                  <p:stCondLst>
                                    <p:cond delay="0"/>
                                  </p:stCondLst>
                                  <p:childTnLst>
                                    <p:set>
                                      <p:cBhvr>
                                        <p:cTn id="222" dur="1" fill="hold">
                                          <p:stCondLst>
                                            <p:cond delay="0"/>
                                          </p:stCondLst>
                                        </p:cTn>
                                        <p:tgtEl>
                                          <p:spTgt spid="110"/>
                                        </p:tgtEl>
                                        <p:attrNameLst>
                                          <p:attrName>style.visibility</p:attrName>
                                        </p:attrNameLst>
                                      </p:cBhvr>
                                      <p:to>
                                        <p:strVal val="visible"/>
                                      </p:to>
                                    </p:set>
                                    <p:animEffect transition="in" filter="fade">
                                      <p:cBhvr>
                                        <p:cTn id="223" dur="500"/>
                                        <p:tgtEl>
                                          <p:spTgt spid="110"/>
                                        </p:tgtEl>
                                      </p:cBhvr>
                                    </p:animEffect>
                                  </p:childTnLst>
                                </p:cTn>
                              </p:par>
                            </p:childTnLst>
                          </p:cTn>
                        </p:par>
                        <p:par>
                          <p:cTn id="224" fill="hold">
                            <p:stCondLst>
                              <p:cond delay="27500"/>
                            </p:stCondLst>
                            <p:childTnLst>
                              <p:par>
                                <p:cTn id="225" presetID="10" presetClass="entr" presetSubtype="0" fill="hold" grpId="0" nodeType="afterEffect">
                                  <p:stCondLst>
                                    <p:cond delay="0"/>
                                  </p:stCondLst>
                                  <p:childTnLst>
                                    <p:set>
                                      <p:cBhvr>
                                        <p:cTn id="226" dur="1" fill="hold">
                                          <p:stCondLst>
                                            <p:cond delay="0"/>
                                          </p:stCondLst>
                                        </p:cTn>
                                        <p:tgtEl>
                                          <p:spTgt spid="111"/>
                                        </p:tgtEl>
                                        <p:attrNameLst>
                                          <p:attrName>style.visibility</p:attrName>
                                        </p:attrNameLst>
                                      </p:cBhvr>
                                      <p:to>
                                        <p:strVal val="visible"/>
                                      </p:to>
                                    </p:set>
                                    <p:animEffect transition="in" filter="fade">
                                      <p:cBhvr>
                                        <p:cTn id="227" dur="500"/>
                                        <p:tgtEl>
                                          <p:spTgt spid="111"/>
                                        </p:tgtEl>
                                      </p:cBhvr>
                                    </p:animEffect>
                                  </p:childTnLst>
                                </p:cTn>
                              </p:par>
                            </p:childTnLst>
                          </p:cTn>
                        </p:par>
                        <p:par>
                          <p:cTn id="228" fill="hold">
                            <p:stCondLst>
                              <p:cond delay="28000"/>
                            </p:stCondLst>
                            <p:childTnLst>
                              <p:par>
                                <p:cTn id="229" presetID="10" presetClass="entr" presetSubtype="0" fill="hold" grpId="0" nodeType="afterEffect">
                                  <p:stCondLst>
                                    <p:cond delay="0"/>
                                  </p:stCondLst>
                                  <p:childTnLst>
                                    <p:set>
                                      <p:cBhvr>
                                        <p:cTn id="230" dur="1" fill="hold">
                                          <p:stCondLst>
                                            <p:cond delay="0"/>
                                          </p:stCondLst>
                                        </p:cTn>
                                        <p:tgtEl>
                                          <p:spTgt spid="112"/>
                                        </p:tgtEl>
                                        <p:attrNameLst>
                                          <p:attrName>style.visibility</p:attrName>
                                        </p:attrNameLst>
                                      </p:cBhvr>
                                      <p:to>
                                        <p:strVal val="visible"/>
                                      </p:to>
                                    </p:set>
                                    <p:animEffect transition="in" filter="fade">
                                      <p:cBhvr>
                                        <p:cTn id="231" dur="500"/>
                                        <p:tgtEl>
                                          <p:spTgt spid="112"/>
                                        </p:tgtEl>
                                      </p:cBhvr>
                                    </p:animEffect>
                                  </p:childTnLst>
                                </p:cTn>
                              </p:par>
                            </p:childTnLst>
                          </p:cTn>
                        </p:par>
                        <p:par>
                          <p:cTn id="232" fill="hold">
                            <p:stCondLst>
                              <p:cond delay="28500"/>
                            </p:stCondLst>
                            <p:childTnLst>
                              <p:par>
                                <p:cTn id="233" presetID="10" presetClass="entr" presetSubtype="0" fill="hold" grpId="0" nodeType="afterEffect">
                                  <p:stCondLst>
                                    <p:cond delay="0"/>
                                  </p:stCondLst>
                                  <p:childTnLst>
                                    <p:set>
                                      <p:cBhvr>
                                        <p:cTn id="234" dur="1" fill="hold">
                                          <p:stCondLst>
                                            <p:cond delay="0"/>
                                          </p:stCondLst>
                                        </p:cTn>
                                        <p:tgtEl>
                                          <p:spTgt spid="113"/>
                                        </p:tgtEl>
                                        <p:attrNameLst>
                                          <p:attrName>style.visibility</p:attrName>
                                        </p:attrNameLst>
                                      </p:cBhvr>
                                      <p:to>
                                        <p:strVal val="visible"/>
                                      </p:to>
                                    </p:set>
                                    <p:animEffect transition="in" filter="fade">
                                      <p:cBhvr>
                                        <p:cTn id="235" dur="500"/>
                                        <p:tgtEl>
                                          <p:spTgt spid="113"/>
                                        </p:tgtEl>
                                      </p:cBhvr>
                                    </p:animEffect>
                                  </p:childTnLst>
                                </p:cTn>
                              </p:par>
                            </p:childTnLst>
                          </p:cTn>
                        </p:par>
                        <p:par>
                          <p:cTn id="236" fill="hold">
                            <p:stCondLst>
                              <p:cond delay="29000"/>
                            </p:stCondLst>
                            <p:childTnLst>
                              <p:par>
                                <p:cTn id="237" presetID="10" presetClass="entr" presetSubtype="0" fill="hold" grpId="0" nodeType="afterEffect">
                                  <p:stCondLst>
                                    <p:cond delay="0"/>
                                  </p:stCondLst>
                                  <p:childTnLst>
                                    <p:set>
                                      <p:cBhvr>
                                        <p:cTn id="238" dur="1" fill="hold">
                                          <p:stCondLst>
                                            <p:cond delay="0"/>
                                          </p:stCondLst>
                                        </p:cTn>
                                        <p:tgtEl>
                                          <p:spTgt spid="114"/>
                                        </p:tgtEl>
                                        <p:attrNameLst>
                                          <p:attrName>style.visibility</p:attrName>
                                        </p:attrNameLst>
                                      </p:cBhvr>
                                      <p:to>
                                        <p:strVal val="visible"/>
                                      </p:to>
                                    </p:set>
                                    <p:animEffect transition="in" filter="fade">
                                      <p:cBhvr>
                                        <p:cTn id="239"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1" grpId="0"/>
      <p:bldP spid="62" grpId="0"/>
      <p:bldP spid="63" grpId="0"/>
      <p:bldP spid="64" grpId="0"/>
      <p:bldP spid="65" grpId="0"/>
      <p:bldP spid="66" grpId="0"/>
      <p:bldP spid="67" grpId="0"/>
      <p:bldP spid="68" grpId="0"/>
      <p:bldP spid="69" grpId="0"/>
      <p:bldP spid="70" grpId="0"/>
      <p:bldP spid="71" grpId="0"/>
      <p:bldP spid="77" grpId="0"/>
      <p:bldP spid="78" grpId="0"/>
      <p:bldP spid="79" grpId="0"/>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P spid="94" grpId="0"/>
      <p:bldP spid="95" grpId="0"/>
      <p:bldP spid="96" grpId="0"/>
      <p:bldP spid="97" grpId="0"/>
      <p:bldP spid="98" grpId="0"/>
      <p:bldP spid="99" grpId="0"/>
      <p:bldP spid="100" grpId="0"/>
      <p:bldP spid="101" grpId="0"/>
      <p:bldP spid="102" grpId="0"/>
      <p:bldP spid="103" grpId="0"/>
      <p:bldP spid="104" grpId="0"/>
      <p:bldP spid="105" grpId="0"/>
      <p:bldP spid="106" grpId="0"/>
      <p:bldP spid="107" grpId="0"/>
      <p:bldP spid="108" grpId="0"/>
      <p:bldP spid="109" grpId="0"/>
      <p:bldP spid="110" grpId="0"/>
      <p:bldP spid="111" grpId="0"/>
      <p:bldP spid="112" grpId="0"/>
      <p:bldP spid="113" grpId="0"/>
      <p:bldP spid="1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136D401E-9852-4743-B937-9985215CD458}"/>
              </a:ext>
            </a:extLst>
          </p:cNvPr>
          <p:cNvPicPr>
            <a:picLocks noChangeAspect="1"/>
          </p:cNvPicPr>
          <p:nvPr/>
        </p:nvPicPr>
        <p:blipFill rotWithShape="1">
          <a:blip r:embed="rId3">
            <a:clrChange>
              <a:clrFrom>
                <a:srgbClr val="F36F21"/>
              </a:clrFrom>
              <a:clrTo>
                <a:srgbClr val="F36F21">
                  <a:alpha val="0"/>
                </a:srgbClr>
              </a:clrTo>
            </a:clrChange>
            <a:alphaModFix amt="4000"/>
          </a:blip>
          <a:srcRect b="15280"/>
          <a:stretch/>
        </p:blipFill>
        <p:spPr>
          <a:xfrm rot="21222363">
            <a:off x="9360431" y="2427763"/>
            <a:ext cx="10408328" cy="9085738"/>
          </a:xfrm>
          <a:prstGeom prst="rect">
            <a:avLst/>
          </a:prstGeom>
        </p:spPr>
      </p:pic>
      <p:sp>
        <p:nvSpPr>
          <p:cNvPr id="874" name="Google Shape;874;p46"/>
          <p:cNvSpPr/>
          <p:nvPr/>
        </p:nvSpPr>
        <p:spPr>
          <a:xfrm>
            <a:off x="0" y="5225"/>
            <a:ext cx="20104100" cy="2419350"/>
          </a:xfrm>
          <a:custGeom>
            <a:avLst/>
            <a:gdLst/>
            <a:ahLst/>
            <a:cxnLst/>
            <a:rect l="l" t="t" r="r" b="b"/>
            <a:pathLst>
              <a:path w="20104100" h="2419350" extrusionOk="0">
                <a:moveTo>
                  <a:pt x="20104099" y="2419036"/>
                </a:moveTo>
                <a:lnTo>
                  <a:pt x="0" y="2419036"/>
                </a:lnTo>
                <a:lnTo>
                  <a:pt x="0" y="0"/>
                </a:lnTo>
                <a:lnTo>
                  <a:pt x="20104099" y="0"/>
                </a:lnTo>
                <a:lnTo>
                  <a:pt x="20104099" y="2419036"/>
                </a:lnTo>
                <a:close/>
              </a:path>
            </a:pathLst>
          </a:custGeom>
          <a:solidFill>
            <a:schemeClr val="bg2">
              <a:lumMod val="50000"/>
              <a:alpha val="9686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5" name="Google Shape;875;p46"/>
          <p:cNvSpPr txBox="1">
            <a:spLocks noGrp="1"/>
          </p:cNvSpPr>
          <p:nvPr>
            <p:ph type="title"/>
          </p:nvPr>
        </p:nvSpPr>
        <p:spPr>
          <a:xfrm>
            <a:off x="317288" y="768700"/>
            <a:ext cx="13095900" cy="596400"/>
          </a:xfrm>
          <a:prstGeom prst="rect">
            <a:avLst/>
          </a:prstGeom>
          <a:noFill/>
          <a:ln>
            <a:noFill/>
          </a:ln>
        </p:spPr>
        <p:txBody>
          <a:bodyPr spcFirstLastPara="1" wrap="square" lIns="0" tIns="12050" rIns="0" bIns="0" anchor="t" anchorCtr="0">
            <a:noAutofit/>
          </a:bodyPr>
          <a:lstStyle/>
          <a:p>
            <a:pPr marL="12700" lvl="0" indent="0" algn="l" rtl="0">
              <a:lnSpc>
                <a:spcPct val="100000"/>
              </a:lnSpc>
              <a:spcBef>
                <a:spcPts val="0"/>
              </a:spcBef>
              <a:spcAft>
                <a:spcPts val="0"/>
              </a:spcAft>
              <a:buNone/>
            </a:pPr>
            <a:r>
              <a:rPr lang="en-US" sz="3750" dirty="0">
                <a:effectLst>
                  <a:outerShdw blurRad="38100" dist="38100" dir="2700000" algn="tl">
                    <a:srgbClr val="000000">
                      <a:alpha val="43137"/>
                    </a:srgbClr>
                  </a:outerShdw>
                </a:effectLst>
              </a:rPr>
              <a:t>LAYERED SECURITY POSTURE DEFINITIONS</a:t>
            </a:r>
            <a:endParaRPr lang="en-US" sz="3750" dirty="0"/>
          </a:p>
        </p:txBody>
      </p:sp>
      <p:sp>
        <p:nvSpPr>
          <p:cNvPr id="876" name="Google Shape;876;p46"/>
          <p:cNvSpPr/>
          <p:nvPr/>
        </p:nvSpPr>
        <p:spPr>
          <a:xfrm>
            <a:off x="13976348" y="0"/>
            <a:ext cx="330200" cy="596900"/>
          </a:xfrm>
          <a:custGeom>
            <a:avLst/>
            <a:gdLst/>
            <a:ahLst/>
            <a:cxnLst/>
            <a:rect l="l" t="t" r="r" b="b"/>
            <a:pathLst>
              <a:path w="330200" h="596900" extrusionOk="0">
                <a:moveTo>
                  <a:pt x="329734" y="596829"/>
                </a:moveTo>
                <a:lnTo>
                  <a:pt x="0"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46"/>
          <p:cNvSpPr/>
          <p:nvPr/>
        </p:nvSpPr>
        <p:spPr>
          <a:xfrm>
            <a:off x="16938338" y="5230"/>
            <a:ext cx="1857375" cy="1962785"/>
          </a:xfrm>
          <a:custGeom>
            <a:avLst/>
            <a:gdLst/>
            <a:ahLst/>
            <a:cxnLst/>
            <a:rect l="l" t="t" r="r" b="b"/>
            <a:pathLst>
              <a:path w="1857375" h="1962785" extrusionOk="0">
                <a:moveTo>
                  <a:pt x="733642" y="1962620"/>
                </a:moveTo>
                <a:lnTo>
                  <a:pt x="0" y="686104"/>
                </a:lnTo>
                <a:lnTo>
                  <a:pt x="1447725" y="686104"/>
                </a:lnTo>
                <a:lnTo>
                  <a:pt x="1856896" y="0"/>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78" name="Google Shape;878;p46"/>
          <p:cNvGrpSpPr/>
          <p:nvPr/>
        </p:nvGrpSpPr>
        <p:grpSpPr>
          <a:xfrm>
            <a:off x="13413206" y="439452"/>
            <a:ext cx="5850411" cy="1974251"/>
            <a:chOff x="13413206" y="439452"/>
            <a:chExt cx="5850411" cy="1974251"/>
          </a:xfrm>
        </p:grpSpPr>
        <p:sp>
          <p:nvSpPr>
            <p:cNvPr id="879" name="Google Shape;879;p46"/>
            <p:cNvSpPr/>
            <p:nvPr/>
          </p:nvSpPr>
          <p:spPr>
            <a:xfrm>
              <a:off x="18693388" y="1250330"/>
              <a:ext cx="570230" cy="408939"/>
            </a:xfrm>
            <a:custGeom>
              <a:avLst/>
              <a:gdLst/>
              <a:ahLst/>
              <a:cxnLst/>
              <a:rect l="l" t="t" r="r" b="b"/>
              <a:pathLst>
                <a:path w="570230" h="408939" extrusionOk="0">
                  <a:moveTo>
                    <a:pt x="159953" y="71495"/>
                  </a:moveTo>
                  <a:lnTo>
                    <a:pt x="125414" y="78643"/>
                  </a:lnTo>
                  <a:lnTo>
                    <a:pt x="97410" y="98046"/>
                  </a:lnTo>
                  <a:lnTo>
                    <a:pt x="78634" y="126642"/>
                  </a:lnTo>
                  <a:lnTo>
                    <a:pt x="71777" y="161366"/>
                  </a:lnTo>
                  <a:lnTo>
                    <a:pt x="71777" y="167502"/>
                  </a:lnTo>
                  <a:lnTo>
                    <a:pt x="73819" y="171586"/>
                  </a:lnTo>
                  <a:lnTo>
                    <a:pt x="44121" y="190865"/>
                  </a:lnTo>
                  <a:lnTo>
                    <a:pt x="20763" y="217037"/>
                  </a:lnTo>
                  <a:lnTo>
                    <a:pt x="5479" y="248569"/>
                  </a:lnTo>
                  <a:lnTo>
                    <a:pt x="0" y="283928"/>
                  </a:lnTo>
                  <a:lnTo>
                    <a:pt x="9740" y="332700"/>
                  </a:lnTo>
                  <a:lnTo>
                    <a:pt x="36399" y="372280"/>
                  </a:lnTo>
                  <a:lnTo>
                    <a:pt x="76129" y="398838"/>
                  </a:lnTo>
                  <a:lnTo>
                    <a:pt x="125085" y="408542"/>
                  </a:lnTo>
                  <a:lnTo>
                    <a:pt x="447023" y="408542"/>
                  </a:lnTo>
                  <a:lnTo>
                    <a:pt x="494796" y="398838"/>
                  </a:lnTo>
                  <a:lnTo>
                    <a:pt x="531663" y="373810"/>
                  </a:lnTo>
                  <a:lnTo>
                    <a:pt x="125085" y="373810"/>
                  </a:lnTo>
                  <a:lnTo>
                    <a:pt x="90550" y="366662"/>
                  </a:lnTo>
                  <a:lnTo>
                    <a:pt x="62546" y="347257"/>
                  </a:lnTo>
                  <a:lnTo>
                    <a:pt x="43768" y="318659"/>
                  </a:lnTo>
                  <a:lnTo>
                    <a:pt x="36909" y="283928"/>
                  </a:lnTo>
                  <a:lnTo>
                    <a:pt x="40595" y="259705"/>
                  </a:lnTo>
                  <a:lnTo>
                    <a:pt x="51010" y="237206"/>
                  </a:lnTo>
                  <a:lnTo>
                    <a:pt x="67191" y="218151"/>
                  </a:lnTo>
                  <a:lnTo>
                    <a:pt x="88175" y="204266"/>
                  </a:lnTo>
                  <a:lnTo>
                    <a:pt x="110740" y="194046"/>
                  </a:lnTo>
                  <a:lnTo>
                    <a:pt x="108677" y="167502"/>
                  </a:lnTo>
                  <a:lnTo>
                    <a:pt x="108677" y="163408"/>
                  </a:lnTo>
                  <a:lnTo>
                    <a:pt x="106635" y="161366"/>
                  </a:lnTo>
                  <a:lnTo>
                    <a:pt x="110928" y="139825"/>
                  </a:lnTo>
                  <a:lnTo>
                    <a:pt x="122527" y="122307"/>
                  </a:lnTo>
                  <a:lnTo>
                    <a:pt x="139509" y="110534"/>
                  </a:lnTo>
                  <a:lnTo>
                    <a:pt x="159953" y="106227"/>
                  </a:lnTo>
                  <a:lnTo>
                    <a:pt x="227329" y="106227"/>
                  </a:lnTo>
                  <a:lnTo>
                    <a:pt x="231710" y="98038"/>
                  </a:lnTo>
                  <a:lnTo>
                    <a:pt x="244382" y="81704"/>
                  </a:lnTo>
                  <a:lnTo>
                    <a:pt x="200957" y="81704"/>
                  </a:lnTo>
                  <a:lnTo>
                    <a:pt x="191377" y="77524"/>
                  </a:lnTo>
                  <a:lnTo>
                    <a:pt x="181220" y="74302"/>
                  </a:lnTo>
                  <a:lnTo>
                    <a:pt x="170681" y="72228"/>
                  </a:lnTo>
                  <a:lnTo>
                    <a:pt x="159953" y="71495"/>
                  </a:lnTo>
                  <a:close/>
                </a:path>
                <a:path w="570230" h="408939" extrusionOk="0">
                  <a:moveTo>
                    <a:pt x="439875" y="36773"/>
                  </a:moveTo>
                  <a:lnTo>
                    <a:pt x="338345" y="36773"/>
                  </a:lnTo>
                  <a:lnTo>
                    <a:pt x="387301" y="46442"/>
                  </a:lnTo>
                  <a:lnTo>
                    <a:pt x="427031" y="72770"/>
                  </a:lnTo>
                  <a:lnTo>
                    <a:pt x="453690" y="111737"/>
                  </a:lnTo>
                  <a:lnTo>
                    <a:pt x="463430" y="159324"/>
                  </a:lnTo>
                  <a:lnTo>
                    <a:pt x="463430" y="169534"/>
                  </a:lnTo>
                  <a:lnTo>
                    <a:pt x="461378" y="194046"/>
                  </a:lnTo>
                  <a:lnTo>
                    <a:pt x="483932" y="204266"/>
                  </a:lnTo>
                  <a:lnTo>
                    <a:pt x="504921" y="218151"/>
                  </a:lnTo>
                  <a:lnTo>
                    <a:pt x="521101" y="237206"/>
                  </a:lnTo>
                  <a:lnTo>
                    <a:pt x="531514" y="259705"/>
                  </a:lnTo>
                  <a:lnTo>
                    <a:pt x="535198" y="283928"/>
                  </a:lnTo>
                  <a:lnTo>
                    <a:pt x="528341" y="318659"/>
                  </a:lnTo>
                  <a:lnTo>
                    <a:pt x="509565" y="347257"/>
                  </a:lnTo>
                  <a:lnTo>
                    <a:pt x="481562" y="366662"/>
                  </a:lnTo>
                  <a:lnTo>
                    <a:pt x="447023" y="373810"/>
                  </a:lnTo>
                  <a:lnTo>
                    <a:pt x="531663" y="373810"/>
                  </a:lnTo>
                  <a:lnTo>
                    <a:pt x="533916" y="372280"/>
                  </a:lnTo>
                  <a:lnTo>
                    <a:pt x="560348" y="332700"/>
                  </a:lnTo>
                  <a:lnTo>
                    <a:pt x="570055" y="283928"/>
                  </a:lnTo>
                  <a:lnTo>
                    <a:pt x="564898" y="248569"/>
                  </a:lnTo>
                  <a:lnTo>
                    <a:pt x="550322" y="217037"/>
                  </a:lnTo>
                  <a:lnTo>
                    <a:pt x="527670" y="190865"/>
                  </a:lnTo>
                  <a:lnTo>
                    <a:pt x="498288" y="171586"/>
                  </a:lnTo>
                  <a:lnTo>
                    <a:pt x="498288" y="167502"/>
                  </a:lnTo>
                  <a:lnTo>
                    <a:pt x="500340" y="165460"/>
                  </a:lnTo>
                  <a:lnTo>
                    <a:pt x="500340" y="161366"/>
                  </a:lnTo>
                  <a:lnTo>
                    <a:pt x="494606" y="118208"/>
                  </a:lnTo>
                  <a:lnTo>
                    <a:pt x="478392" y="79588"/>
                  </a:lnTo>
                  <a:lnTo>
                    <a:pt x="453178" y="46981"/>
                  </a:lnTo>
                  <a:lnTo>
                    <a:pt x="439875" y="36773"/>
                  </a:lnTo>
                  <a:close/>
                </a:path>
                <a:path w="570230" h="408939" extrusionOk="0">
                  <a:moveTo>
                    <a:pt x="227329" y="106227"/>
                  </a:moveTo>
                  <a:lnTo>
                    <a:pt x="168151" y="106227"/>
                  </a:lnTo>
                  <a:lnTo>
                    <a:pt x="176350" y="108258"/>
                  </a:lnTo>
                  <a:lnTo>
                    <a:pt x="184549" y="112342"/>
                  </a:lnTo>
                  <a:lnTo>
                    <a:pt x="215312" y="128687"/>
                  </a:lnTo>
                  <a:lnTo>
                    <a:pt x="227329" y="106227"/>
                  </a:lnTo>
                  <a:close/>
                </a:path>
                <a:path w="570230" h="408939" extrusionOk="0">
                  <a:moveTo>
                    <a:pt x="338345" y="0"/>
                  </a:moveTo>
                  <a:lnTo>
                    <a:pt x="295541" y="5872"/>
                  </a:lnTo>
                  <a:lnTo>
                    <a:pt x="257349" y="22467"/>
                  </a:lnTo>
                  <a:lnTo>
                    <a:pt x="225308" y="48255"/>
                  </a:lnTo>
                  <a:lnTo>
                    <a:pt x="200957" y="81704"/>
                  </a:lnTo>
                  <a:lnTo>
                    <a:pt x="244382" y="81704"/>
                  </a:lnTo>
                  <a:lnTo>
                    <a:pt x="251836" y="72095"/>
                  </a:lnTo>
                  <a:lnTo>
                    <a:pt x="277343" y="52854"/>
                  </a:lnTo>
                  <a:lnTo>
                    <a:pt x="306692" y="40889"/>
                  </a:lnTo>
                  <a:lnTo>
                    <a:pt x="338345" y="36773"/>
                  </a:lnTo>
                  <a:lnTo>
                    <a:pt x="439875" y="36773"/>
                  </a:lnTo>
                  <a:lnTo>
                    <a:pt x="420445" y="21864"/>
                  </a:lnTo>
                  <a:lnTo>
                    <a:pt x="381674" y="5712"/>
                  </a:lnTo>
                  <a:lnTo>
                    <a:pt x="338345" y="0"/>
                  </a:lnTo>
                  <a:close/>
                </a:path>
              </a:pathLst>
            </a:custGeom>
            <a:solidFill>
              <a:srgbClr val="7B7B7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46"/>
            <p:cNvSpPr/>
            <p:nvPr/>
          </p:nvSpPr>
          <p:spPr>
            <a:xfrm>
              <a:off x="14311666" y="550867"/>
              <a:ext cx="2173605" cy="1261110"/>
            </a:xfrm>
            <a:custGeom>
              <a:avLst/>
              <a:gdLst/>
              <a:ahLst/>
              <a:cxnLst/>
              <a:rect l="l" t="t" r="r" b="b"/>
              <a:pathLst>
                <a:path w="2173605" h="1261110" extrusionOk="0">
                  <a:moveTo>
                    <a:pt x="0" y="0"/>
                  </a:moveTo>
                  <a:lnTo>
                    <a:pt x="717862" y="1260589"/>
                  </a:lnTo>
                  <a:lnTo>
                    <a:pt x="2173410" y="1260589"/>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46"/>
            <p:cNvSpPr/>
            <p:nvPr/>
          </p:nvSpPr>
          <p:spPr>
            <a:xfrm>
              <a:off x="13413206" y="1700598"/>
              <a:ext cx="407034" cy="713105"/>
            </a:xfrm>
            <a:custGeom>
              <a:avLst/>
              <a:gdLst/>
              <a:ahLst/>
              <a:cxnLst/>
              <a:rect l="l" t="t" r="r" b="b"/>
              <a:pathLst>
                <a:path w="407034" h="713105" extrusionOk="0">
                  <a:moveTo>
                    <a:pt x="406940" y="0"/>
                  </a:moveTo>
                  <a:lnTo>
                    <a:pt x="0" y="712941"/>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6"/>
            <p:cNvSpPr/>
            <p:nvPr/>
          </p:nvSpPr>
          <p:spPr>
            <a:xfrm>
              <a:off x="17402616" y="1951899"/>
              <a:ext cx="260984" cy="441325"/>
            </a:xfrm>
            <a:custGeom>
              <a:avLst/>
              <a:gdLst/>
              <a:ahLst/>
              <a:cxnLst/>
              <a:rect l="l" t="t" r="r" b="b"/>
              <a:pathLst>
                <a:path w="260984" h="441325" extrusionOk="0">
                  <a:moveTo>
                    <a:pt x="260725" y="0"/>
                  </a:moveTo>
                  <a:lnTo>
                    <a:pt x="0" y="440698"/>
                  </a:lnTo>
                </a:path>
              </a:pathLst>
            </a:custGeom>
            <a:noFill/>
            <a:ln w="25200"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46"/>
            <p:cNvSpPr/>
            <p:nvPr/>
          </p:nvSpPr>
          <p:spPr>
            <a:xfrm>
              <a:off x="14127080" y="439452"/>
              <a:ext cx="437515" cy="379094"/>
            </a:xfrm>
            <a:custGeom>
              <a:avLst/>
              <a:gdLst/>
              <a:ahLst/>
              <a:cxnLst/>
              <a:rect l="l" t="t" r="r" b="b"/>
              <a:pathLst>
                <a:path w="437515" h="379094" extrusionOk="0">
                  <a:moveTo>
                    <a:pt x="327864" y="0"/>
                  </a:moveTo>
                  <a:lnTo>
                    <a:pt x="109295" y="0"/>
                  </a:lnTo>
                  <a:lnTo>
                    <a:pt x="0" y="189292"/>
                  </a:lnTo>
                  <a:lnTo>
                    <a:pt x="109295" y="378595"/>
                  </a:lnTo>
                  <a:lnTo>
                    <a:pt x="327864" y="378595"/>
                  </a:lnTo>
                  <a:lnTo>
                    <a:pt x="437159" y="189292"/>
                  </a:lnTo>
                  <a:lnTo>
                    <a:pt x="327864" y="0"/>
                  </a:lnTo>
                  <a:close/>
                </a:path>
              </a:pathLst>
            </a:custGeom>
            <a:solidFill>
              <a:srgbClr val="DF332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4" name="Google Shape;884;p46"/>
            <p:cNvSpPr/>
            <p:nvPr/>
          </p:nvSpPr>
          <p:spPr>
            <a:xfrm>
              <a:off x="14127080" y="439452"/>
              <a:ext cx="437515" cy="379094"/>
            </a:xfrm>
            <a:custGeom>
              <a:avLst/>
              <a:gdLst/>
              <a:ahLst/>
              <a:cxnLst/>
              <a:rect l="l" t="t" r="r" b="b"/>
              <a:pathLst>
                <a:path w="437515" h="379094" extrusionOk="0">
                  <a:moveTo>
                    <a:pt x="327864" y="378595"/>
                  </a:moveTo>
                  <a:lnTo>
                    <a:pt x="437159" y="189292"/>
                  </a:lnTo>
                  <a:lnTo>
                    <a:pt x="327864" y="0"/>
                  </a:lnTo>
                  <a:lnTo>
                    <a:pt x="109295" y="0"/>
                  </a:lnTo>
                  <a:lnTo>
                    <a:pt x="0" y="189292"/>
                  </a:lnTo>
                  <a:lnTo>
                    <a:pt x="109295" y="378595"/>
                  </a:lnTo>
                  <a:lnTo>
                    <a:pt x="327864" y="378595"/>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6"/>
            <p:cNvSpPr/>
            <p:nvPr/>
          </p:nvSpPr>
          <p:spPr>
            <a:xfrm>
              <a:off x="16373673" y="1682716"/>
              <a:ext cx="233100" cy="2019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p46"/>
            <p:cNvSpPr/>
            <p:nvPr/>
          </p:nvSpPr>
          <p:spPr>
            <a:xfrm>
              <a:off x="16373673" y="1682716"/>
              <a:ext cx="233680" cy="201930"/>
            </a:xfrm>
            <a:custGeom>
              <a:avLst/>
              <a:gdLst/>
              <a:ahLst/>
              <a:cxnLst/>
              <a:rect l="l" t="t" r="r" b="b"/>
              <a:pathLst>
                <a:path w="233680" h="201930" extrusionOk="0">
                  <a:moveTo>
                    <a:pt x="174863" y="201910"/>
                  </a:moveTo>
                  <a:lnTo>
                    <a:pt x="233144" y="100949"/>
                  </a:lnTo>
                  <a:lnTo>
                    <a:pt x="174863" y="0"/>
                  </a:lnTo>
                  <a:lnTo>
                    <a:pt x="58280" y="0"/>
                  </a:lnTo>
                  <a:lnTo>
                    <a:pt x="0" y="100949"/>
                  </a:lnTo>
                  <a:lnTo>
                    <a:pt x="58280" y="201910"/>
                  </a:lnTo>
                  <a:lnTo>
                    <a:pt x="174863" y="201910"/>
                  </a:lnTo>
                  <a:close/>
                </a:path>
              </a:pathLst>
            </a:custGeom>
            <a:noFill/>
            <a:ln w="25200" cap="flat" cmpd="sng">
              <a:solidFill>
                <a:srgbClr val="DF2F1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p46"/>
            <p:cNvSpPr/>
            <p:nvPr/>
          </p:nvSpPr>
          <p:spPr>
            <a:xfrm>
              <a:off x="13652481" y="1596396"/>
              <a:ext cx="291465" cy="252730"/>
            </a:xfrm>
            <a:custGeom>
              <a:avLst/>
              <a:gdLst/>
              <a:ahLst/>
              <a:cxnLst/>
              <a:rect l="l" t="t" r="r" b="b"/>
              <a:pathLst>
                <a:path w="291465" h="252730" extrusionOk="0">
                  <a:moveTo>
                    <a:pt x="218579" y="0"/>
                  </a:moveTo>
                  <a:lnTo>
                    <a:pt x="72856" y="0"/>
                  </a:lnTo>
                  <a:lnTo>
                    <a:pt x="0" y="126195"/>
                  </a:lnTo>
                  <a:lnTo>
                    <a:pt x="72856" y="252390"/>
                  </a:lnTo>
                  <a:lnTo>
                    <a:pt x="218579" y="252390"/>
                  </a:lnTo>
                  <a:lnTo>
                    <a:pt x="291436" y="126195"/>
                  </a:lnTo>
                  <a:lnTo>
                    <a:pt x="218579" y="0"/>
                  </a:lnTo>
                  <a:close/>
                </a:path>
              </a:pathLst>
            </a:custGeom>
            <a:solidFill>
              <a:srgbClr val="75757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p46"/>
            <p:cNvSpPr/>
            <p:nvPr/>
          </p:nvSpPr>
          <p:spPr>
            <a:xfrm>
              <a:off x="13652481" y="1596396"/>
              <a:ext cx="291465" cy="252730"/>
            </a:xfrm>
            <a:custGeom>
              <a:avLst/>
              <a:gdLst/>
              <a:ahLst/>
              <a:cxnLst/>
              <a:rect l="l" t="t" r="r" b="b"/>
              <a:pathLst>
                <a:path w="291465" h="252730" extrusionOk="0">
                  <a:moveTo>
                    <a:pt x="72856" y="252390"/>
                  </a:moveTo>
                  <a:lnTo>
                    <a:pt x="0" y="126195"/>
                  </a:lnTo>
                  <a:lnTo>
                    <a:pt x="72856" y="0"/>
                  </a:lnTo>
                  <a:lnTo>
                    <a:pt x="218579" y="0"/>
                  </a:lnTo>
                  <a:lnTo>
                    <a:pt x="291436" y="126195"/>
                  </a:lnTo>
                  <a:lnTo>
                    <a:pt x="218579" y="252390"/>
                  </a:lnTo>
                  <a:lnTo>
                    <a:pt x="72856" y="252390"/>
                  </a:lnTo>
                  <a:close/>
                </a:path>
              </a:pathLst>
            </a:custGeom>
            <a:noFill/>
            <a:ln w="11225" cap="flat" cmpd="sng">
              <a:solidFill>
                <a:srgbClr val="75757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9" name="Google Shape;889;p46"/>
            <p:cNvSpPr/>
            <p:nvPr/>
          </p:nvSpPr>
          <p:spPr>
            <a:xfrm>
              <a:off x="15388281" y="1706863"/>
              <a:ext cx="240000" cy="211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0" name="Google Shape;890;p46"/>
            <p:cNvSpPr/>
            <p:nvPr/>
          </p:nvSpPr>
          <p:spPr>
            <a:xfrm>
              <a:off x="17736488" y="579428"/>
              <a:ext cx="233100" cy="2019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1" name="Google Shape;891;p46"/>
            <p:cNvSpPr/>
            <p:nvPr/>
          </p:nvSpPr>
          <p:spPr>
            <a:xfrm>
              <a:off x="17736488" y="579428"/>
              <a:ext cx="233680" cy="201929"/>
            </a:xfrm>
            <a:custGeom>
              <a:avLst/>
              <a:gdLst/>
              <a:ahLst/>
              <a:cxnLst/>
              <a:rect l="l" t="t" r="r" b="b"/>
              <a:pathLst>
                <a:path w="233680" h="201929" extrusionOk="0">
                  <a:moveTo>
                    <a:pt x="58280" y="201910"/>
                  </a:moveTo>
                  <a:lnTo>
                    <a:pt x="0" y="100949"/>
                  </a:lnTo>
                  <a:lnTo>
                    <a:pt x="58280" y="0"/>
                  </a:lnTo>
                  <a:lnTo>
                    <a:pt x="174863" y="0"/>
                  </a:lnTo>
                  <a:lnTo>
                    <a:pt x="233144" y="100949"/>
                  </a:lnTo>
                  <a:lnTo>
                    <a:pt x="174863" y="201910"/>
                  </a:lnTo>
                  <a:lnTo>
                    <a:pt x="58280" y="201910"/>
                  </a:lnTo>
                  <a:close/>
                </a:path>
              </a:pathLst>
            </a:custGeom>
            <a:noFill/>
            <a:ln w="30250" cap="flat" cmpd="sng">
              <a:solidFill>
                <a:srgbClr val="DEDED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2" name="Google Shape;892;p46"/>
            <p:cNvSpPr/>
            <p:nvPr/>
          </p:nvSpPr>
          <p:spPr>
            <a:xfrm>
              <a:off x="16840113" y="620903"/>
              <a:ext cx="233100" cy="2019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3" name="Google Shape;893;p46"/>
            <p:cNvSpPr/>
            <p:nvPr/>
          </p:nvSpPr>
          <p:spPr>
            <a:xfrm>
              <a:off x="16840113" y="620903"/>
              <a:ext cx="233680" cy="201930"/>
            </a:xfrm>
            <a:custGeom>
              <a:avLst/>
              <a:gdLst/>
              <a:ahLst/>
              <a:cxnLst/>
              <a:rect l="l" t="t" r="r" b="b"/>
              <a:pathLst>
                <a:path w="233680" h="201930" extrusionOk="0">
                  <a:moveTo>
                    <a:pt x="58280" y="201910"/>
                  </a:moveTo>
                  <a:lnTo>
                    <a:pt x="0" y="100949"/>
                  </a:lnTo>
                  <a:lnTo>
                    <a:pt x="58280" y="0"/>
                  </a:lnTo>
                  <a:lnTo>
                    <a:pt x="174853" y="0"/>
                  </a:lnTo>
                  <a:lnTo>
                    <a:pt x="233144" y="100949"/>
                  </a:lnTo>
                  <a:lnTo>
                    <a:pt x="174853" y="201910"/>
                  </a:lnTo>
                  <a:lnTo>
                    <a:pt x="58280" y="201910"/>
                  </a:lnTo>
                  <a:close/>
                </a:path>
              </a:pathLst>
            </a:custGeom>
            <a:noFill/>
            <a:ln w="25200" cap="flat" cmpd="sng">
              <a:solidFill>
                <a:srgbClr val="DF332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4" name="Google Shape;894;p46"/>
            <p:cNvSpPr/>
            <p:nvPr/>
          </p:nvSpPr>
          <p:spPr>
            <a:xfrm>
              <a:off x="15480461" y="794530"/>
              <a:ext cx="360680" cy="260984"/>
            </a:xfrm>
            <a:custGeom>
              <a:avLst/>
              <a:gdLst/>
              <a:ahLst/>
              <a:cxnLst/>
              <a:rect l="l" t="t" r="r" b="b"/>
              <a:pathLst>
                <a:path w="360680" h="260984" extrusionOk="0">
                  <a:moveTo>
                    <a:pt x="360104" y="260505"/>
                  </a:moveTo>
                  <a:lnTo>
                    <a:pt x="0" y="260505"/>
                  </a:lnTo>
                  <a:lnTo>
                    <a:pt x="0" y="0"/>
                  </a:lnTo>
                  <a:lnTo>
                    <a:pt x="360104" y="0"/>
                  </a:lnTo>
                  <a:lnTo>
                    <a:pt x="360104" y="260505"/>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5" name="Google Shape;895;p46"/>
            <p:cNvSpPr/>
            <p:nvPr/>
          </p:nvSpPr>
          <p:spPr>
            <a:xfrm>
              <a:off x="15462136" y="585333"/>
              <a:ext cx="391159" cy="483234"/>
            </a:xfrm>
            <a:custGeom>
              <a:avLst/>
              <a:gdLst/>
              <a:ahLst/>
              <a:cxnLst/>
              <a:rect l="l" t="t" r="r" b="b"/>
              <a:pathLst>
                <a:path w="391159" h="483234" extrusionOk="0">
                  <a:moveTo>
                    <a:pt x="390626" y="186182"/>
                  </a:moveTo>
                  <a:lnTo>
                    <a:pt x="0" y="186182"/>
                  </a:lnTo>
                  <a:lnTo>
                    <a:pt x="0" y="482969"/>
                  </a:lnTo>
                  <a:lnTo>
                    <a:pt x="390626" y="482969"/>
                  </a:lnTo>
                  <a:lnTo>
                    <a:pt x="390626" y="456300"/>
                  </a:lnTo>
                  <a:lnTo>
                    <a:pt x="26512" y="456300"/>
                  </a:lnTo>
                  <a:lnTo>
                    <a:pt x="26512" y="209187"/>
                  </a:lnTo>
                  <a:lnTo>
                    <a:pt x="390626" y="209187"/>
                  </a:lnTo>
                  <a:lnTo>
                    <a:pt x="390626" y="186182"/>
                  </a:lnTo>
                  <a:close/>
                </a:path>
                <a:path w="391159" h="483234" extrusionOk="0">
                  <a:moveTo>
                    <a:pt x="390626" y="209187"/>
                  </a:moveTo>
                  <a:lnTo>
                    <a:pt x="364104" y="209187"/>
                  </a:lnTo>
                  <a:lnTo>
                    <a:pt x="364104" y="456300"/>
                  </a:lnTo>
                  <a:lnTo>
                    <a:pt x="390626" y="456300"/>
                  </a:lnTo>
                  <a:lnTo>
                    <a:pt x="390626" y="209187"/>
                  </a:lnTo>
                  <a:close/>
                </a:path>
                <a:path w="391159" h="483234" extrusionOk="0">
                  <a:moveTo>
                    <a:pt x="193491" y="0"/>
                  </a:moveTo>
                  <a:lnTo>
                    <a:pt x="150815" y="8952"/>
                  </a:lnTo>
                  <a:lnTo>
                    <a:pt x="115927" y="33351"/>
                  </a:lnTo>
                  <a:lnTo>
                    <a:pt x="92384" y="69507"/>
                  </a:lnTo>
                  <a:lnTo>
                    <a:pt x="83746" y="113734"/>
                  </a:lnTo>
                  <a:lnTo>
                    <a:pt x="83746" y="186182"/>
                  </a:lnTo>
                  <a:lnTo>
                    <a:pt x="106614" y="186182"/>
                  </a:lnTo>
                  <a:lnTo>
                    <a:pt x="106614" y="113734"/>
                  </a:lnTo>
                  <a:lnTo>
                    <a:pt x="113452" y="79876"/>
                  </a:lnTo>
                  <a:lnTo>
                    <a:pt x="132088" y="52198"/>
                  </a:lnTo>
                  <a:lnTo>
                    <a:pt x="159707" y="33522"/>
                  </a:lnTo>
                  <a:lnTo>
                    <a:pt x="193491" y="26669"/>
                  </a:lnTo>
                  <a:lnTo>
                    <a:pt x="262868" y="26669"/>
                  </a:lnTo>
                  <a:lnTo>
                    <a:pt x="237138" y="9101"/>
                  </a:lnTo>
                  <a:lnTo>
                    <a:pt x="193491" y="0"/>
                  </a:lnTo>
                  <a:close/>
                </a:path>
                <a:path w="391159" h="483234" extrusionOk="0">
                  <a:moveTo>
                    <a:pt x="262868" y="26669"/>
                  </a:moveTo>
                  <a:lnTo>
                    <a:pt x="193491" y="26669"/>
                  </a:lnTo>
                  <a:lnTo>
                    <a:pt x="227269" y="33522"/>
                  </a:lnTo>
                  <a:lnTo>
                    <a:pt x="254884" y="52198"/>
                  </a:lnTo>
                  <a:lnTo>
                    <a:pt x="273520" y="79876"/>
                  </a:lnTo>
                  <a:lnTo>
                    <a:pt x="280357" y="113734"/>
                  </a:lnTo>
                  <a:lnTo>
                    <a:pt x="280357" y="186182"/>
                  </a:lnTo>
                  <a:lnTo>
                    <a:pt x="306880" y="186182"/>
                  </a:lnTo>
                  <a:lnTo>
                    <a:pt x="306880" y="113734"/>
                  </a:lnTo>
                  <a:lnTo>
                    <a:pt x="297807" y="69954"/>
                  </a:lnTo>
                  <a:lnTo>
                    <a:pt x="273235" y="33747"/>
                  </a:lnTo>
                  <a:lnTo>
                    <a:pt x="262868" y="26669"/>
                  </a:lnTo>
                  <a:close/>
                </a:path>
              </a:pathLst>
            </a:custGeom>
            <a:solidFill>
              <a:srgbClr val="C8C8C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5" name="Google Shape;2815;p183">
            <a:extLst>
              <a:ext uri="{FF2B5EF4-FFF2-40B4-BE49-F238E27FC236}">
                <a16:creationId xmlns:a16="http://schemas.microsoft.com/office/drawing/2014/main" id="{1D66A891-BA59-47BC-8282-BCA9444A4D42}"/>
              </a:ext>
            </a:extLst>
          </p:cNvPr>
          <p:cNvSpPr/>
          <p:nvPr/>
        </p:nvSpPr>
        <p:spPr>
          <a:xfrm>
            <a:off x="15162676" y="6404327"/>
            <a:ext cx="548640" cy="548640"/>
          </a:xfrm>
          <a:custGeom>
            <a:avLst/>
            <a:gdLst/>
            <a:ahLst/>
            <a:cxnLst/>
            <a:rect l="l" t="t" r="r" b="b"/>
            <a:pathLst>
              <a:path w="4239" h="5181" extrusionOk="0">
                <a:moveTo>
                  <a:pt x="3768" y="4710"/>
                </a:moveTo>
                <a:cubicBezTo>
                  <a:pt x="471" y="4710"/>
                  <a:pt x="471" y="4710"/>
                  <a:pt x="471" y="4710"/>
                </a:cubicBezTo>
                <a:cubicBezTo>
                  <a:pt x="471" y="942"/>
                  <a:pt x="471" y="942"/>
                  <a:pt x="471" y="942"/>
                </a:cubicBezTo>
                <a:cubicBezTo>
                  <a:pt x="942" y="942"/>
                  <a:pt x="942" y="942"/>
                  <a:pt x="942" y="942"/>
                </a:cubicBezTo>
                <a:cubicBezTo>
                  <a:pt x="942" y="1648"/>
                  <a:pt x="942" y="1648"/>
                  <a:pt x="942" y="1648"/>
                </a:cubicBezTo>
                <a:cubicBezTo>
                  <a:pt x="3297" y="1648"/>
                  <a:pt x="3297" y="1648"/>
                  <a:pt x="3297" y="1648"/>
                </a:cubicBezTo>
                <a:cubicBezTo>
                  <a:pt x="3297" y="942"/>
                  <a:pt x="3297" y="942"/>
                  <a:pt x="3297" y="942"/>
                </a:cubicBezTo>
                <a:cubicBezTo>
                  <a:pt x="3768" y="942"/>
                  <a:pt x="3768" y="942"/>
                  <a:pt x="3768" y="942"/>
                </a:cubicBezTo>
                <a:lnTo>
                  <a:pt x="3768" y="4710"/>
                </a:lnTo>
                <a:close/>
                <a:moveTo>
                  <a:pt x="2119" y="471"/>
                </a:moveTo>
                <a:cubicBezTo>
                  <a:pt x="2261" y="471"/>
                  <a:pt x="2355" y="565"/>
                  <a:pt x="2355" y="706"/>
                </a:cubicBezTo>
                <a:cubicBezTo>
                  <a:pt x="2355" y="847"/>
                  <a:pt x="2261" y="942"/>
                  <a:pt x="2119" y="942"/>
                </a:cubicBezTo>
                <a:cubicBezTo>
                  <a:pt x="1978" y="942"/>
                  <a:pt x="1884" y="847"/>
                  <a:pt x="1884" y="706"/>
                </a:cubicBezTo>
                <a:cubicBezTo>
                  <a:pt x="1884" y="565"/>
                  <a:pt x="1978" y="471"/>
                  <a:pt x="2119" y="471"/>
                </a:cubicBezTo>
                <a:moveTo>
                  <a:pt x="3768" y="471"/>
                </a:moveTo>
                <a:cubicBezTo>
                  <a:pt x="2779" y="471"/>
                  <a:pt x="2779" y="471"/>
                  <a:pt x="2779" y="471"/>
                </a:cubicBezTo>
                <a:cubicBezTo>
                  <a:pt x="2684" y="188"/>
                  <a:pt x="2425" y="0"/>
                  <a:pt x="2119" y="0"/>
                </a:cubicBezTo>
                <a:cubicBezTo>
                  <a:pt x="1813" y="0"/>
                  <a:pt x="1554" y="188"/>
                  <a:pt x="1460" y="471"/>
                </a:cubicBezTo>
                <a:cubicBezTo>
                  <a:pt x="471" y="471"/>
                  <a:pt x="471" y="471"/>
                  <a:pt x="471" y="471"/>
                </a:cubicBezTo>
                <a:cubicBezTo>
                  <a:pt x="212" y="471"/>
                  <a:pt x="0" y="683"/>
                  <a:pt x="0" y="942"/>
                </a:cubicBezTo>
                <a:cubicBezTo>
                  <a:pt x="0" y="4710"/>
                  <a:pt x="0" y="4710"/>
                  <a:pt x="0" y="4710"/>
                </a:cubicBezTo>
                <a:cubicBezTo>
                  <a:pt x="0" y="4969"/>
                  <a:pt x="212" y="5181"/>
                  <a:pt x="471" y="5181"/>
                </a:cubicBezTo>
                <a:cubicBezTo>
                  <a:pt x="3768" y="5181"/>
                  <a:pt x="3768" y="5181"/>
                  <a:pt x="3768" y="5181"/>
                </a:cubicBezTo>
                <a:cubicBezTo>
                  <a:pt x="4027" y="5181"/>
                  <a:pt x="4239" y="4969"/>
                  <a:pt x="4239" y="4710"/>
                </a:cubicBezTo>
                <a:cubicBezTo>
                  <a:pt x="4239" y="942"/>
                  <a:pt x="4239" y="942"/>
                  <a:pt x="4239" y="942"/>
                </a:cubicBezTo>
                <a:cubicBezTo>
                  <a:pt x="4239" y="683"/>
                  <a:pt x="4027" y="471"/>
                  <a:pt x="3768" y="471"/>
                </a:cubicBezTo>
                <a:moveTo>
                  <a:pt x="1694" y="2555"/>
                </a:moveTo>
                <a:cubicBezTo>
                  <a:pt x="3392" y="2555"/>
                  <a:pt x="3392" y="2555"/>
                  <a:pt x="3392" y="2555"/>
                </a:cubicBezTo>
                <a:cubicBezTo>
                  <a:pt x="3392" y="2138"/>
                  <a:pt x="3392" y="2138"/>
                  <a:pt x="3392" y="2138"/>
                </a:cubicBezTo>
                <a:cubicBezTo>
                  <a:pt x="1694" y="2138"/>
                  <a:pt x="1694" y="2138"/>
                  <a:pt x="1694" y="2138"/>
                </a:cubicBezTo>
                <a:lnTo>
                  <a:pt x="1694" y="2555"/>
                </a:lnTo>
                <a:close/>
                <a:moveTo>
                  <a:pt x="1694" y="4224"/>
                </a:moveTo>
                <a:cubicBezTo>
                  <a:pt x="3392" y="4224"/>
                  <a:pt x="3392" y="4224"/>
                  <a:pt x="3392" y="4224"/>
                </a:cubicBezTo>
                <a:cubicBezTo>
                  <a:pt x="3392" y="3806"/>
                  <a:pt x="3392" y="3806"/>
                  <a:pt x="3392" y="3806"/>
                </a:cubicBezTo>
                <a:cubicBezTo>
                  <a:pt x="1694" y="3806"/>
                  <a:pt x="1694" y="3806"/>
                  <a:pt x="1694" y="3806"/>
                </a:cubicBezTo>
                <a:lnTo>
                  <a:pt x="1694" y="4224"/>
                </a:lnTo>
                <a:close/>
                <a:moveTo>
                  <a:pt x="1694" y="3389"/>
                </a:moveTo>
                <a:cubicBezTo>
                  <a:pt x="3392" y="3389"/>
                  <a:pt x="3392" y="3389"/>
                  <a:pt x="3392" y="3389"/>
                </a:cubicBezTo>
                <a:cubicBezTo>
                  <a:pt x="3392" y="2972"/>
                  <a:pt x="3392" y="2972"/>
                  <a:pt x="3392" y="2972"/>
                </a:cubicBezTo>
                <a:cubicBezTo>
                  <a:pt x="1694" y="2972"/>
                  <a:pt x="1694" y="2972"/>
                  <a:pt x="1694" y="2972"/>
                </a:cubicBezTo>
                <a:lnTo>
                  <a:pt x="1694" y="3389"/>
                </a:lnTo>
                <a:close/>
                <a:moveTo>
                  <a:pt x="860" y="2555"/>
                </a:moveTo>
                <a:cubicBezTo>
                  <a:pt x="1277" y="2555"/>
                  <a:pt x="1277" y="2555"/>
                  <a:pt x="1277" y="2555"/>
                </a:cubicBezTo>
                <a:cubicBezTo>
                  <a:pt x="1277" y="2138"/>
                  <a:pt x="1277" y="2138"/>
                  <a:pt x="1277" y="2138"/>
                </a:cubicBezTo>
                <a:cubicBezTo>
                  <a:pt x="860" y="2138"/>
                  <a:pt x="860" y="2138"/>
                  <a:pt x="860" y="2138"/>
                </a:cubicBezTo>
                <a:lnTo>
                  <a:pt x="860" y="2555"/>
                </a:lnTo>
                <a:close/>
                <a:moveTo>
                  <a:pt x="860" y="4224"/>
                </a:moveTo>
                <a:cubicBezTo>
                  <a:pt x="1277" y="4224"/>
                  <a:pt x="1277" y="4224"/>
                  <a:pt x="1277" y="4224"/>
                </a:cubicBezTo>
                <a:cubicBezTo>
                  <a:pt x="1277" y="3806"/>
                  <a:pt x="1277" y="3806"/>
                  <a:pt x="1277" y="3806"/>
                </a:cubicBezTo>
                <a:cubicBezTo>
                  <a:pt x="860" y="3806"/>
                  <a:pt x="860" y="3806"/>
                  <a:pt x="860" y="3806"/>
                </a:cubicBezTo>
                <a:lnTo>
                  <a:pt x="860" y="4224"/>
                </a:lnTo>
                <a:close/>
                <a:moveTo>
                  <a:pt x="860" y="3389"/>
                </a:moveTo>
                <a:cubicBezTo>
                  <a:pt x="1277" y="3389"/>
                  <a:pt x="1277" y="3389"/>
                  <a:pt x="1277" y="3389"/>
                </a:cubicBezTo>
                <a:cubicBezTo>
                  <a:pt x="1277" y="2972"/>
                  <a:pt x="1277" y="2972"/>
                  <a:pt x="1277" y="2972"/>
                </a:cubicBezTo>
                <a:cubicBezTo>
                  <a:pt x="860" y="2972"/>
                  <a:pt x="860" y="2972"/>
                  <a:pt x="860" y="2972"/>
                </a:cubicBezTo>
                <a:lnTo>
                  <a:pt x="860" y="338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aphicFrame>
        <p:nvGraphicFramePr>
          <p:cNvPr id="26" name="Content Placeholder 4">
            <a:extLst>
              <a:ext uri="{FF2B5EF4-FFF2-40B4-BE49-F238E27FC236}">
                <a16:creationId xmlns:a16="http://schemas.microsoft.com/office/drawing/2014/main" id="{AE65C495-2FE3-4706-89ED-87B3A2708090}"/>
              </a:ext>
            </a:extLst>
          </p:cNvPr>
          <p:cNvGraphicFramePr>
            <a:graphicFrameLocks/>
          </p:cNvGraphicFramePr>
          <p:nvPr>
            <p:extLst>
              <p:ext uri="{D42A27DB-BD31-4B8C-83A1-F6EECF244321}">
                <p14:modId xmlns:p14="http://schemas.microsoft.com/office/powerpoint/2010/main" val="3627147600"/>
              </p:ext>
            </p:extLst>
          </p:nvPr>
        </p:nvGraphicFramePr>
        <p:xfrm>
          <a:off x="1038897" y="3188050"/>
          <a:ext cx="18384729" cy="7352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73870363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2688</TotalTime>
  <Words>1781</Words>
  <Application>Microsoft Office PowerPoint</Application>
  <PresentationFormat>Custom</PresentationFormat>
  <Paragraphs>254</Paragraphs>
  <Slides>11</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Arial</vt:lpstr>
      <vt:lpstr>Arial Black</vt:lpstr>
      <vt:lpstr>Arial Bold</vt:lpstr>
      <vt:lpstr>Calibri</vt:lpstr>
      <vt:lpstr>Georgia</vt:lpstr>
      <vt:lpstr>Wingdings</vt:lpstr>
      <vt:lpstr>Office Theme</vt:lpstr>
      <vt:lpstr>Office Theme</vt:lpstr>
      <vt:lpstr>PowerPoint Presentation</vt:lpstr>
      <vt:lpstr>Foreword  </vt:lpstr>
      <vt:lpstr>The Bank Cyber Security Vision and Mission.  </vt:lpstr>
      <vt:lpstr>ABL Information Security Strategy  </vt:lpstr>
      <vt:lpstr>Information Security Maturity Roadmap in View of NIST –Cyber Security Framework  </vt:lpstr>
      <vt:lpstr>Objective 1 : Identify “Effectively Manage People, Risk, Resources and Governance to address cyber security risks”  </vt:lpstr>
      <vt:lpstr>Objective 2 : Protect “Establish a proactive posture against cyber attacks”  </vt:lpstr>
      <vt:lpstr>Objective 3 : Detect “Strengthen systems to identify a cyber security event”  </vt:lpstr>
      <vt:lpstr>Objective 4 &amp; 5 : Respond and Recover “Enhance measures to limit the impact of a potential cyber security incident and build resilience to recover from a cyber event ”  </vt:lpstr>
      <vt:lpstr>ABL LAYERED SECURITY POSTURE TO COMBAT CYBER THREATS</vt:lpstr>
      <vt:lpstr>LAYERED SECURITY POSTURE DEFINITIONS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new realities of cybersecurity</dc:title>
  <dc:creator>Muhammad Fahad. Zamir</dc:creator>
  <cp:lastModifiedBy>Awais Ejaz (GH-INFOSEC-RMG)</cp:lastModifiedBy>
  <cp:revision>220</cp:revision>
  <dcterms:modified xsi:type="dcterms:W3CDTF">2022-03-17T07:24:57Z</dcterms:modified>
</cp:coreProperties>
</file>